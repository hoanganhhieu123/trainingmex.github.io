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19"/>
  </p:notesMasterIdLst>
  <p:handoutMasterIdLst>
    <p:handoutMasterId r:id="rId20"/>
  </p:handoutMasterIdLst>
  <p:sldIdLst>
    <p:sldId id="419" r:id="rId2"/>
    <p:sldId id="418" r:id="rId3"/>
    <p:sldId id="427" r:id="rId4"/>
    <p:sldId id="420" r:id="rId5"/>
    <p:sldId id="430" r:id="rId6"/>
    <p:sldId id="431" r:id="rId7"/>
    <p:sldId id="429" r:id="rId8"/>
    <p:sldId id="421" r:id="rId9"/>
    <p:sldId id="423" r:id="rId10"/>
    <p:sldId id="424" r:id="rId11"/>
    <p:sldId id="425" r:id="rId12"/>
    <p:sldId id="426" r:id="rId13"/>
    <p:sldId id="428" r:id="rId14"/>
    <p:sldId id="432" r:id="rId15"/>
    <p:sldId id="433" r:id="rId16"/>
    <p:sldId id="434" r:id="rId17"/>
    <p:sldId id="435" r:id="rId18"/>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FDC9"/>
    <a:srgbClr val="08D621"/>
    <a:srgbClr val="006600"/>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38" autoAdjust="0"/>
    <p:restoredTop sz="91946" autoAdjust="0"/>
  </p:normalViewPr>
  <p:slideViewPr>
    <p:cSldViewPr>
      <p:cViewPr varScale="1">
        <p:scale>
          <a:sx n="104" d="100"/>
          <a:sy n="104" d="100"/>
        </p:scale>
        <p:origin x="1650" y="96"/>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3" d="2"/>
        <a:sy n="3" d="2"/>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custT="1">
        <dgm:style>
          <a:lnRef idx="2">
            <a:schemeClr val="accent4"/>
          </a:lnRef>
          <a:fillRef idx="1">
            <a:schemeClr val="lt1"/>
          </a:fillRef>
          <a:effectRef idx="0">
            <a:schemeClr val="accent4"/>
          </a:effectRef>
          <a:fontRef idx="minor">
            <a:schemeClr val="dk1"/>
          </a:fontRef>
        </dgm:style>
      </dgm:prSet>
      <dgm:spPr>
        <a:solidFill>
          <a:schemeClr val="bg1"/>
        </a:solidFill>
        <a:ln w="12700"/>
      </dgm:spPr>
      <dgm:t>
        <a:bodyPr/>
        <a:lstStyle/>
        <a:p>
          <a:r>
            <a:rPr lang="en-US" sz="1800" dirty="0" smtClean="0">
              <a:latin typeface="LG Smart_H Regular" panose="020B0600000101010101" pitchFamily="34" charset="-127"/>
              <a:ea typeface="LG Smart_H Regular" panose="020B0600000101010101" pitchFamily="34" charset="-127"/>
            </a:rPr>
            <a:t>D</a:t>
          </a:r>
          <a:endParaRPr lang="en-US" sz="1800" dirty="0">
            <a:latin typeface="LG Smart_H Regular" panose="020B0600000101010101" pitchFamily="34" charset="-127"/>
            <a:ea typeface="LG Smart_H Regular" panose="020B0600000101010101" pitchFamily="34" charset="-127"/>
          </a:endParaRPr>
        </a:p>
      </dgm:t>
    </dgm:pt>
    <dgm:pt modelId="{5E3CA2F6-A4DF-4AD7-8F49-7697828C860A}" type="parTrans" cxnId="{92013A32-1BAA-4E8B-8E59-0C5F86BA36E4}">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0FC8017D-9F5C-40DB-87BE-B1E73747A07D}" type="sibTrans" cxnId="{92013A32-1BAA-4E8B-8E59-0C5F86BA36E4}">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A2AEA16E-49B1-4DC9-8223-ADFEC1D6E88A}">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I</a:t>
          </a:r>
          <a:endParaRPr lang="en-US" sz="1800" dirty="0">
            <a:latin typeface="LG Smart_H Regular" panose="020B0600000101010101" pitchFamily="34" charset="-127"/>
            <a:ea typeface="LG Smart_H Regular" panose="020B0600000101010101" pitchFamily="34" charset="-127"/>
          </a:endParaRPr>
        </a:p>
      </dgm:t>
    </dgm:pt>
    <dgm:pt modelId="{6574A5A5-6F71-4B75-A854-A060CC71A955}" type="parTrans" cxnId="{A56B2080-E485-427C-847B-64ECC90F6D6B}">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3B239F42-1E56-414C-BAEA-38C3C8910F82}" type="sibTrans" cxnId="{A56B2080-E485-427C-847B-64ECC90F6D6B}">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8A0BB1E1-EFC2-4F85-98F9-1806732424FD}">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C</a:t>
          </a:r>
          <a:endParaRPr lang="en-US" sz="1800" dirty="0">
            <a:latin typeface="LG Smart_H Regular" panose="020B0600000101010101" pitchFamily="34" charset="-127"/>
            <a:ea typeface="LG Smart_H Regular" panose="020B0600000101010101" pitchFamily="34" charset="-127"/>
          </a:endParaRPr>
        </a:p>
      </dgm:t>
    </dgm:pt>
    <dgm:pt modelId="{C0700ADA-59A9-474B-9D9B-E313AFB0A1A6}" type="parTrans" cxnId="{2BB08F79-3FCE-4C15-987F-1F9742296D45}">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D4AB77BE-457C-476E-9CF5-12FF5ACC77B8}" type="sibTrans" cxnId="{2BB08F79-3FCE-4C15-987F-1F9742296D45}">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18D87F5F-42AD-4E9F-A6E6-7FE3973FD35E}">
      <dgm:prSet phldrT="[Text]" custT="1">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dgm:spPr>
      <dgm:t>
        <a:bodyPr/>
        <a:lstStyle/>
        <a:p>
          <a:r>
            <a:rPr lang="en-US" sz="1800" dirty="0" smtClean="0">
              <a:latin typeface="LG Smart_H Regular" panose="020B0600000101010101" pitchFamily="34" charset="-127"/>
              <a:ea typeface="LG Smart_H Regular" panose="020B0600000101010101" pitchFamily="34" charset="-127"/>
            </a:rPr>
            <a:t>M</a:t>
          </a:r>
          <a:endParaRPr lang="en-US" sz="1800" dirty="0">
            <a:latin typeface="LG Smart_H Regular" panose="020B0600000101010101" pitchFamily="34" charset="-127"/>
            <a:ea typeface="LG Smart_H Regular" panose="020B0600000101010101" pitchFamily="34" charset="-127"/>
          </a:endParaRPr>
        </a:p>
      </dgm:t>
    </dgm:pt>
    <dgm:pt modelId="{E8E81D99-A7F5-4310-A3FC-1C942562E35F}" type="parTrans" cxnId="{3E7E1F28-8BD1-48C3-8A95-5E67D2F2900F}">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5B565DB8-B340-4150-BC5D-2740C9E7405A}" type="sibTrans" cxnId="{3E7E1F28-8BD1-48C3-8A95-5E67D2F2900F}">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9E4E745E-2470-477B-9DC0-E82B38E47448}">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A</a:t>
          </a:r>
          <a:endParaRPr lang="en-US" sz="1800" dirty="0">
            <a:latin typeface="LG Smart_H Regular" panose="020B0600000101010101" pitchFamily="34" charset="-127"/>
            <a:ea typeface="LG Smart_H Regular" panose="020B0600000101010101" pitchFamily="34" charset="-127"/>
          </a:endParaRPr>
        </a:p>
      </dgm:t>
    </dgm:pt>
    <dgm:pt modelId="{78EDF3EB-861A-47DB-8ACA-3E0750718571}" type="parTrans" cxnId="{E29D67D5-D04F-44F5-944C-6085F68D9788}">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F02D2992-5C75-4F39-B4FA-6BE725FF6B3D}" type="sibTrans" cxnId="{E29D67D5-D04F-44F5-944C-6085F68D9788}">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custLinFactNeighborX="-27871" custLinFactNeighborY="-1079">
        <dgm:presLayoutVars>
          <dgm:chMax val="0"/>
          <dgm:chPref val="0"/>
          <dgm:bulletEnabled val="1"/>
        </dgm:presLayoutVars>
      </dgm:prSet>
      <dgm:spPr/>
      <dgm:t>
        <a:bodyPr/>
        <a:lstStyle/>
        <a:p>
          <a:endParaRPr lang="en-US"/>
        </a:p>
      </dgm:t>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t>
        <a:bodyPr/>
        <a:lstStyle/>
        <a:p>
          <a:endParaRPr lang="en-US"/>
        </a:p>
      </dgm:t>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t>
        <a:bodyPr/>
        <a:lstStyle/>
        <a:p>
          <a:endParaRPr lang="en-US"/>
        </a:p>
      </dgm:t>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t>
        <a:bodyPr/>
        <a:lstStyle/>
        <a:p>
          <a:endParaRPr lang="en-US"/>
        </a:p>
      </dgm:t>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t>
        <a:bodyPr/>
        <a:lstStyle/>
        <a:p>
          <a:endParaRPr lang="en-US"/>
        </a:p>
      </dgm:t>
    </dgm:pt>
  </dgm:ptLst>
  <dgm:cxnLst>
    <dgm:cxn modelId="{848C3CC0-979B-420C-8441-D851F013A127}" type="presOf" srcId="{7AD4F92C-78BA-4F6E-810D-84BEE50C8241}" destId="{75D48B9B-99C3-4C15-8EAC-E9BA0DD14686}" srcOrd="0" destOrd="0" presId="urn:microsoft.com/office/officeart/2005/8/layout/chevron1"/>
    <dgm:cxn modelId="{92013A32-1BAA-4E8B-8E59-0C5F86BA36E4}" srcId="{7AD4F92C-78BA-4F6E-810D-84BEE50C8241}" destId="{BAC7D273-E5EE-4038-A5C1-6C6F5ACB0D03}" srcOrd="0" destOrd="0" parTransId="{5E3CA2F6-A4DF-4AD7-8F49-7697828C860A}" sibTransId="{0FC8017D-9F5C-40DB-87BE-B1E73747A07D}"/>
    <dgm:cxn modelId="{3E7E1F28-8BD1-48C3-8A95-5E67D2F2900F}" srcId="{7AD4F92C-78BA-4F6E-810D-84BEE50C8241}" destId="{18D87F5F-42AD-4E9F-A6E6-7FE3973FD35E}" srcOrd="1" destOrd="0" parTransId="{E8E81D99-A7F5-4310-A3FC-1C942562E35F}" sibTransId="{5B565DB8-B340-4150-BC5D-2740C9E7405A}"/>
    <dgm:cxn modelId="{58E48D69-161E-4870-A9D3-ADF362A87BC3}" type="presOf" srcId="{8A0BB1E1-EFC2-4F85-98F9-1806732424FD}" destId="{8B532F1F-7985-410D-8F23-17546AA96819}" srcOrd="0" destOrd="0" presId="urn:microsoft.com/office/officeart/2005/8/layout/chevron1"/>
    <dgm:cxn modelId="{A90D3021-81B8-4D8F-9D73-9B85975028EA}" type="presOf" srcId="{18D87F5F-42AD-4E9F-A6E6-7FE3973FD35E}" destId="{D3AB7C3D-A810-418A-9680-2D5C0886B87C}" srcOrd="0" destOrd="0" presId="urn:microsoft.com/office/officeart/2005/8/layout/chevron1"/>
    <dgm:cxn modelId="{F8F74878-6384-4BE6-A6E3-7DDF9667985C}" type="presOf" srcId="{9E4E745E-2470-477B-9DC0-E82B38E47448}" destId="{85F4B451-0FD0-42C8-80A0-3D70971ED446}" srcOrd="0" destOrd="0" presId="urn:microsoft.com/office/officeart/2005/8/layout/chevron1"/>
    <dgm:cxn modelId="{EB73E9A5-08DA-416F-9CF0-0CE429F8E33F}"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40901CD7-D6D6-4CC5-ABAD-DC511700F8AB}" type="presOf" srcId="{BAC7D273-E5EE-4038-A5C1-6C6F5ACB0D03}" destId="{6A0ADE0C-E6D1-4D81-9931-771EEA7AFED4}"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70A134C7-12A9-415F-B8D1-2D2FFD5E33AF}" type="presParOf" srcId="{75D48B9B-99C3-4C15-8EAC-E9BA0DD14686}" destId="{6A0ADE0C-E6D1-4D81-9931-771EEA7AFED4}" srcOrd="0" destOrd="0" presId="urn:microsoft.com/office/officeart/2005/8/layout/chevron1"/>
    <dgm:cxn modelId="{F4173DBF-418F-455B-8318-9B20E00EBE06}" type="presParOf" srcId="{75D48B9B-99C3-4C15-8EAC-E9BA0DD14686}" destId="{065F6587-BE7F-4D0E-98E2-44771C09D7ED}" srcOrd="1" destOrd="0" presId="urn:microsoft.com/office/officeart/2005/8/layout/chevron1"/>
    <dgm:cxn modelId="{26798985-EAF0-46A4-86DC-2BBBC50A497D}" type="presParOf" srcId="{75D48B9B-99C3-4C15-8EAC-E9BA0DD14686}" destId="{D3AB7C3D-A810-418A-9680-2D5C0886B87C}" srcOrd="2" destOrd="0" presId="urn:microsoft.com/office/officeart/2005/8/layout/chevron1"/>
    <dgm:cxn modelId="{669D1E0B-AF4A-42D7-91DF-4B86B879061E}" type="presParOf" srcId="{75D48B9B-99C3-4C15-8EAC-E9BA0DD14686}" destId="{45F0D139-CE00-4B67-92DF-948F9E3DF760}" srcOrd="3" destOrd="0" presId="urn:microsoft.com/office/officeart/2005/8/layout/chevron1"/>
    <dgm:cxn modelId="{7B8085BF-FA75-42F1-9D38-4B1623839B6F}" type="presParOf" srcId="{75D48B9B-99C3-4C15-8EAC-E9BA0DD14686}" destId="{85F4B451-0FD0-42C8-80A0-3D70971ED446}" srcOrd="4" destOrd="0" presId="urn:microsoft.com/office/officeart/2005/8/layout/chevron1"/>
    <dgm:cxn modelId="{0D17ACF3-73ED-4744-8C8D-A1C2593C87B8}" type="presParOf" srcId="{75D48B9B-99C3-4C15-8EAC-E9BA0DD14686}" destId="{0CEB3E5A-3F2D-44D0-8A0A-14BD5AE928A8}" srcOrd="5" destOrd="0" presId="urn:microsoft.com/office/officeart/2005/8/layout/chevron1"/>
    <dgm:cxn modelId="{D5D3448B-33E3-402C-8E1B-C18760A9ABAD}" type="presParOf" srcId="{75D48B9B-99C3-4C15-8EAC-E9BA0DD14686}" destId="{679CE53B-3AB7-4DE6-AD51-84FD8C46EB46}" srcOrd="6" destOrd="0" presId="urn:microsoft.com/office/officeart/2005/8/layout/chevron1"/>
    <dgm:cxn modelId="{EF5DACA6-4A1E-4A1F-B033-7BFE0E163ECF}" type="presParOf" srcId="{75D48B9B-99C3-4C15-8EAC-E9BA0DD14686}" destId="{05FDF251-92B6-480C-82BC-68646E838DF3}" srcOrd="7" destOrd="0" presId="urn:microsoft.com/office/officeart/2005/8/layout/chevron1"/>
    <dgm:cxn modelId="{EEC7B851-4217-40A3-986A-204634A531DE}"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custT="1">
        <dgm:style>
          <a:lnRef idx="2">
            <a:schemeClr val="accent4"/>
          </a:lnRef>
          <a:fillRef idx="1">
            <a:schemeClr val="lt1"/>
          </a:fillRef>
          <a:effectRef idx="0">
            <a:schemeClr val="accent4"/>
          </a:effectRef>
          <a:fontRef idx="minor">
            <a:schemeClr val="dk1"/>
          </a:fontRef>
        </dgm:style>
      </dgm:prSet>
      <dgm:spPr>
        <a:solidFill>
          <a:schemeClr val="bg1"/>
        </a:solidFill>
        <a:ln w="12700"/>
      </dgm:spPr>
      <dgm:t>
        <a:bodyPr/>
        <a:lstStyle/>
        <a:p>
          <a:r>
            <a:rPr lang="en-US" sz="1800" dirty="0" smtClean="0">
              <a:latin typeface="LG Smart_H Regular" panose="020B0600000101010101" pitchFamily="34" charset="-127"/>
              <a:ea typeface="LG Smart_H Regular" panose="020B0600000101010101" pitchFamily="34" charset="-127"/>
            </a:rPr>
            <a:t>D</a:t>
          </a:r>
          <a:endParaRPr lang="en-US" sz="1800" dirty="0">
            <a:latin typeface="LG Smart_H Regular" panose="020B0600000101010101" pitchFamily="34" charset="-127"/>
            <a:ea typeface="LG Smart_H Regular" panose="020B0600000101010101" pitchFamily="34" charset="-127"/>
          </a:endParaRPr>
        </a:p>
      </dgm:t>
    </dgm:pt>
    <dgm:pt modelId="{5E3CA2F6-A4DF-4AD7-8F49-7697828C860A}" type="parTrans" cxnId="{92013A32-1BAA-4E8B-8E59-0C5F86BA36E4}">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0FC8017D-9F5C-40DB-87BE-B1E73747A07D}" type="sibTrans" cxnId="{92013A32-1BAA-4E8B-8E59-0C5F86BA36E4}">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A2AEA16E-49B1-4DC9-8223-ADFEC1D6E88A}">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I</a:t>
          </a:r>
          <a:endParaRPr lang="en-US" sz="1800" dirty="0">
            <a:latin typeface="LG Smart_H Regular" panose="020B0600000101010101" pitchFamily="34" charset="-127"/>
            <a:ea typeface="LG Smart_H Regular" panose="020B0600000101010101" pitchFamily="34" charset="-127"/>
          </a:endParaRPr>
        </a:p>
      </dgm:t>
    </dgm:pt>
    <dgm:pt modelId="{6574A5A5-6F71-4B75-A854-A060CC71A955}" type="parTrans" cxnId="{A56B2080-E485-427C-847B-64ECC90F6D6B}">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3B239F42-1E56-414C-BAEA-38C3C8910F82}" type="sibTrans" cxnId="{A56B2080-E485-427C-847B-64ECC90F6D6B}">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8A0BB1E1-EFC2-4F85-98F9-1806732424FD}">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C</a:t>
          </a:r>
          <a:endParaRPr lang="en-US" sz="1800" dirty="0">
            <a:latin typeface="LG Smart_H Regular" panose="020B0600000101010101" pitchFamily="34" charset="-127"/>
            <a:ea typeface="LG Smart_H Regular" panose="020B0600000101010101" pitchFamily="34" charset="-127"/>
          </a:endParaRPr>
        </a:p>
      </dgm:t>
    </dgm:pt>
    <dgm:pt modelId="{C0700ADA-59A9-474B-9D9B-E313AFB0A1A6}" type="parTrans" cxnId="{2BB08F79-3FCE-4C15-987F-1F9742296D45}">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D4AB77BE-457C-476E-9CF5-12FF5ACC77B8}" type="sibTrans" cxnId="{2BB08F79-3FCE-4C15-987F-1F9742296D45}">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18D87F5F-42AD-4E9F-A6E6-7FE3973FD35E}">
      <dgm:prSet phldrT="[Text]" custT="1">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dgm:spPr>
      <dgm:t>
        <a:bodyPr/>
        <a:lstStyle/>
        <a:p>
          <a:r>
            <a:rPr lang="en-US" sz="1800" dirty="0" smtClean="0">
              <a:latin typeface="LG Smart_H Regular" panose="020B0600000101010101" pitchFamily="34" charset="-127"/>
              <a:ea typeface="LG Smart_H Regular" panose="020B0600000101010101" pitchFamily="34" charset="-127"/>
            </a:rPr>
            <a:t>M</a:t>
          </a:r>
          <a:endParaRPr lang="en-US" sz="1800" dirty="0">
            <a:latin typeface="LG Smart_H Regular" panose="020B0600000101010101" pitchFamily="34" charset="-127"/>
            <a:ea typeface="LG Smart_H Regular" panose="020B0600000101010101" pitchFamily="34" charset="-127"/>
          </a:endParaRPr>
        </a:p>
      </dgm:t>
    </dgm:pt>
    <dgm:pt modelId="{E8E81D99-A7F5-4310-A3FC-1C942562E35F}" type="parTrans" cxnId="{3E7E1F28-8BD1-48C3-8A95-5E67D2F2900F}">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5B565DB8-B340-4150-BC5D-2740C9E7405A}" type="sibTrans" cxnId="{3E7E1F28-8BD1-48C3-8A95-5E67D2F2900F}">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9E4E745E-2470-477B-9DC0-E82B38E47448}">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A</a:t>
          </a:r>
          <a:endParaRPr lang="en-US" sz="1800" dirty="0">
            <a:latin typeface="LG Smart_H Regular" panose="020B0600000101010101" pitchFamily="34" charset="-127"/>
            <a:ea typeface="LG Smart_H Regular" panose="020B0600000101010101" pitchFamily="34" charset="-127"/>
          </a:endParaRPr>
        </a:p>
      </dgm:t>
    </dgm:pt>
    <dgm:pt modelId="{78EDF3EB-861A-47DB-8ACA-3E0750718571}" type="parTrans" cxnId="{E29D67D5-D04F-44F5-944C-6085F68D9788}">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F02D2992-5C75-4F39-B4FA-6BE725FF6B3D}" type="sibTrans" cxnId="{E29D67D5-D04F-44F5-944C-6085F68D9788}">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custLinFactNeighborX="-27871" custLinFactNeighborY="-1079">
        <dgm:presLayoutVars>
          <dgm:chMax val="0"/>
          <dgm:chPref val="0"/>
          <dgm:bulletEnabled val="1"/>
        </dgm:presLayoutVars>
      </dgm:prSet>
      <dgm:spPr/>
      <dgm:t>
        <a:bodyPr/>
        <a:lstStyle/>
        <a:p>
          <a:endParaRPr lang="en-US"/>
        </a:p>
      </dgm:t>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t>
        <a:bodyPr/>
        <a:lstStyle/>
        <a:p>
          <a:endParaRPr lang="en-US"/>
        </a:p>
      </dgm:t>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t>
        <a:bodyPr/>
        <a:lstStyle/>
        <a:p>
          <a:endParaRPr lang="en-US"/>
        </a:p>
      </dgm:t>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t>
        <a:bodyPr/>
        <a:lstStyle/>
        <a:p>
          <a:endParaRPr lang="en-US"/>
        </a:p>
      </dgm:t>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t>
        <a:bodyPr/>
        <a:lstStyle/>
        <a:p>
          <a:endParaRPr lang="en-US"/>
        </a:p>
      </dgm:t>
    </dgm:pt>
  </dgm:ptLst>
  <dgm:cxnLst>
    <dgm:cxn modelId="{29EB9EF4-C9F1-4429-AFF1-3E25C237F433}" type="presOf" srcId="{BAC7D273-E5EE-4038-A5C1-6C6F5ACB0D03}" destId="{6A0ADE0C-E6D1-4D81-9931-771EEA7AFED4}" srcOrd="0" destOrd="0" presId="urn:microsoft.com/office/officeart/2005/8/layout/chevron1"/>
    <dgm:cxn modelId="{9AEE51A4-9011-419E-B3DD-A74334E93B72}" type="presOf" srcId="{8A0BB1E1-EFC2-4F85-98F9-1806732424FD}" destId="{8B532F1F-7985-410D-8F23-17546AA96819}" srcOrd="0" destOrd="0" presId="urn:microsoft.com/office/officeart/2005/8/layout/chevron1"/>
    <dgm:cxn modelId="{5F36ED58-7F26-418E-A020-B72795FD927C}" type="presOf" srcId="{7AD4F92C-78BA-4F6E-810D-84BEE50C8241}" destId="{75D48B9B-99C3-4C15-8EAC-E9BA0DD14686}" srcOrd="0" destOrd="0" presId="urn:microsoft.com/office/officeart/2005/8/layout/chevron1"/>
    <dgm:cxn modelId="{92013A32-1BAA-4E8B-8E59-0C5F86BA36E4}" srcId="{7AD4F92C-78BA-4F6E-810D-84BEE50C8241}" destId="{BAC7D273-E5EE-4038-A5C1-6C6F5ACB0D03}" srcOrd="0" destOrd="0" parTransId="{5E3CA2F6-A4DF-4AD7-8F49-7697828C860A}" sibTransId="{0FC8017D-9F5C-40DB-87BE-B1E73747A07D}"/>
    <dgm:cxn modelId="{382C7020-DB4D-4010-9F6B-8242DD120EB1}"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A44E079B-CA78-42C0-8F4F-AD1545B8405A}" type="presOf" srcId="{18D87F5F-42AD-4E9F-A6E6-7FE3973FD35E}" destId="{D3AB7C3D-A810-418A-9680-2D5C0886B87C}" srcOrd="0" destOrd="0" presId="urn:microsoft.com/office/officeart/2005/8/layout/chevron1"/>
    <dgm:cxn modelId="{EF6E3504-ECF9-4172-9076-E27AB68B8476}"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90346AD4-36C2-4CC1-8EA8-2ACDEA201753}" type="presParOf" srcId="{75D48B9B-99C3-4C15-8EAC-E9BA0DD14686}" destId="{6A0ADE0C-E6D1-4D81-9931-771EEA7AFED4}" srcOrd="0" destOrd="0" presId="urn:microsoft.com/office/officeart/2005/8/layout/chevron1"/>
    <dgm:cxn modelId="{A3990313-AF8E-4155-8AD8-BAAD793F03B5}" type="presParOf" srcId="{75D48B9B-99C3-4C15-8EAC-E9BA0DD14686}" destId="{065F6587-BE7F-4D0E-98E2-44771C09D7ED}" srcOrd="1" destOrd="0" presId="urn:microsoft.com/office/officeart/2005/8/layout/chevron1"/>
    <dgm:cxn modelId="{E032B565-E5D1-4752-855D-F1BCC9EF6CD2}" type="presParOf" srcId="{75D48B9B-99C3-4C15-8EAC-E9BA0DD14686}" destId="{D3AB7C3D-A810-418A-9680-2D5C0886B87C}" srcOrd="2" destOrd="0" presId="urn:microsoft.com/office/officeart/2005/8/layout/chevron1"/>
    <dgm:cxn modelId="{6E0EF147-8AC0-45E0-994E-4B430FC65964}" type="presParOf" srcId="{75D48B9B-99C3-4C15-8EAC-E9BA0DD14686}" destId="{45F0D139-CE00-4B67-92DF-948F9E3DF760}" srcOrd="3" destOrd="0" presId="urn:microsoft.com/office/officeart/2005/8/layout/chevron1"/>
    <dgm:cxn modelId="{CDC9EE58-B04C-45CF-B2C5-CC6277839960}" type="presParOf" srcId="{75D48B9B-99C3-4C15-8EAC-E9BA0DD14686}" destId="{85F4B451-0FD0-42C8-80A0-3D70971ED446}" srcOrd="4" destOrd="0" presId="urn:microsoft.com/office/officeart/2005/8/layout/chevron1"/>
    <dgm:cxn modelId="{76CA1BEC-C573-41BC-8F39-ECF5B9366F52}" type="presParOf" srcId="{75D48B9B-99C3-4C15-8EAC-E9BA0DD14686}" destId="{0CEB3E5A-3F2D-44D0-8A0A-14BD5AE928A8}" srcOrd="5" destOrd="0" presId="urn:microsoft.com/office/officeart/2005/8/layout/chevron1"/>
    <dgm:cxn modelId="{EEFB7BDF-5E47-4385-8FD6-538F797F0E45}" type="presParOf" srcId="{75D48B9B-99C3-4C15-8EAC-E9BA0DD14686}" destId="{679CE53B-3AB7-4DE6-AD51-84FD8C46EB46}" srcOrd="6" destOrd="0" presId="urn:microsoft.com/office/officeart/2005/8/layout/chevron1"/>
    <dgm:cxn modelId="{80D0E636-81D4-47FE-A45B-BAF8EDDB310A}" type="presParOf" srcId="{75D48B9B-99C3-4C15-8EAC-E9BA0DD14686}" destId="{05FDF251-92B6-480C-82BC-68646E838DF3}" srcOrd="7" destOrd="0" presId="urn:microsoft.com/office/officeart/2005/8/layout/chevron1"/>
    <dgm:cxn modelId="{536D0B6A-639C-4180-A1BF-1B80605502C0}"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custT="1">
        <dgm:style>
          <a:lnRef idx="2">
            <a:schemeClr val="accent4"/>
          </a:lnRef>
          <a:fillRef idx="1">
            <a:schemeClr val="lt1"/>
          </a:fillRef>
          <a:effectRef idx="0">
            <a:schemeClr val="accent4"/>
          </a:effectRef>
          <a:fontRef idx="minor">
            <a:schemeClr val="dk1"/>
          </a:fontRef>
        </dgm:style>
      </dgm:prSet>
      <dgm:spPr>
        <a:solidFill>
          <a:schemeClr val="bg1"/>
        </a:solidFill>
        <a:ln w="12700"/>
      </dgm:spPr>
      <dgm:t>
        <a:bodyPr/>
        <a:lstStyle/>
        <a:p>
          <a:r>
            <a:rPr lang="en-US" sz="1800" dirty="0" smtClean="0">
              <a:latin typeface="LG Smart_H Regular" panose="020B0600000101010101" pitchFamily="34" charset="-127"/>
              <a:ea typeface="LG Smart_H Regular" panose="020B0600000101010101" pitchFamily="34" charset="-127"/>
            </a:rPr>
            <a:t>D</a:t>
          </a:r>
          <a:endParaRPr lang="en-US" sz="1800" dirty="0">
            <a:latin typeface="LG Smart_H Regular" panose="020B0600000101010101" pitchFamily="34" charset="-127"/>
            <a:ea typeface="LG Smart_H Regular" panose="020B0600000101010101" pitchFamily="34" charset="-127"/>
          </a:endParaRPr>
        </a:p>
      </dgm:t>
    </dgm:pt>
    <dgm:pt modelId="{5E3CA2F6-A4DF-4AD7-8F49-7697828C860A}" type="parTrans" cxnId="{92013A32-1BAA-4E8B-8E59-0C5F86BA36E4}">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0FC8017D-9F5C-40DB-87BE-B1E73747A07D}" type="sibTrans" cxnId="{92013A32-1BAA-4E8B-8E59-0C5F86BA36E4}">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A2AEA16E-49B1-4DC9-8223-ADFEC1D6E88A}">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I</a:t>
          </a:r>
          <a:endParaRPr lang="en-US" sz="1800" dirty="0">
            <a:latin typeface="LG Smart_H Regular" panose="020B0600000101010101" pitchFamily="34" charset="-127"/>
            <a:ea typeface="LG Smart_H Regular" panose="020B0600000101010101" pitchFamily="34" charset="-127"/>
          </a:endParaRPr>
        </a:p>
      </dgm:t>
    </dgm:pt>
    <dgm:pt modelId="{6574A5A5-6F71-4B75-A854-A060CC71A955}" type="parTrans" cxnId="{A56B2080-E485-427C-847B-64ECC90F6D6B}">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3B239F42-1E56-414C-BAEA-38C3C8910F82}" type="sibTrans" cxnId="{A56B2080-E485-427C-847B-64ECC90F6D6B}">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8A0BB1E1-EFC2-4F85-98F9-1806732424FD}">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C</a:t>
          </a:r>
          <a:endParaRPr lang="en-US" sz="1800" dirty="0">
            <a:latin typeface="LG Smart_H Regular" panose="020B0600000101010101" pitchFamily="34" charset="-127"/>
            <a:ea typeface="LG Smart_H Regular" panose="020B0600000101010101" pitchFamily="34" charset="-127"/>
          </a:endParaRPr>
        </a:p>
      </dgm:t>
    </dgm:pt>
    <dgm:pt modelId="{C0700ADA-59A9-474B-9D9B-E313AFB0A1A6}" type="parTrans" cxnId="{2BB08F79-3FCE-4C15-987F-1F9742296D45}">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D4AB77BE-457C-476E-9CF5-12FF5ACC77B8}" type="sibTrans" cxnId="{2BB08F79-3FCE-4C15-987F-1F9742296D45}">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18D87F5F-42AD-4E9F-A6E6-7FE3973FD35E}">
      <dgm:prSet phldrT="[Text]" custT="1">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dgm:spPr>
      <dgm:t>
        <a:bodyPr/>
        <a:lstStyle/>
        <a:p>
          <a:r>
            <a:rPr lang="en-US" sz="1800" dirty="0" smtClean="0">
              <a:latin typeface="LG Smart_H Regular" panose="020B0600000101010101" pitchFamily="34" charset="-127"/>
              <a:ea typeface="LG Smart_H Regular" panose="020B0600000101010101" pitchFamily="34" charset="-127"/>
            </a:rPr>
            <a:t>M</a:t>
          </a:r>
          <a:endParaRPr lang="en-US" sz="1800" dirty="0">
            <a:latin typeface="LG Smart_H Regular" panose="020B0600000101010101" pitchFamily="34" charset="-127"/>
            <a:ea typeface="LG Smart_H Regular" panose="020B0600000101010101" pitchFamily="34" charset="-127"/>
          </a:endParaRPr>
        </a:p>
      </dgm:t>
    </dgm:pt>
    <dgm:pt modelId="{E8E81D99-A7F5-4310-A3FC-1C942562E35F}" type="parTrans" cxnId="{3E7E1F28-8BD1-48C3-8A95-5E67D2F2900F}">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5B565DB8-B340-4150-BC5D-2740C9E7405A}" type="sibTrans" cxnId="{3E7E1F28-8BD1-48C3-8A95-5E67D2F2900F}">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9E4E745E-2470-477B-9DC0-E82B38E47448}">
      <dgm:prSet phldrT="[Text]" custT="1">
        <dgm:style>
          <a:lnRef idx="2">
            <a:schemeClr val="accent4"/>
          </a:lnRef>
          <a:fillRef idx="1">
            <a:schemeClr val="lt1"/>
          </a:fillRef>
          <a:effectRef idx="0">
            <a:schemeClr val="accent4"/>
          </a:effectRef>
          <a:fontRef idx="minor">
            <a:schemeClr val="dk1"/>
          </a:fontRef>
        </dgm:style>
      </dgm:prSet>
      <dgm:spPr>
        <a:ln w="12700"/>
      </dgm:spPr>
      <dgm:t>
        <a:bodyPr/>
        <a:lstStyle/>
        <a:p>
          <a:r>
            <a:rPr lang="en-US" sz="1800" dirty="0" smtClean="0">
              <a:latin typeface="LG Smart_H Regular" panose="020B0600000101010101" pitchFamily="34" charset="-127"/>
              <a:ea typeface="LG Smart_H Regular" panose="020B0600000101010101" pitchFamily="34" charset="-127"/>
            </a:rPr>
            <a:t>A</a:t>
          </a:r>
          <a:endParaRPr lang="en-US" sz="1800" dirty="0">
            <a:latin typeface="LG Smart_H Regular" panose="020B0600000101010101" pitchFamily="34" charset="-127"/>
            <a:ea typeface="LG Smart_H Regular" panose="020B0600000101010101" pitchFamily="34" charset="-127"/>
          </a:endParaRPr>
        </a:p>
      </dgm:t>
    </dgm:pt>
    <dgm:pt modelId="{78EDF3EB-861A-47DB-8ACA-3E0750718571}" type="parTrans" cxnId="{E29D67D5-D04F-44F5-944C-6085F68D9788}">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F02D2992-5C75-4F39-B4FA-6BE725FF6B3D}" type="sibTrans" cxnId="{E29D67D5-D04F-44F5-944C-6085F68D9788}">
      <dgm:prSet/>
      <dgm:spPr/>
      <dgm:t>
        <a:bodyPr/>
        <a:lstStyle/>
        <a:p>
          <a:endParaRPr lang="en-US" sz="1800">
            <a:latin typeface="LG Smart_H Regular" panose="020B0600000101010101" pitchFamily="34" charset="-127"/>
            <a:ea typeface="LG Smart_H Regular" panose="020B0600000101010101" pitchFamily="34" charset="-127"/>
          </a:endParaRPr>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custLinFactNeighborX="-27871" custLinFactNeighborY="-1079">
        <dgm:presLayoutVars>
          <dgm:chMax val="0"/>
          <dgm:chPref val="0"/>
          <dgm:bulletEnabled val="1"/>
        </dgm:presLayoutVars>
      </dgm:prSet>
      <dgm:spPr/>
      <dgm:t>
        <a:bodyPr/>
        <a:lstStyle/>
        <a:p>
          <a:endParaRPr lang="en-US"/>
        </a:p>
      </dgm:t>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t>
        <a:bodyPr/>
        <a:lstStyle/>
        <a:p>
          <a:endParaRPr lang="en-US"/>
        </a:p>
      </dgm:t>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t>
        <a:bodyPr/>
        <a:lstStyle/>
        <a:p>
          <a:endParaRPr lang="en-US"/>
        </a:p>
      </dgm:t>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t>
        <a:bodyPr/>
        <a:lstStyle/>
        <a:p>
          <a:endParaRPr lang="en-US"/>
        </a:p>
      </dgm:t>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t>
        <a:bodyPr/>
        <a:lstStyle/>
        <a:p>
          <a:endParaRPr lang="en-US"/>
        </a:p>
      </dgm:t>
    </dgm:pt>
  </dgm:ptLst>
  <dgm:cxnLst>
    <dgm:cxn modelId="{9F0A65CA-9B84-424B-B9F6-39810E303268}" type="presOf" srcId="{A2AEA16E-49B1-4DC9-8223-ADFEC1D6E88A}" destId="{679CE53B-3AB7-4DE6-AD51-84FD8C46EB46}" srcOrd="0" destOrd="0" presId="urn:microsoft.com/office/officeart/2005/8/layout/chevron1"/>
    <dgm:cxn modelId="{92013A32-1BAA-4E8B-8E59-0C5F86BA36E4}" srcId="{7AD4F92C-78BA-4F6E-810D-84BEE50C8241}" destId="{BAC7D273-E5EE-4038-A5C1-6C6F5ACB0D03}" srcOrd="0" destOrd="0" parTransId="{5E3CA2F6-A4DF-4AD7-8F49-7697828C860A}" sibTransId="{0FC8017D-9F5C-40DB-87BE-B1E73747A07D}"/>
    <dgm:cxn modelId="{42550909-0769-408F-AE2C-BC4789A7D7F1}" type="presOf" srcId="{BAC7D273-E5EE-4038-A5C1-6C6F5ACB0D03}" destId="{6A0ADE0C-E6D1-4D81-9931-771EEA7AFED4}" srcOrd="0" destOrd="0" presId="urn:microsoft.com/office/officeart/2005/8/layout/chevron1"/>
    <dgm:cxn modelId="{972EDF46-9D6E-4E66-9216-21C5C69C400E}" type="presOf" srcId="{7AD4F92C-78BA-4F6E-810D-84BEE50C8241}" destId="{75D48B9B-99C3-4C15-8EAC-E9BA0DD14686}" srcOrd="0" destOrd="0" presId="urn:microsoft.com/office/officeart/2005/8/layout/chevron1"/>
    <dgm:cxn modelId="{D0F4F7AC-2DCA-46EA-AE46-879458045CAD}"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D7B6801C-2F86-4495-A8E0-4A56C9EFF2BA}" type="presOf" srcId="{18D87F5F-42AD-4E9F-A6E6-7FE3973FD35E}" destId="{D3AB7C3D-A810-418A-9680-2D5C0886B87C}" srcOrd="0" destOrd="0" presId="urn:microsoft.com/office/officeart/2005/8/layout/chevron1"/>
    <dgm:cxn modelId="{CC22E80A-9EF0-49D0-A2F2-01CB6E3A35FA}"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E29D67D5-D04F-44F5-944C-6085F68D9788}" srcId="{7AD4F92C-78BA-4F6E-810D-84BEE50C8241}" destId="{9E4E745E-2470-477B-9DC0-E82B38E47448}" srcOrd="2" destOrd="0" parTransId="{78EDF3EB-861A-47DB-8ACA-3E0750718571}" sibTransId="{F02D2992-5C75-4F39-B4FA-6BE725FF6B3D}"/>
    <dgm:cxn modelId="{A56B2080-E485-427C-847B-64ECC90F6D6B}" srcId="{7AD4F92C-78BA-4F6E-810D-84BEE50C8241}" destId="{A2AEA16E-49B1-4DC9-8223-ADFEC1D6E88A}" srcOrd="3" destOrd="0" parTransId="{6574A5A5-6F71-4B75-A854-A060CC71A955}" sibTransId="{3B239F42-1E56-414C-BAEA-38C3C8910F82}"/>
    <dgm:cxn modelId="{A26FC656-86B8-4444-8437-16B55170A0A0}" type="presParOf" srcId="{75D48B9B-99C3-4C15-8EAC-E9BA0DD14686}" destId="{6A0ADE0C-E6D1-4D81-9931-771EEA7AFED4}" srcOrd="0" destOrd="0" presId="urn:microsoft.com/office/officeart/2005/8/layout/chevron1"/>
    <dgm:cxn modelId="{ABEBC4E4-D732-4CE8-BE66-0DFAC4D80158}" type="presParOf" srcId="{75D48B9B-99C3-4C15-8EAC-E9BA0DD14686}" destId="{065F6587-BE7F-4D0E-98E2-44771C09D7ED}" srcOrd="1" destOrd="0" presId="urn:microsoft.com/office/officeart/2005/8/layout/chevron1"/>
    <dgm:cxn modelId="{004D477F-945D-4AA2-8B90-C87ECD44D4FD}" type="presParOf" srcId="{75D48B9B-99C3-4C15-8EAC-E9BA0DD14686}" destId="{D3AB7C3D-A810-418A-9680-2D5C0886B87C}" srcOrd="2" destOrd="0" presId="urn:microsoft.com/office/officeart/2005/8/layout/chevron1"/>
    <dgm:cxn modelId="{BD65D993-B38D-4C6D-8B59-89A2EDA7136E}" type="presParOf" srcId="{75D48B9B-99C3-4C15-8EAC-E9BA0DD14686}" destId="{45F0D139-CE00-4B67-92DF-948F9E3DF760}" srcOrd="3" destOrd="0" presId="urn:microsoft.com/office/officeart/2005/8/layout/chevron1"/>
    <dgm:cxn modelId="{88F64D6D-8364-4F9F-8802-CFE2EA43FBE5}" type="presParOf" srcId="{75D48B9B-99C3-4C15-8EAC-E9BA0DD14686}" destId="{85F4B451-0FD0-42C8-80A0-3D70971ED446}" srcOrd="4" destOrd="0" presId="urn:microsoft.com/office/officeart/2005/8/layout/chevron1"/>
    <dgm:cxn modelId="{D7E22EA2-0DCF-4420-8341-3E4155F83F6E}" type="presParOf" srcId="{75D48B9B-99C3-4C15-8EAC-E9BA0DD14686}" destId="{0CEB3E5A-3F2D-44D0-8A0A-14BD5AE928A8}" srcOrd="5" destOrd="0" presId="urn:microsoft.com/office/officeart/2005/8/layout/chevron1"/>
    <dgm:cxn modelId="{F0E4E1BC-93AC-44D9-9DF9-CCEB1D5405BA}" type="presParOf" srcId="{75D48B9B-99C3-4C15-8EAC-E9BA0DD14686}" destId="{679CE53B-3AB7-4DE6-AD51-84FD8C46EB46}" srcOrd="6" destOrd="0" presId="urn:microsoft.com/office/officeart/2005/8/layout/chevron1"/>
    <dgm:cxn modelId="{A341CBD4-9168-4AF4-9A4A-082C2644C4C2}" type="presParOf" srcId="{75D48B9B-99C3-4C15-8EAC-E9BA0DD14686}" destId="{05FDF251-92B6-480C-82BC-68646E838DF3}" srcOrd="7" destOrd="0" presId="urn:microsoft.com/office/officeart/2005/8/layout/chevron1"/>
    <dgm:cxn modelId="{47B144BD-3697-47E3-BE76-83AAAF1486E3}"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0" y="142795"/>
          <a:ext cx="811406" cy="324562"/>
        </a:xfrm>
        <a:prstGeom prst="chevron">
          <a:avLst/>
        </a:prstGeom>
        <a:solidFill>
          <a:schemeClr val="bg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D</a:t>
          </a:r>
          <a:endParaRPr lang="en-US" sz="1800" kern="1200" dirty="0">
            <a:latin typeface="LG Smart_H Regular" panose="020B0600000101010101" pitchFamily="34" charset="-127"/>
            <a:ea typeface="LG Smart_H Regular" panose="020B0600000101010101" pitchFamily="34" charset="-127"/>
          </a:endParaRPr>
        </a:p>
      </dsp:txBody>
      <dsp:txXfrm>
        <a:off x="162281" y="142795"/>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M</a:t>
          </a:r>
          <a:endParaRPr lang="en-US" sz="1800" kern="1200" dirty="0">
            <a:latin typeface="LG Smart_H Regular" panose="020B0600000101010101" pitchFamily="34" charset="-127"/>
            <a:ea typeface="LG Smart_H Regular" panose="020B0600000101010101" pitchFamily="34" charset="-127"/>
          </a:endParaRP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A</a:t>
          </a:r>
          <a:endParaRPr lang="en-US" sz="1800" kern="1200" dirty="0">
            <a:latin typeface="LG Smart_H Regular" panose="020B0600000101010101" pitchFamily="34" charset="-127"/>
            <a:ea typeface="LG Smart_H Regular" panose="020B0600000101010101" pitchFamily="34" charset="-127"/>
          </a:endParaRP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I</a:t>
          </a:r>
          <a:endParaRPr lang="en-US" sz="1800" kern="1200" dirty="0">
            <a:latin typeface="LG Smart_H Regular" panose="020B0600000101010101" pitchFamily="34" charset="-127"/>
            <a:ea typeface="LG Smart_H Regular" panose="020B0600000101010101" pitchFamily="34" charset="-127"/>
          </a:endParaRP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C</a:t>
          </a:r>
          <a:endParaRPr lang="en-US" sz="1800" kern="1200" dirty="0">
            <a:latin typeface="LG Smart_H Regular" panose="020B0600000101010101" pitchFamily="34" charset="-127"/>
            <a:ea typeface="LG Smart_H Regular" panose="020B0600000101010101" pitchFamily="34" charset="-127"/>
          </a:endParaRPr>
        </a:p>
      </dsp:txBody>
      <dsp:txXfrm>
        <a:off x="3084254" y="146297"/>
        <a:ext cx="486844" cy="324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0" y="142795"/>
          <a:ext cx="811406" cy="324562"/>
        </a:xfrm>
        <a:prstGeom prst="chevron">
          <a:avLst/>
        </a:prstGeom>
        <a:solidFill>
          <a:schemeClr val="bg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D</a:t>
          </a:r>
          <a:endParaRPr lang="en-US" sz="1800" kern="1200" dirty="0">
            <a:latin typeface="LG Smart_H Regular" panose="020B0600000101010101" pitchFamily="34" charset="-127"/>
            <a:ea typeface="LG Smart_H Regular" panose="020B0600000101010101" pitchFamily="34" charset="-127"/>
          </a:endParaRPr>
        </a:p>
      </dsp:txBody>
      <dsp:txXfrm>
        <a:off x="162281" y="142795"/>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M</a:t>
          </a:r>
          <a:endParaRPr lang="en-US" sz="1800" kern="1200" dirty="0">
            <a:latin typeface="LG Smart_H Regular" panose="020B0600000101010101" pitchFamily="34" charset="-127"/>
            <a:ea typeface="LG Smart_H Regular" panose="020B0600000101010101" pitchFamily="34" charset="-127"/>
          </a:endParaRP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A</a:t>
          </a:r>
          <a:endParaRPr lang="en-US" sz="1800" kern="1200" dirty="0">
            <a:latin typeface="LG Smart_H Regular" panose="020B0600000101010101" pitchFamily="34" charset="-127"/>
            <a:ea typeface="LG Smart_H Regular" panose="020B0600000101010101" pitchFamily="34" charset="-127"/>
          </a:endParaRP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I</a:t>
          </a:r>
          <a:endParaRPr lang="en-US" sz="1800" kern="1200" dirty="0">
            <a:latin typeface="LG Smart_H Regular" panose="020B0600000101010101" pitchFamily="34" charset="-127"/>
            <a:ea typeface="LG Smart_H Regular" panose="020B0600000101010101" pitchFamily="34" charset="-127"/>
          </a:endParaRP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C</a:t>
          </a:r>
          <a:endParaRPr lang="en-US" sz="1800" kern="1200" dirty="0">
            <a:latin typeface="LG Smart_H Regular" panose="020B0600000101010101" pitchFamily="34" charset="-127"/>
            <a:ea typeface="LG Smart_H Regular" panose="020B0600000101010101" pitchFamily="34" charset="-127"/>
          </a:endParaRPr>
        </a:p>
      </dsp:txBody>
      <dsp:txXfrm>
        <a:off x="3084254" y="146297"/>
        <a:ext cx="486844" cy="3245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0" y="142795"/>
          <a:ext cx="811406" cy="324562"/>
        </a:xfrm>
        <a:prstGeom prst="chevron">
          <a:avLst/>
        </a:prstGeom>
        <a:solidFill>
          <a:schemeClr val="bg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D</a:t>
          </a:r>
          <a:endParaRPr lang="en-US" sz="1800" kern="1200" dirty="0">
            <a:latin typeface="LG Smart_H Regular" panose="020B0600000101010101" pitchFamily="34" charset="-127"/>
            <a:ea typeface="LG Smart_H Regular" panose="020B0600000101010101" pitchFamily="34" charset="-127"/>
          </a:endParaRPr>
        </a:p>
      </dsp:txBody>
      <dsp:txXfrm>
        <a:off x="162281" y="142795"/>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M</a:t>
          </a:r>
          <a:endParaRPr lang="en-US" sz="1800" kern="1200" dirty="0">
            <a:latin typeface="LG Smart_H Regular" panose="020B0600000101010101" pitchFamily="34" charset="-127"/>
            <a:ea typeface="LG Smart_H Regular" panose="020B0600000101010101" pitchFamily="34" charset="-127"/>
          </a:endParaRP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A</a:t>
          </a:r>
          <a:endParaRPr lang="en-US" sz="1800" kern="1200" dirty="0">
            <a:latin typeface="LG Smart_H Regular" panose="020B0600000101010101" pitchFamily="34" charset="-127"/>
            <a:ea typeface="LG Smart_H Regular" panose="020B0600000101010101" pitchFamily="34" charset="-127"/>
          </a:endParaRP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I</a:t>
          </a:r>
          <a:endParaRPr lang="en-US" sz="1800" kern="1200" dirty="0">
            <a:latin typeface="LG Smart_H Regular" panose="020B0600000101010101" pitchFamily="34" charset="-127"/>
            <a:ea typeface="LG Smart_H Regular" panose="020B0600000101010101" pitchFamily="34" charset="-127"/>
          </a:endParaRP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accent4"/>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800" kern="1200" dirty="0" smtClean="0">
              <a:latin typeface="LG Smart_H Regular" panose="020B0600000101010101" pitchFamily="34" charset="-127"/>
              <a:ea typeface="LG Smart_H Regular" panose="020B0600000101010101" pitchFamily="34" charset="-127"/>
            </a:rPr>
            <a:t>C</a:t>
          </a:r>
          <a:endParaRPr lang="en-US" sz="1800" kern="1200" dirty="0">
            <a:latin typeface="LG Smart_H Regular" panose="020B0600000101010101" pitchFamily="34" charset="-127"/>
            <a:ea typeface="LG Smart_H Regular" panose="020B0600000101010101" pitchFamily="34" charset="-127"/>
          </a:endParaRPr>
        </a:p>
      </dsp:txBody>
      <dsp:txXfrm>
        <a:off x="3084254" y="146297"/>
        <a:ext cx="486844" cy="32456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56038" y="0"/>
            <a:ext cx="2949575" cy="496888"/>
          </a:xfrm>
          <a:prstGeom prst="rect">
            <a:avLst/>
          </a:prstGeom>
        </p:spPr>
        <p:txBody>
          <a:bodyPr vert="horz" lIns="91440" tIns="45720" rIns="91440" bIns="45720" rtlCol="0"/>
          <a:lstStyle>
            <a:lvl1pPr algn="r">
              <a:defRPr sz="1200"/>
            </a:lvl1pPr>
          </a:lstStyle>
          <a:p>
            <a:fld id="{BEF072E2-D70B-49AB-81B2-792B952B660E}" type="datetimeFigureOut">
              <a:rPr lang="en-US" smtClean="0"/>
              <a:pPr/>
              <a:t>8/15/2025</a:t>
            </a:fld>
            <a:endParaRPr lang="en-US" dirty="0"/>
          </a:p>
        </p:txBody>
      </p:sp>
      <p:sp>
        <p:nvSpPr>
          <p:cNvPr id="4" name="Footer Placeholder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6038" y="9440863"/>
            <a:ext cx="2949575" cy="496887"/>
          </a:xfrm>
          <a:prstGeom prst="rect">
            <a:avLst/>
          </a:prstGeom>
        </p:spPr>
        <p:txBody>
          <a:bodyPr vert="horz" lIns="91440" tIns="45720" rIns="91440" bIns="45720" rtlCol="0" anchor="b"/>
          <a:lstStyle>
            <a:lvl1pPr algn="r">
              <a:defRPr sz="1200"/>
            </a:lvl1pPr>
          </a:lstStyle>
          <a:p>
            <a:fld id="{F53A2D38-5460-4F51-810A-6CAFC0E4BC39}" type="slidenum">
              <a:rPr lang="en-US" smtClean="0"/>
              <a:pPr/>
              <a:t>‹#›</a:t>
            </a:fld>
            <a:endParaRPr lang="en-US" dirty="0"/>
          </a:p>
        </p:txBody>
      </p:sp>
    </p:spTree>
    <p:extLst>
      <p:ext uri="{BB962C8B-B14F-4D97-AF65-F5344CB8AC3E}">
        <p14:creationId xmlns:p14="http://schemas.microsoft.com/office/powerpoint/2010/main" val="30231761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2025-08-15</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smtClean="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ft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1</a:t>
            </a:fld>
            <a:endParaRPr lang="ko-KR" altLang="en-US" dirty="0"/>
          </a:p>
        </p:txBody>
      </p:sp>
    </p:spTree>
    <p:extLst>
      <p:ext uri="{BB962C8B-B14F-4D97-AF65-F5344CB8AC3E}">
        <p14:creationId xmlns:p14="http://schemas.microsoft.com/office/powerpoint/2010/main" val="1484646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a:t>
            </a:fld>
            <a:endParaRPr lang="ko-KR" altLang="en-US" dirty="0"/>
          </a:p>
        </p:txBody>
      </p:sp>
    </p:spTree>
    <p:extLst>
      <p:ext uri="{BB962C8B-B14F-4D97-AF65-F5344CB8AC3E}">
        <p14:creationId xmlns:p14="http://schemas.microsoft.com/office/powerpoint/2010/main" val="2202576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3</a:t>
            </a:fld>
            <a:endParaRPr lang="ko-KR" altLang="en-US" dirty="0"/>
          </a:p>
        </p:txBody>
      </p:sp>
    </p:spTree>
    <p:extLst>
      <p:ext uri="{BB962C8B-B14F-4D97-AF65-F5344CB8AC3E}">
        <p14:creationId xmlns:p14="http://schemas.microsoft.com/office/powerpoint/2010/main" val="398486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smtClean="0"/>
              <a:t>제목을 입력 하세요</a:t>
            </a:r>
            <a:endParaRPr lang="ko-KR" altLang="en-US" dirty="0"/>
          </a:p>
        </p:txBody>
      </p:sp>
      <p:sp>
        <p:nvSpPr>
          <p:cNvPr id="3" name="슬라이드 번호 개체 틀 5"/>
          <p:cNvSpPr>
            <a:spLocks noGrp="1"/>
          </p:cNvSpPr>
          <p:nvPr>
            <p:ph type="sldNum" sz="quarter" idx="12"/>
          </p:nvPr>
        </p:nvSpPr>
        <p:spPr>
          <a:xfrm>
            <a:off x="4724400" y="6564883"/>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en-US" altLang="ko-KR" dirty="0" smtClean="0">
                <a:solidFill>
                  <a:prstClr val="black">
                    <a:tint val="75000"/>
                  </a:prstClr>
                </a:solidFill>
              </a:rPr>
              <a:t>/71</a:t>
            </a:r>
            <a:r>
              <a:rPr lang="ko-KR" altLang="en-US" dirty="0" smtClean="0">
                <a:solidFill>
                  <a:prstClr val="black">
                    <a:tint val="75000"/>
                  </a:prstClr>
                </a:solidFill>
              </a:rPr>
              <a:t> </a:t>
            </a:r>
            <a:r>
              <a:rPr lang="en-US" altLang="ko-KR" dirty="0" smtClean="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Line 14"/>
          <p:cNvSpPr>
            <a:spLocks noChangeShapeType="1"/>
          </p:cNvSpPr>
          <p:nvPr/>
        </p:nvSpPr>
        <p:spPr bwMode="auto">
          <a:xfrm>
            <a:off x="0" y="534988"/>
            <a:ext cx="9906000" cy="0"/>
          </a:xfrm>
          <a:prstGeom prst="line">
            <a:avLst/>
          </a:prstGeom>
          <a:noFill/>
          <a:ln w="19050">
            <a:solidFill>
              <a:srgbClr val="808080"/>
            </a:solidFill>
            <a:round/>
            <a:headEnd/>
            <a:tailEnd/>
          </a:ln>
        </p:spPr>
        <p:txBody>
          <a:bodyPr/>
          <a:lstStyle/>
          <a:p>
            <a:pPr>
              <a:defRPr/>
            </a:pPr>
            <a:endParaRPr lang="ko-KR" altLang="en-US" dirty="0"/>
          </a:p>
        </p:txBody>
      </p:sp>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smtClean="0"/>
              <a:t>제목을 입력 하세요</a:t>
            </a:r>
            <a:endParaRPr lang="ko-KR" altLang="en-US" dirty="0"/>
          </a:p>
        </p:txBody>
      </p:sp>
      <p:sp>
        <p:nvSpPr>
          <p:cNvPr id="4" name="슬라이드 번호 개체 틀 5"/>
          <p:cNvSpPr>
            <a:spLocks noGrp="1"/>
          </p:cNvSpPr>
          <p:nvPr>
            <p:ph type="sldNum" sz="quarter" idx="4"/>
          </p:nvPr>
        </p:nvSpPr>
        <p:spPr>
          <a:xfrm>
            <a:off x="4876800" y="6492875"/>
            <a:ext cx="2311400" cy="365125"/>
          </a:xfrm>
          <a:prstGeom prst="rect">
            <a:avLst/>
          </a:prstGeom>
        </p:spPr>
        <p:txBody>
          <a:bodyPr/>
          <a:lstStyle>
            <a:lvl1pPr>
              <a:defRPr sz="1200">
                <a:latin typeface="+mn-lt"/>
              </a:defRPr>
            </a:lvl1pPr>
          </a:lstStyle>
          <a:p>
            <a:r>
              <a:rPr lang="en-US" altLang="ko-KR" dirty="0" smtClean="0">
                <a:solidFill>
                  <a:prstClr val="black">
                    <a:tint val="75000"/>
                  </a:prstClr>
                </a:solidFill>
              </a:rPr>
              <a:t>#/71</a:t>
            </a:r>
            <a:endParaRPr lang="ko-KR" alt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5194" r:id="rId1"/>
  </p:sldLayoutIdLst>
  <p:timing>
    <p:tnLst>
      <p:par>
        <p:cTn id="1" dur="indefinite" restart="never" nodeType="tmRoot"/>
      </p:par>
    </p:tnLst>
  </p:timing>
  <p:hf hdr="0" ftr="0" dt="0"/>
  <p:txStyles>
    <p:title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mn-lt"/>
          <a:ea typeface="돋움"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굴림" charset="-127"/>
          <a:ea typeface="굴림" charset="-127"/>
        </a:defRPr>
      </a:lvl2pPr>
      <a:lvl3pPr marL="1147763" indent="-228600" algn="l" rtl="0" eaLnBrk="0" fontAlgn="base" latinLnBrk="1" hangingPunct="0">
        <a:spcBef>
          <a:spcPct val="20000"/>
        </a:spcBef>
        <a:spcAft>
          <a:spcPct val="0"/>
        </a:spcAft>
        <a:buChar char="•"/>
        <a:defRPr kumimoji="1" sz="2400">
          <a:solidFill>
            <a:schemeClr val="tx1"/>
          </a:solidFill>
          <a:latin typeface="굴림" charset="-127"/>
          <a:ea typeface="굴림" charset="-127"/>
        </a:defRPr>
      </a:lvl3pPr>
      <a:lvl4pPr marL="16002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4pPr>
      <a:lvl5pPr marL="20574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5pPr>
      <a:lvl6pPr marL="2514600" indent="-228600" algn="l" rtl="0" fontAlgn="base" latinLnBrk="1">
        <a:spcBef>
          <a:spcPct val="20000"/>
        </a:spcBef>
        <a:spcAft>
          <a:spcPct val="0"/>
        </a:spcAft>
        <a:buChar char="»"/>
        <a:defRPr kumimoji="1" sz="2000">
          <a:solidFill>
            <a:schemeClr val="tx1"/>
          </a:solidFill>
          <a:latin typeface="굴림" charset="-127"/>
          <a:ea typeface="굴림" charset="-127"/>
        </a:defRPr>
      </a:lvl6pPr>
      <a:lvl7pPr marL="2971800" indent="-228600" algn="l" rtl="0" fontAlgn="base" latinLnBrk="1">
        <a:spcBef>
          <a:spcPct val="20000"/>
        </a:spcBef>
        <a:spcAft>
          <a:spcPct val="0"/>
        </a:spcAft>
        <a:buChar char="»"/>
        <a:defRPr kumimoji="1" sz="2000">
          <a:solidFill>
            <a:schemeClr val="tx1"/>
          </a:solidFill>
          <a:latin typeface="굴림" charset="-127"/>
          <a:ea typeface="굴림" charset="-127"/>
        </a:defRPr>
      </a:lvl7pPr>
      <a:lvl8pPr marL="3429000" indent="-228600" algn="l" rtl="0" fontAlgn="base" latinLnBrk="1">
        <a:spcBef>
          <a:spcPct val="20000"/>
        </a:spcBef>
        <a:spcAft>
          <a:spcPct val="0"/>
        </a:spcAft>
        <a:buChar char="»"/>
        <a:defRPr kumimoji="1" sz="2000">
          <a:solidFill>
            <a:schemeClr val="tx1"/>
          </a:solidFill>
          <a:latin typeface="굴림" charset="-127"/>
          <a:ea typeface="굴림" charset="-127"/>
        </a:defRPr>
      </a:lvl8pPr>
      <a:lvl9pPr marL="3886200" indent="-228600" algn="l" rtl="0" fontAlgn="base" latinLnBrk="1">
        <a:spcBef>
          <a:spcPct val="20000"/>
        </a:spcBef>
        <a:spcAft>
          <a:spcPct val="0"/>
        </a:spcAft>
        <a:buChar char="»"/>
        <a:defRPr kumimoji="1" sz="2000">
          <a:solidFill>
            <a:schemeClr val="tx1"/>
          </a:solidFill>
          <a:latin typeface="굴림" charset="-127"/>
          <a:ea typeface="굴림" charset="-127"/>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notesSlide" Target="../notesSlides/notesSlide1.xml"/><Relationship Id="rId7" Type="http://schemas.openxmlformats.org/officeDocument/2006/relationships/diagramQuickStyle" Target="../diagrams/quickStyle1.xml"/><Relationship Id="rId12" Type="http://schemas.openxmlformats.org/officeDocument/2006/relationships/image" Target="../media/image1.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diagramLayout" Target="../diagrams/layout1.xml"/><Relationship Id="rId11" Type="http://schemas.openxmlformats.org/officeDocument/2006/relationships/package" Target="../embeddings/Microsoft_Excel_Worksheet1.xlsx"/><Relationship Id="rId5" Type="http://schemas.openxmlformats.org/officeDocument/2006/relationships/diagramData" Target="../diagrams/data1.xml"/><Relationship Id="rId10" Type="http://schemas.openxmlformats.org/officeDocument/2006/relationships/oleObject" Target="../embeddings/oleObject1.bin"/><Relationship Id="rId4" Type="http://schemas.openxmlformats.org/officeDocument/2006/relationships/image" Target="../media/image2.png"/><Relationship Id="rId9" Type="http://schemas.microsoft.com/office/2007/relationships/diagramDrawing" Target="../diagrams/drawing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2.xml"/><Relationship Id="rId12"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Layout" Target="../diagrams/layout2.xml"/><Relationship Id="rId11" Type="http://schemas.openxmlformats.org/officeDocument/2006/relationships/image" Target="../media/image6.png"/><Relationship Id="rId5" Type="http://schemas.openxmlformats.org/officeDocument/2006/relationships/diagramData" Target="../diagrams/data2.xml"/><Relationship Id="rId10" Type="http://schemas.openxmlformats.org/officeDocument/2006/relationships/image" Target="../media/image5.png"/><Relationship Id="rId4" Type="http://schemas.openxmlformats.org/officeDocument/2006/relationships/image" Target="../media/image4.png"/><Relationship Id="rId9" Type="http://schemas.microsoft.com/office/2007/relationships/diagramDrawing" Target="../diagrams/drawing2.xml"/></Relationships>
</file>

<file path=ppt/slides/_rels/slide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3.xml"/><Relationship Id="rId11" Type="http://schemas.openxmlformats.org/officeDocument/2006/relationships/image" Target="../media/image9.png"/><Relationship Id="rId5" Type="http://schemas.openxmlformats.org/officeDocument/2006/relationships/diagramLayout" Target="../diagrams/layout3.xml"/><Relationship Id="rId10" Type="http://schemas.openxmlformats.org/officeDocument/2006/relationships/image" Target="../media/image8.png"/><Relationship Id="rId4" Type="http://schemas.openxmlformats.org/officeDocument/2006/relationships/diagramData" Target="../diagrams/data3.xml"/><Relationship Id="rId9" Type="http://schemas.openxmlformats.org/officeDocument/2006/relationships/hyperlink" Target="https://support.minitab.com/en-us/minitab/help-and-how-to/quality-and-process-improvement/measurement-system-analysis/supporting-topics/other-gage-studies-and-measures/type-1-gage-study/"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wmf"/><Relationship Id="rId5" Type="http://schemas.openxmlformats.org/officeDocument/2006/relationships/package" Target="../embeddings/Microsoft_Excel_Worksheet2.xlsx"/><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w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package" Target="../embeddings/Microsoft_Excel_Worksheet3.xlsx"/><Relationship Id="rId5" Type="http://schemas.openxmlformats.org/officeDocument/2006/relationships/oleObject" Target="../embeddings/oleObject3.bin"/><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068945" y="1447800"/>
            <a:ext cx="5486400" cy="3657600"/>
          </a:xfrm>
          <a:prstGeom prst="rect">
            <a:avLst/>
          </a:prstGeom>
        </p:spPr>
      </p:pic>
      <p:sp>
        <p:nvSpPr>
          <p:cNvPr id="2" name="제목 1"/>
          <p:cNvSpPr>
            <a:spLocks noGrp="1"/>
          </p:cNvSpPr>
          <p:nvPr>
            <p:ph type="title"/>
          </p:nvPr>
        </p:nvSpPr>
        <p:spPr>
          <a:xfrm>
            <a:off x="56456" y="116632"/>
            <a:ext cx="8915400" cy="418058"/>
          </a:xfrm>
        </p:spPr>
        <p:txBody>
          <a:bodyPr>
            <a:normAutofit/>
          </a:bodyPr>
          <a:lstStyle/>
          <a:p>
            <a:r>
              <a:rPr lang="vi-VN" altLang="ko-KR" sz="1800" smtClean="0">
                <a:latin typeface="LG Smart_H Regular" panose="020B0600000101010101" pitchFamily="34" charset="-127"/>
                <a:ea typeface="LG Smart_H Regular" panose="020B0600000101010101" pitchFamily="34" charset="-127"/>
              </a:rPr>
              <a:t>% Resolution &amp; Type 1 study</a:t>
            </a:r>
            <a:endParaRPr lang="ko-KR" altLang="en-US" sz="1800" dirty="0">
              <a:latin typeface="LG Smart_H Regular" panose="020B0600000101010101" pitchFamily="34" charset="-127"/>
              <a:ea typeface="LG Smart_H Regular" panose="020B0600000101010101" pitchFamily="34" charset="-127"/>
            </a:endParaRPr>
          </a:p>
        </p:txBody>
      </p:sp>
      <p:graphicFrame>
        <p:nvGraphicFramePr>
          <p:cNvPr id="11" name="Diagram 10"/>
          <p:cNvGraphicFramePr/>
          <p:nvPr>
            <p:extLst>
              <p:ext uri="{D42A27DB-BD31-4B8C-83A1-F6EECF244321}">
                <p14:modId xmlns:p14="http://schemas.microsoft.com/office/powerpoint/2010/main" val="117888999"/>
              </p:ext>
            </p:extLst>
          </p:nvPr>
        </p:nvGraphicFramePr>
        <p:xfrm>
          <a:off x="5889103" y="-36714"/>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31290135"/>
              </p:ext>
            </p:extLst>
          </p:nvPr>
        </p:nvGraphicFramePr>
        <p:xfrm>
          <a:off x="76200" y="1447800"/>
          <a:ext cx="1828800" cy="5118514"/>
        </p:xfrm>
        <a:graphic>
          <a:graphicData uri="http://schemas.openxmlformats.org/drawingml/2006/table">
            <a:tbl>
              <a:tblPr>
                <a:tableStyleId>{5C22544A-7EE6-4342-B048-85BDC9FD1C3A}</a:tableStyleId>
              </a:tblPr>
              <a:tblGrid>
                <a:gridCol w="914400"/>
                <a:gridCol w="914400"/>
              </a:tblGrid>
              <a:tr h="155448">
                <a:tc>
                  <a:txBody>
                    <a:bodyPr/>
                    <a:lstStyle/>
                    <a:p>
                      <a:pPr algn="ctr" fontAlgn="b"/>
                      <a:r>
                        <a:rPr lang="en-US" sz="900" b="1" i="0" u="none" strike="noStrike" smtClean="0">
                          <a:solidFill>
                            <a:srgbClr val="000000"/>
                          </a:solidFill>
                          <a:effectLst/>
                          <a:latin typeface="Arial Narrow" panose="020B0606020202030204" pitchFamily="34" charset="0"/>
                          <a:cs typeface="Arial" panose="020B0604020202020204" pitchFamily="34" charset="0"/>
                        </a:rPr>
                        <a:t>Reference</a:t>
                      </a:r>
                      <a:r>
                        <a:rPr lang="en-US" sz="900" b="1" i="0" u="none" strike="noStrike" baseline="0" smtClean="0">
                          <a:solidFill>
                            <a:srgbClr val="000000"/>
                          </a:solidFill>
                          <a:effectLst/>
                          <a:latin typeface="Arial Narrow" panose="020B0606020202030204" pitchFamily="34" charset="0"/>
                          <a:cs typeface="Arial" panose="020B0604020202020204" pitchFamily="34" charset="0"/>
                        </a:rPr>
                        <a:t> Value</a:t>
                      </a:r>
                      <a:endParaRPr lang="en-US" sz="900" b="1" i="0" u="none" strike="noStrike">
                        <a:solidFill>
                          <a:srgbClr val="000000"/>
                        </a:solidFill>
                        <a:effectLst/>
                        <a:latin typeface="Arial Narrow" panose="020B0606020202030204" pitchFamily="34" charset="0"/>
                        <a:cs typeface="Arial" panose="020B0604020202020204" pitchFamily="34" charset="0"/>
                      </a:endParaRPr>
                    </a:p>
                  </a:txBody>
                  <a:tcPr marL="7018" marR="7018" marT="7018"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vi-VN" sz="900" b="0" i="0" u="none" strike="noStrike" smtClean="0">
                          <a:solidFill>
                            <a:srgbClr val="000000"/>
                          </a:solidFill>
                          <a:effectLst/>
                          <a:latin typeface="Arial Narrow" panose="020B0606020202030204" pitchFamily="34" charset="0"/>
                          <a:cs typeface="Arial" panose="020B0604020202020204" pitchFamily="34" charset="0"/>
                        </a:rPr>
                        <a:t>297.733</a:t>
                      </a:r>
                      <a:endParaRPr lang="en-US" sz="900" b="0" i="0" u="none" strike="noStrike">
                        <a:solidFill>
                          <a:srgbClr val="000000"/>
                        </a:solidFill>
                        <a:effectLst/>
                        <a:latin typeface="Arial Narrow" panose="020B0606020202030204" pitchFamily="34" charset="0"/>
                        <a:cs typeface="Arial" panose="020B0604020202020204" pitchFamily="34" charset="0"/>
                      </a:endParaRPr>
                    </a:p>
                  </a:txBody>
                  <a:tcPr marL="7018" marR="7018" marT="7018"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0">
                <a:tc>
                  <a:txBody>
                    <a:bodyPr/>
                    <a:lstStyle/>
                    <a:p>
                      <a:pPr algn="ctr" fontAlgn="b"/>
                      <a:r>
                        <a:rPr lang="vi-VN" sz="900" b="1" i="0" u="none" strike="noStrike" smtClean="0">
                          <a:solidFill>
                            <a:srgbClr val="000000"/>
                          </a:solidFill>
                          <a:effectLst/>
                          <a:latin typeface="Arial Narrow" panose="020B0606020202030204" pitchFamily="34" charset="0"/>
                          <a:cs typeface="Arial" panose="020B0604020202020204" pitchFamily="34" charset="0"/>
                        </a:rPr>
                        <a:t>Operator</a:t>
                      </a:r>
                      <a:endParaRPr lang="en-US" sz="900" b="1" i="0" u="none" strike="noStrike">
                        <a:solidFill>
                          <a:srgbClr val="000000"/>
                        </a:solidFill>
                        <a:effectLst/>
                        <a:latin typeface="Arial Narrow" panose="020B0606020202030204" pitchFamily="34" charset="0"/>
                        <a:cs typeface="Arial" panose="020B0604020202020204" pitchFamily="34" charset="0"/>
                      </a:endParaRPr>
                    </a:p>
                  </a:txBody>
                  <a:tcPr marL="7018" marR="7018" marT="7018"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900" b="0" i="0" u="none" strike="noStrike" smtClean="0">
                          <a:solidFill>
                            <a:srgbClr val="000000"/>
                          </a:solidFill>
                          <a:effectLst/>
                          <a:latin typeface="Arial Narrow" panose="020B0606020202030204" pitchFamily="34" charset="0"/>
                          <a:cs typeface="Arial" panose="020B0604020202020204" pitchFamily="34" charset="0"/>
                        </a:rPr>
                        <a:t>Long</a:t>
                      </a:r>
                      <a:endParaRPr lang="en-US" sz="900" b="0" i="0" u="none" strike="noStrike">
                        <a:solidFill>
                          <a:srgbClr val="000000"/>
                        </a:solidFill>
                        <a:effectLst/>
                        <a:latin typeface="Arial Narrow" panose="020B0606020202030204" pitchFamily="34" charset="0"/>
                        <a:cs typeface="Arial" panose="020B0604020202020204" pitchFamily="34" charset="0"/>
                      </a:endParaRPr>
                    </a:p>
                  </a:txBody>
                  <a:tcPr marL="7018" marR="7018" marT="7018"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b"/>
                      <a:r>
                        <a:rPr lang="en-US" sz="900" b="1" i="0" u="none" strike="noStrike">
                          <a:solidFill>
                            <a:srgbClr val="000000"/>
                          </a:solidFill>
                          <a:effectLst/>
                          <a:latin typeface="Arial Narrow" panose="020B0606020202030204" pitchFamily="34" charset="0"/>
                        </a:rPr>
                        <a:t>Time</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fontAlgn="b"/>
                      <a:r>
                        <a:rPr lang="en-US" sz="900" b="1" i="0" u="none" strike="noStrike">
                          <a:solidFill>
                            <a:srgbClr val="000000"/>
                          </a:solidFill>
                          <a:effectLst/>
                          <a:latin typeface="Arial Narrow" panose="020B0606020202030204" pitchFamily="34" charset="0"/>
                        </a:rPr>
                        <a:t>Data</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75000"/>
                      </a:schemeClr>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297.72</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297.72</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30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241894401"/>
              </p:ext>
            </p:extLst>
          </p:nvPr>
        </p:nvGraphicFramePr>
        <p:xfrm>
          <a:off x="76200" y="630659"/>
          <a:ext cx="4796166" cy="685800"/>
        </p:xfrm>
        <a:graphic>
          <a:graphicData uri="http://schemas.openxmlformats.org/drawingml/2006/table">
            <a:tbl>
              <a:tblPr/>
              <a:tblGrid>
                <a:gridCol w="707492"/>
                <a:gridCol w="1116911"/>
                <a:gridCol w="672710"/>
                <a:gridCol w="1279919"/>
                <a:gridCol w="482891"/>
                <a:gridCol w="536243"/>
              </a:tblGrid>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smtClean="0">
                          <a:effectLst/>
                          <a:latin typeface="Arial Narrow" panose="020B0606020202030204" pitchFamily="34" charset="0"/>
                          <a:ea typeface="LG Smart_H Regular" panose="020B0600000101010101" pitchFamily="34" charset="-127"/>
                        </a:rPr>
                        <a:t>18.Oct</a:t>
                      </a:r>
                      <a:r>
                        <a:rPr lang="vi-VN" sz="900" b="0" i="0" u="none" strike="noStrike" smtClean="0">
                          <a:effectLst/>
                          <a:latin typeface="Arial Narrow" panose="020B0606020202030204" pitchFamily="34" charset="0"/>
                          <a:ea typeface="LG Smart_H Regular" panose="020B0600000101010101" pitchFamily="34" charset="-127"/>
                        </a:rPr>
                        <a:t>.2024</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smtClean="0">
                          <a:effectLst/>
                          <a:latin typeface="Arial Narrow" panose="020B0606020202030204" pitchFamily="34" charset="0"/>
                          <a:ea typeface="LG Smart_H Regular" panose="020B0600000101010101" pitchFamily="34" charset="-127"/>
                        </a:rPr>
                        <a:t>Ruler</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Vernier Caliper 600 mm</a:t>
                      </a:r>
                      <a:endParaRPr lang="en-US" sz="900" b="0" i="0" u="none" strike="noStrike" dirty="0" smtClean="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Target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297.73</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Part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vi-VN" altLang="ko-KR" sz="900" smtClean="0">
                          <a:latin typeface="Arial Narrow" panose="020B0606020202030204" pitchFamily="34" charset="0"/>
                          <a:ea typeface="LG Smart_H Regular" panose="020B0600000101010101" pitchFamily="34" charset="-127"/>
                        </a:rPr>
                        <a:t>ABA30132601</a:t>
                      </a:r>
                      <a:endParaRPr lang="en-US" altLang="ko-KR" sz="900" dirty="0" smtClean="0">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smtClean="0">
                          <a:effectLst/>
                          <a:latin typeface="Arial Narrow" panose="020B0606020202030204" pitchFamily="34" charset="0"/>
                          <a:ea typeface="LG Smart_H Regular" panose="020B0600000101010101" pitchFamily="34" charset="-127"/>
                        </a:rPr>
                        <a:t>ID</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solidFill>
                            <a:schemeClr val="tx1"/>
                          </a:solidFill>
                          <a:effectLst/>
                          <a:latin typeface="Arial Narrow" panose="020B0606020202030204" pitchFamily="34" charset="0"/>
                          <a:ea typeface="LG Smart_H Regular" panose="020B0600000101010101" pitchFamily="34" charset="-127"/>
                        </a:rPr>
                        <a:t>IVI-SQA-C44</a:t>
                      </a:r>
                      <a:endParaRPr lang="en-US" sz="900" b="0" i="0" u="none" strike="noStrike" dirty="0">
                        <a:solidFill>
                          <a:schemeClr val="tx1"/>
                        </a:solidFill>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vi-VN" sz="900" b="1" i="0" u="none" strike="noStrike" smtClean="0">
                          <a:effectLst/>
                          <a:latin typeface="Arial Narrow" panose="020B0606020202030204" pitchFamily="34" charset="0"/>
                          <a:ea typeface="LG Smart_H Regular" panose="020B0600000101010101" pitchFamily="34" charset="-127"/>
                        </a:rPr>
                        <a:t>+TOL</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+0.2</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r h="228600">
                <a:tc>
                  <a:txBody>
                    <a:bodyPr/>
                    <a:lstStyle/>
                    <a:p>
                      <a:pPr algn="l" fontAlgn="ctr"/>
                      <a:r>
                        <a:rPr lang="en-US" sz="900" b="1" i="0" u="none" strike="noStrike" dirty="0" smtClean="0">
                          <a:effectLst/>
                          <a:latin typeface="Arial Narrow" panose="020B0606020202030204" pitchFamily="34" charset="0"/>
                          <a:ea typeface="LG Smart_H Regular" panose="020B0600000101010101" pitchFamily="34" charset="-127"/>
                        </a:rPr>
                        <a:t>Part </a:t>
                      </a:r>
                      <a:r>
                        <a:rPr lang="en-US" sz="900" b="1" i="0" u="none" strike="noStrike" dirty="0">
                          <a:effectLst/>
                          <a:latin typeface="Arial Narrow" panose="020B0606020202030204" pitchFamily="34" charset="0"/>
                          <a:ea typeface="LG Smart_H Regular" panose="020B0600000101010101" pitchFamily="34" charset="-127"/>
                        </a:rPr>
                        <a:t>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smtClean="0">
                          <a:latin typeface="Arial Narrow" panose="020B0606020202030204" pitchFamily="34" charset="0"/>
                        </a:rPr>
                        <a:t>Bracket Mid Assy</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Resolution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0.01mm</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vi-VN" sz="900" b="1" i="0" u="none" strike="noStrike" smtClean="0">
                          <a:effectLst/>
                          <a:latin typeface="Arial Narrow" panose="020B0606020202030204" pitchFamily="34" charset="0"/>
                          <a:ea typeface="LG Smart_H Regular" panose="020B0600000101010101" pitchFamily="34" charset="-127"/>
                        </a:rPr>
                        <a:t>-TOL</a:t>
                      </a:r>
                      <a:endParaRPr lang="en-US" sz="900" b="1" i="0" u="none" strike="noStrike" smtClean="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vi-VN" sz="900" b="0" smtClean="0">
                          <a:latin typeface="Arial Narrow" panose="020B0606020202030204" pitchFamily="34" charset="0"/>
                        </a:rPr>
                        <a:t>-0.2</a:t>
                      </a:r>
                      <a:endParaRPr lang="en-US" sz="900" b="0">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542359962"/>
              </p:ext>
            </p:extLst>
          </p:nvPr>
        </p:nvGraphicFramePr>
        <p:xfrm>
          <a:off x="4953000" y="630659"/>
          <a:ext cx="4876801" cy="685800"/>
        </p:xfrm>
        <a:graphic>
          <a:graphicData uri="http://schemas.openxmlformats.org/drawingml/2006/table">
            <a:tbl>
              <a:tblPr firstRow="1" bandRow="1">
                <a:tableStyleId>{5C22544A-7EE6-4342-B048-85BDC9FD1C3A}</a:tableStyleId>
              </a:tblPr>
              <a:tblGrid>
                <a:gridCol w="1917842"/>
                <a:gridCol w="1282558"/>
                <a:gridCol w="1676401"/>
              </a:tblGrid>
              <a:tr h="182880">
                <a:tc>
                  <a:txBody>
                    <a:bodyPr/>
                    <a:lstStyle/>
                    <a:p>
                      <a:r>
                        <a:rPr lang="vi-VN" sz="900" smtClean="0">
                          <a:solidFill>
                            <a:schemeClr val="tx1"/>
                          </a:solidFill>
                          <a:latin typeface="Arial Narrow" panose="020B0606020202030204" pitchFamily="34" charset="0"/>
                        </a:rPr>
                        <a:t>Instrument Resolution</a:t>
                      </a:r>
                      <a:endParaRPr lang="en-US" sz="90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90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b="0" smtClean="0">
                          <a:solidFill>
                            <a:schemeClr val="tx1"/>
                          </a:solidFill>
                          <a:latin typeface="Arial Narrow" panose="020B0606020202030204" pitchFamily="34" charset="0"/>
                        </a:rPr>
                        <a:t>0.01</a:t>
                      </a:r>
                      <a:endParaRPr lang="en-US" sz="900" b="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182880">
                <a:tc>
                  <a:txBody>
                    <a:bodyPr/>
                    <a:lstStyle/>
                    <a:p>
                      <a:r>
                        <a:rPr lang="en-US" altLang="ko-KR" sz="900" b="1" smtClean="0">
                          <a:latin typeface="Arial Narrow" panose="020B0606020202030204" pitchFamily="34" charset="0"/>
                        </a:rPr>
                        <a:t>Tolerance</a:t>
                      </a:r>
                      <a:r>
                        <a:rPr lang="ko-KR" altLang="en-US" sz="900" b="1" smtClean="0">
                          <a:latin typeface="Arial Narrow" panose="020B0606020202030204" pitchFamily="34" charset="0"/>
                        </a:rPr>
                        <a:t>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vi-VN" sz="900" smtClean="0">
                          <a:latin typeface="Arial Narrow" panose="020B0606020202030204" pitchFamily="34" charset="0"/>
                        </a:rPr>
                        <a:t>T = USL - LSL</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smtClean="0">
                          <a:latin typeface="Arial Narrow" panose="020B0606020202030204" pitchFamily="34" charset="0"/>
                        </a:rPr>
                        <a:t>0.4</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182880">
                <a:tc>
                  <a:txBody>
                    <a:bodyPr/>
                    <a:lstStyle/>
                    <a:p>
                      <a:r>
                        <a:rPr lang="en-US" altLang="ko-KR" sz="900" b="1" smtClean="0">
                          <a:latin typeface="Arial Narrow" panose="020B0606020202030204" pitchFamily="34" charset="0"/>
                        </a:rPr>
                        <a:t>Decomposition performance</a:t>
                      </a:r>
                      <a:r>
                        <a:rPr lang="ko-KR" altLang="en-US" sz="900" b="1" smtClean="0">
                          <a:latin typeface="Arial Narrow" panose="020B0606020202030204" pitchFamily="34" charset="0"/>
                        </a:rPr>
                        <a:t>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vi-VN" sz="900" smtClean="0">
                          <a:latin typeface="Arial Narrow" panose="020B0606020202030204" pitchFamily="34" charset="0"/>
                        </a:rPr>
                        <a:t>%RE = (RE / T) * 100%</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smtClean="0">
                          <a:latin typeface="Arial Narrow" panose="020B0606020202030204" pitchFamily="34" charset="0"/>
                        </a:rPr>
                        <a:t>(</a:t>
                      </a:r>
                      <a:r>
                        <a:rPr lang="vi-VN" sz="900" baseline="0" smtClean="0">
                          <a:latin typeface="Arial Narrow" panose="020B0606020202030204" pitchFamily="34" charset="0"/>
                        </a:rPr>
                        <a:t> 0.01 / 0.4 ) * 100% = 2.5% &lt; 5 %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8D621"/>
                    </a:solidFill>
                  </a:tcPr>
                </a:tc>
              </a:tr>
            </a:tbl>
          </a:graphicData>
        </a:graphic>
      </p:graphicFrame>
      <p:sp>
        <p:nvSpPr>
          <p:cNvPr id="9" name="TextBox 8"/>
          <p:cNvSpPr txBox="1"/>
          <p:nvPr/>
        </p:nvSpPr>
        <p:spPr>
          <a:xfrm>
            <a:off x="2068945" y="5040745"/>
            <a:ext cx="5181600" cy="1361911"/>
          </a:xfrm>
          <a:prstGeom prst="rect">
            <a:avLst/>
          </a:prstGeom>
          <a:noFill/>
        </p:spPr>
        <p:txBody>
          <a:bodyPr wrap="square" rtlCol="0">
            <a:spAutoFit/>
          </a:bodyPr>
          <a:lstStyle/>
          <a:p>
            <a:pPr>
              <a:lnSpc>
                <a:spcPct val="150000"/>
              </a:lnSpc>
            </a:pPr>
            <a:r>
              <a:rPr lang="en-US" sz="1100" b="1" u="sng" dirty="0" smtClean="0">
                <a:latin typeface="Arial Narrow" panose="020B0606020202030204" pitchFamily="34" charset="0"/>
                <a:ea typeface="LG Smart_H Regular" panose="020B0600000101010101" pitchFamily="34" charset="-127"/>
              </a:rPr>
              <a:t>Conclusion:</a:t>
            </a:r>
          </a:p>
          <a:p>
            <a:pPr>
              <a:lnSpc>
                <a:spcPct val="150000"/>
              </a:lnSpc>
            </a:pPr>
            <a:r>
              <a:rPr lang="en-US" sz="1100" smtClean="0">
                <a:latin typeface="Arial Narrow" panose="020B0606020202030204" pitchFamily="34" charset="0"/>
                <a:ea typeface="LG Smart_H Regular" panose="020B0600000101010101" pitchFamily="34" charset="-127"/>
              </a:rPr>
              <a:t>*1 </a:t>
            </a:r>
            <a:r>
              <a:rPr lang="en-US" sz="1100" dirty="0" smtClean="0">
                <a:latin typeface="Arial Narrow" panose="020B0606020202030204" pitchFamily="34" charset="0"/>
                <a:ea typeface="LG Smart_H Regular" panose="020B0600000101010101" pitchFamily="34" charset="-127"/>
              </a:rPr>
              <a:t>people </a:t>
            </a:r>
            <a:r>
              <a:rPr lang="en-US" sz="1100" smtClean="0">
                <a:latin typeface="Arial Narrow" panose="020B0606020202030204" pitchFamily="34" charset="0"/>
                <a:ea typeface="LG Smart_H Regular" panose="020B0600000101010101" pitchFamily="34" charset="-127"/>
              </a:rPr>
              <a:t>measure </a:t>
            </a:r>
            <a:r>
              <a:rPr lang="en-US" sz="1100">
                <a:latin typeface="Arial Narrow" panose="020B0606020202030204" pitchFamily="34" charset="0"/>
                <a:ea typeface="LG Smart_H Regular" panose="020B0600000101010101" pitchFamily="34" charset="-127"/>
              </a:rPr>
              <a:t>a</a:t>
            </a:r>
            <a:r>
              <a:rPr lang="en-US" sz="1100" smtClean="0">
                <a:latin typeface="Arial Narrow" panose="020B0606020202030204" pitchFamily="34" charset="0"/>
                <a:ea typeface="LG Smart_H Regular" panose="020B0600000101010101" pitchFamily="34" charset="-127"/>
              </a:rPr>
              <a:t> sample, </a:t>
            </a:r>
            <a:r>
              <a:rPr lang="en-US" sz="1100" dirty="0" smtClean="0">
                <a:latin typeface="Arial Narrow" panose="020B0606020202030204" pitchFamily="34" charset="0"/>
                <a:ea typeface="LG Smart_H Regular" panose="020B0600000101010101" pitchFamily="34" charset="-127"/>
              </a:rPr>
              <a:t>measure </a:t>
            </a:r>
            <a:r>
              <a:rPr lang="en-US" sz="1100" smtClean="0">
                <a:latin typeface="Arial Narrow" panose="020B0606020202030204" pitchFamily="34" charset="0"/>
                <a:ea typeface="LG Smart_H Regular" panose="020B0600000101010101" pitchFamily="34" charset="-127"/>
              </a:rPr>
              <a:t>repeat 30 times </a:t>
            </a:r>
            <a:endParaRPr lang="en-US" sz="1100" dirty="0" smtClean="0">
              <a:latin typeface="Arial Narrow" panose="020B0606020202030204" pitchFamily="34" charset="0"/>
              <a:ea typeface="LG Smart_H Regular" panose="020B0600000101010101" pitchFamily="34" charset="-127"/>
            </a:endParaRPr>
          </a:p>
          <a:p>
            <a:pPr>
              <a:lnSpc>
                <a:spcPct val="150000"/>
              </a:lnSpc>
              <a:buFont typeface="Wingdings" pitchFamily="2" charset="2"/>
              <a:buChar char="§"/>
            </a:pPr>
            <a:r>
              <a:rPr lang="en-US" sz="1100" smtClean="0">
                <a:latin typeface="Arial Narrow" panose="020B0606020202030204" pitchFamily="34" charset="0"/>
                <a:ea typeface="LG Smart_H Regular" panose="020B0600000101010101" pitchFamily="34" charset="-127"/>
              </a:rPr>
              <a:t>  Cg = </a:t>
            </a:r>
            <a:r>
              <a:rPr lang="vi-VN" sz="1100" smtClean="0">
                <a:latin typeface="Arial Narrow" panose="020B0606020202030204" pitchFamily="34" charset="0"/>
                <a:ea typeface="LG Smart_H Regular" panose="020B0600000101010101" pitchFamily="34" charset="-127"/>
              </a:rPr>
              <a:t>2.15</a:t>
            </a:r>
            <a:r>
              <a:rPr lang="en-US" sz="1100" smtClean="0">
                <a:latin typeface="Arial Narrow" panose="020B0606020202030204" pitchFamily="34" charset="0"/>
                <a:ea typeface="LG Smart_H Regular" panose="020B0600000101010101" pitchFamily="34" charset="-127"/>
              </a:rPr>
              <a:t> &gt; 1.33 </a:t>
            </a:r>
            <a:r>
              <a:rPr lang="en-US" sz="1100" smtClean="0">
                <a:latin typeface="Arial Narrow" panose="020B0606020202030204" pitchFamily="34" charset="0"/>
                <a:ea typeface="LG Smart_H Regular" panose="020B0600000101010101" pitchFamily="34" charset="-127"/>
                <a:sym typeface="Wingdings" pitchFamily="2" charset="2"/>
              </a:rPr>
              <a:t> </a:t>
            </a:r>
            <a:r>
              <a:rPr lang="en-US" sz="1100" b="1">
                <a:solidFill>
                  <a:srgbClr val="006600"/>
                </a:solidFill>
                <a:latin typeface="Arial Narrow" panose="020B0606020202030204" pitchFamily="34" charset="0"/>
                <a:ea typeface="LG Smart_H Regular" panose="020B0600000101010101" pitchFamily="34" charset="-127"/>
                <a:sym typeface="Wingdings" pitchFamily="2" charset="2"/>
              </a:rPr>
              <a:t>OK</a:t>
            </a:r>
          </a:p>
          <a:p>
            <a:pPr marL="171450" indent="-171450">
              <a:lnSpc>
                <a:spcPct val="150000"/>
              </a:lnSpc>
              <a:buFont typeface="Wingdings" panose="05000000000000000000" pitchFamily="2" charset="2"/>
              <a:buChar char="§"/>
            </a:pPr>
            <a:r>
              <a:rPr lang="en-US" sz="1100" smtClean="0">
                <a:latin typeface="Arial Narrow" panose="020B0606020202030204" pitchFamily="34" charset="0"/>
                <a:ea typeface="LG Smart_H Regular" panose="020B0600000101010101" pitchFamily="34" charset="-127"/>
              </a:rPr>
              <a:t>Cgk = </a:t>
            </a:r>
            <a:r>
              <a:rPr lang="vi-VN" sz="1100" smtClean="0">
                <a:latin typeface="Arial Narrow" panose="020B0606020202030204" pitchFamily="34" charset="0"/>
                <a:ea typeface="LG Smart_H Regular" panose="020B0600000101010101" pitchFamily="34" charset="-127"/>
              </a:rPr>
              <a:t>2.09</a:t>
            </a:r>
            <a:r>
              <a:rPr lang="en-US" sz="1100" smtClean="0">
                <a:latin typeface="Arial Narrow" panose="020B0606020202030204" pitchFamily="34" charset="0"/>
                <a:ea typeface="LG Smart_H Regular" panose="020B0600000101010101" pitchFamily="34" charset="-127"/>
              </a:rPr>
              <a:t> &gt; 1.33</a:t>
            </a:r>
            <a:r>
              <a:rPr lang="en-US" sz="1100" smtClean="0">
                <a:latin typeface="Arial Narrow" panose="020B0606020202030204" pitchFamily="34" charset="0"/>
                <a:ea typeface="LG Smart_H Regular" panose="020B0600000101010101" pitchFamily="34" charset="-127"/>
                <a:sym typeface="Wingdings" pitchFamily="2" charset="2"/>
              </a:rPr>
              <a:t> </a:t>
            </a:r>
            <a:r>
              <a:rPr lang="en-US" sz="1100" b="1">
                <a:solidFill>
                  <a:srgbClr val="006600"/>
                </a:solidFill>
                <a:latin typeface="Arial Narrow" panose="020B0606020202030204" pitchFamily="34" charset="0"/>
                <a:ea typeface="LG Smart_H Regular" panose="020B0600000101010101" pitchFamily="34" charset="-127"/>
                <a:sym typeface="Wingdings" pitchFamily="2" charset="2"/>
              </a:rPr>
              <a:t>OK</a:t>
            </a:r>
          </a:p>
          <a:p>
            <a:pPr>
              <a:lnSpc>
                <a:spcPct val="150000"/>
              </a:lnSpc>
            </a:pPr>
            <a:r>
              <a:rPr lang="en-US" sz="1100" smtClean="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sz="1100">
                <a:solidFill>
                  <a:srgbClr val="006600"/>
                </a:solidFill>
                <a:latin typeface="Arial Narrow" panose="020B0606020202030204" pitchFamily="34" charset="0"/>
                <a:ea typeface="LG Smart_H Regular" panose="020B0600000101010101" pitchFamily="34" charset="-127"/>
                <a:sym typeface="Wingdings" pitchFamily="2" charset="2"/>
              </a:rPr>
              <a:t>This instrument can </a:t>
            </a:r>
            <a:r>
              <a:rPr lang="en-US" sz="1100" smtClean="0">
                <a:solidFill>
                  <a:srgbClr val="006600"/>
                </a:solidFill>
                <a:latin typeface="Arial Narrow" panose="020B0606020202030204" pitchFamily="34" charset="0"/>
                <a:ea typeface="LG Smart_H Regular" panose="020B0600000101010101" pitchFamily="34" charset="-127"/>
                <a:sym typeface="Wingdings" pitchFamily="2" charset="2"/>
              </a:rPr>
              <a:t>use</a:t>
            </a:r>
            <a:endParaRPr lang="vi-VN" sz="1100">
              <a:solidFill>
                <a:srgbClr val="006600"/>
              </a:solidFill>
              <a:latin typeface="Arial Narrow" panose="020B0606020202030204" pitchFamily="34" charset="0"/>
              <a:ea typeface="LG Smart_H Regular" panose="020B0600000101010101" pitchFamily="34" charset="-127"/>
              <a:sym typeface="Wingdings" pitchFamily="2" charset="2"/>
            </a:endParaRPr>
          </a:p>
        </p:txBody>
      </p:sp>
      <p:sp>
        <p:nvSpPr>
          <p:cNvPr id="10" name="Rectangle 9"/>
          <p:cNvSpPr/>
          <p:nvPr/>
        </p:nvSpPr>
        <p:spPr bwMode="auto">
          <a:xfrm>
            <a:off x="5638800" y="4111070"/>
            <a:ext cx="1295400" cy="533400"/>
          </a:xfrm>
          <a:prstGeom prst="rect">
            <a:avLst/>
          </a:prstGeom>
          <a:no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smtClean="0">
              <a:ln>
                <a:noFill/>
              </a:ln>
              <a:solidFill>
                <a:schemeClr val="tx1"/>
              </a:solidFill>
              <a:effectLst/>
              <a:latin typeface="Arial" charset="0"/>
              <a:ea typeface="돋움" pitchFamily="50" charset="-127"/>
            </a:endParaRPr>
          </a:p>
        </p:txBody>
      </p:sp>
      <p:graphicFrame>
        <p:nvGraphicFramePr>
          <p:cNvPr id="15" name="Object 14"/>
          <p:cNvGraphicFramePr>
            <a:graphicFrameLocks noChangeAspect="1"/>
          </p:cNvGraphicFramePr>
          <p:nvPr>
            <p:extLst>
              <p:ext uri="{D42A27DB-BD31-4B8C-83A1-F6EECF244321}">
                <p14:modId xmlns:p14="http://schemas.microsoft.com/office/powerpoint/2010/main" val="2915084635"/>
              </p:ext>
            </p:extLst>
          </p:nvPr>
        </p:nvGraphicFramePr>
        <p:xfrm>
          <a:off x="8686800" y="2016192"/>
          <a:ext cx="914400" cy="771525"/>
        </p:xfrm>
        <a:graphic>
          <a:graphicData uri="http://schemas.openxmlformats.org/presentationml/2006/ole">
            <mc:AlternateContent xmlns:mc="http://schemas.openxmlformats.org/markup-compatibility/2006">
              <mc:Choice xmlns:v="urn:schemas-microsoft-com:vml" Requires="v">
                <p:oleObj spid="_x0000_s3079" name="Worksheet" showAsIcon="1" r:id="rId11" imgW="914400" imgH="771480" progId="Excel.Sheet.12">
                  <p:embed/>
                </p:oleObj>
              </mc:Choice>
              <mc:Fallback>
                <p:oleObj name="Worksheet" showAsIcon="1" r:id="rId11" imgW="914400" imgH="771480" progId="Excel.Sheet.12">
                  <p:embed/>
                  <p:pic>
                    <p:nvPicPr>
                      <p:cNvPr id="0" name=""/>
                      <p:cNvPicPr/>
                      <p:nvPr/>
                    </p:nvPicPr>
                    <p:blipFill>
                      <a:blip r:embed="rId12"/>
                      <a:stretch>
                        <a:fillRect/>
                      </a:stretch>
                    </p:blipFill>
                    <p:spPr>
                      <a:xfrm>
                        <a:off x="8686800" y="2016192"/>
                        <a:ext cx="914400" cy="771525"/>
                      </a:xfrm>
                      <a:prstGeom prst="rect">
                        <a:avLst/>
                      </a:prstGeom>
                    </p:spPr>
                  </p:pic>
                </p:oleObj>
              </mc:Fallback>
            </mc:AlternateContent>
          </a:graphicData>
        </a:graphic>
      </p:graphicFrame>
      <p:cxnSp>
        <p:nvCxnSpPr>
          <p:cNvPr id="16" name="Straight Arrow Connector 15"/>
          <p:cNvCxnSpPr/>
          <p:nvPr/>
        </p:nvCxnSpPr>
        <p:spPr bwMode="auto">
          <a:xfrm flipV="1">
            <a:off x="9067800" y="2787718"/>
            <a:ext cx="0" cy="1096458"/>
          </a:xfrm>
          <a:prstGeom prst="straightConnector1">
            <a:avLst/>
          </a:prstGeom>
          <a:noFill/>
          <a:ln w="9525" cap="flat" cmpd="sng" algn="ctr">
            <a:solidFill>
              <a:srgbClr val="C00000"/>
            </a:solidFill>
            <a:prstDash val="solid"/>
            <a:round/>
            <a:headEnd type="none" w="med" len="med"/>
            <a:tailEnd type="triangle"/>
          </a:ln>
          <a:effectLst/>
        </p:spPr>
      </p:cxnSp>
      <p:sp>
        <p:nvSpPr>
          <p:cNvPr id="17" name="TextBox 16"/>
          <p:cNvSpPr txBox="1"/>
          <p:nvPr/>
        </p:nvSpPr>
        <p:spPr>
          <a:xfrm>
            <a:off x="8143528" y="3884176"/>
            <a:ext cx="2000944" cy="369332"/>
          </a:xfrm>
          <a:prstGeom prst="rect">
            <a:avLst/>
          </a:prstGeom>
          <a:noFill/>
        </p:spPr>
        <p:txBody>
          <a:bodyPr wrap="square" rtlCol="0">
            <a:spAutoFit/>
          </a:bodyPr>
          <a:lstStyle/>
          <a:p>
            <a:r>
              <a:rPr lang="vi-VN" smtClean="0"/>
              <a:t>File data nhé ạ</a:t>
            </a:r>
            <a:endParaRPr lang="en-US"/>
          </a:p>
        </p:txBody>
      </p:sp>
    </p:spTree>
    <p:extLst>
      <p:ext uri="{BB962C8B-B14F-4D97-AF65-F5344CB8AC3E}">
        <p14:creationId xmlns:p14="http://schemas.microsoft.com/office/powerpoint/2010/main" val="35111061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81276" y="6410894"/>
            <a:ext cx="2209800" cy="428625"/>
          </a:xfrm>
          <a:prstGeom prst="rect">
            <a:avLst/>
          </a:prstGeom>
        </p:spPr>
      </p:pic>
      <p:pic>
        <p:nvPicPr>
          <p:cNvPr id="5" name="Picture 4"/>
          <p:cNvPicPr>
            <a:picLocks noChangeAspect="1"/>
          </p:cNvPicPr>
          <p:nvPr/>
        </p:nvPicPr>
        <p:blipFill rotWithShape="1">
          <a:blip r:embed="rId4"/>
          <a:srcRect t="12616" b="5141"/>
          <a:stretch/>
        </p:blipFill>
        <p:spPr>
          <a:xfrm>
            <a:off x="125397" y="4848094"/>
            <a:ext cx="3516297" cy="1562800"/>
          </a:xfrm>
          <a:prstGeom prst="rect">
            <a:avLst/>
          </a:prstGeom>
        </p:spPr>
      </p:pic>
      <p:graphicFrame>
        <p:nvGraphicFramePr>
          <p:cNvPr id="24" name="Table 23"/>
          <p:cNvGraphicFramePr>
            <a:graphicFrameLocks noGrp="1"/>
          </p:cNvGraphicFramePr>
          <p:nvPr>
            <p:extLst>
              <p:ext uri="{D42A27DB-BD31-4B8C-83A1-F6EECF244321}">
                <p14:modId xmlns:p14="http://schemas.microsoft.com/office/powerpoint/2010/main" val="3935713806"/>
              </p:ext>
            </p:extLst>
          </p:nvPr>
        </p:nvGraphicFramePr>
        <p:xfrm>
          <a:off x="88640" y="625220"/>
          <a:ext cx="4796166" cy="548640"/>
        </p:xfrm>
        <a:graphic>
          <a:graphicData uri="http://schemas.openxmlformats.org/drawingml/2006/table">
            <a:tbl>
              <a:tblPr/>
              <a:tblGrid>
                <a:gridCol w="707492"/>
                <a:gridCol w="1116911"/>
                <a:gridCol w="672710"/>
                <a:gridCol w="1279919"/>
                <a:gridCol w="482891"/>
                <a:gridCol w="536243"/>
              </a:tblGrid>
              <a:tr h="18288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smtClean="0">
                          <a:effectLst/>
                          <a:latin typeface="Arial Narrow" panose="020B0606020202030204" pitchFamily="34" charset="0"/>
                          <a:ea typeface="LG Smart_H Regular" panose="020B0600000101010101" pitchFamily="34" charset="-127"/>
                        </a:rPr>
                        <a:t>18.Oct</a:t>
                      </a:r>
                      <a:r>
                        <a:rPr lang="vi-VN" sz="900" b="0" i="0" u="none" strike="noStrike" smtClean="0">
                          <a:effectLst/>
                          <a:latin typeface="Arial Narrow" panose="020B0606020202030204" pitchFamily="34" charset="0"/>
                          <a:ea typeface="LG Smart_H Regular" panose="020B0600000101010101" pitchFamily="34" charset="-127"/>
                        </a:rPr>
                        <a:t>.2024</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smtClean="0">
                          <a:effectLst/>
                          <a:latin typeface="Arial Narrow" panose="020B0606020202030204" pitchFamily="34" charset="0"/>
                          <a:ea typeface="LG Smart_H Regular" panose="020B0600000101010101" pitchFamily="34" charset="-127"/>
                        </a:rPr>
                        <a:t>Ruler</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Vernier Caliper 600 mm</a:t>
                      </a:r>
                      <a:endParaRPr lang="en-US" sz="900" b="0" i="0" u="none" strike="noStrike" dirty="0" smtClean="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Target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297.73</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r h="18288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Part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vi-VN" altLang="ko-KR" sz="900" smtClean="0">
                          <a:latin typeface="Arial Narrow" panose="020B0606020202030204" pitchFamily="34" charset="0"/>
                          <a:ea typeface="LG Smart_H Regular" panose="020B0600000101010101" pitchFamily="34" charset="-127"/>
                        </a:rPr>
                        <a:t>ABA30132601</a:t>
                      </a:r>
                      <a:endParaRPr lang="en-US" altLang="ko-KR" sz="900" dirty="0" smtClean="0">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smtClean="0">
                          <a:effectLst/>
                          <a:latin typeface="Arial Narrow" panose="020B0606020202030204" pitchFamily="34" charset="0"/>
                          <a:ea typeface="LG Smart_H Regular" panose="020B0600000101010101" pitchFamily="34" charset="-127"/>
                        </a:rPr>
                        <a:t>ID</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solidFill>
                            <a:schemeClr val="tx1"/>
                          </a:solidFill>
                          <a:effectLst/>
                          <a:latin typeface="Arial Narrow" panose="020B0606020202030204" pitchFamily="34" charset="0"/>
                          <a:ea typeface="LG Smart_H Regular" panose="020B0600000101010101" pitchFamily="34" charset="-127"/>
                        </a:rPr>
                        <a:t>IVI-SQA-C44</a:t>
                      </a:r>
                      <a:endParaRPr lang="en-US" sz="900" b="0" i="0" u="none" strike="noStrike" dirty="0">
                        <a:solidFill>
                          <a:schemeClr val="tx1"/>
                        </a:solidFill>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vi-VN" sz="900" b="1" i="0" u="none" strike="noStrike" smtClean="0">
                          <a:effectLst/>
                          <a:latin typeface="Arial Narrow" panose="020B0606020202030204" pitchFamily="34" charset="0"/>
                          <a:ea typeface="LG Smart_H Regular" panose="020B0600000101010101" pitchFamily="34" charset="-127"/>
                        </a:rPr>
                        <a:t>+TOL</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+0.2</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r h="182880">
                <a:tc>
                  <a:txBody>
                    <a:bodyPr/>
                    <a:lstStyle/>
                    <a:p>
                      <a:pPr algn="l" fontAlgn="ctr"/>
                      <a:r>
                        <a:rPr lang="en-US" sz="900" b="1" i="0" u="none" strike="noStrike" dirty="0" smtClean="0">
                          <a:effectLst/>
                          <a:latin typeface="Arial Narrow" panose="020B0606020202030204" pitchFamily="34" charset="0"/>
                          <a:ea typeface="LG Smart_H Regular" panose="020B0600000101010101" pitchFamily="34" charset="-127"/>
                        </a:rPr>
                        <a:t>Part </a:t>
                      </a:r>
                      <a:r>
                        <a:rPr lang="en-US" sz="900" b="1" i="0" u="none" strike="noStrike" dirty="0">
                          <a:effectLst/>
                          <a:latin typeface="Arial Narrow" panose="020B0606020202030204" pitchFamily="34" charset="0"/>
                          <a:ea typeface="LG Smart_H Regular" panose="020B0600000101010101" pitchFamily="34" charset="-127"/>
                        </a:rPr>
                        <a:t>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smtClean="0">
                          <a:latin typeface="Arial Narrow" panose="020B0606020202030204" pitchFamily="34" charset="0"/>
                        </a:rPr>
                        <a:t>Bracket Mid Assy</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Resolution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0.01mm</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vi-VN" sz="900" b="1" i="0" u="none" strike="noStrike" smtClean="0">
                          <a:effectLst/>
                          <a:latin typeface="Arial Narrow" panose="020B0606020202030204" pitchFamily="34" charset="0"/>
                          <a:ea typeface="LG Smart_H Regular" panose="020B0600000101010101" pitchFamily="34" charset="-127"/>
                        </a:rPr>
                        <a:t>-TOL</a:t>
                      </a:r>
                      <a:endParaRPr lang="en-US" sz="900" b="1" i="0" u="none" strike="noStrike" smtClean="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vi-VN" sz="900" b="0" smtClean="0">
                          <a:latin typeface="Arial Narrow" panose="020B0606020202030204" pitchFamily="34" charset="0"/>
                        </a:rPr>
                        <a:t>-0.2</a:t>
                      </a:r>
                      <a:endParaRPr lang="en-US" sz="900" b="0">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bl>
          </a:graphicData>
        </a:graphic>
      </p:graphicFrame>
      <p:sp>
        <p:nvSpPr>
          <p:cNvPr id="2" name="제목 1"/>
          <p:cNvSpPr>
            <a:spLocks noGrp="1"/>
          </p:cNvSpPr>
          <p:nvPr>
            <p:ph type="title"/>
          </p:nvPr>
        </p:nvSpPr>
        <p:spPr>
          <a:xfrm>
            <a:off x="56456" y="116632"/>
            <a:ext cx="8915400" cy="418058"/>
          </a:xfrm>
        </p:spPr>
        <p:txBody>
          <a:bodyPr>
            <a:normAutofit/>
          </a:bodyPr>
          <a:lstStyle/>
          <a:p>
            <a:r>
              <a:rPr lang="en-US" altLang="ko-KR" sz="1800" smtClean="0">
                <a:latin typeface="LG Smart_H Regular" panose="020B0600000101010101" pitchFamily="34" charset="-127"/>
                <a:ea typeface="LG Smart_H Regular" panose="020B0600000101010101" pitchFamily="34" charset="-127"/>
              </a:rPr>
              <a:t>Gage R&amp;R</a:t>
            </a:r>
            <a:r>
              <a:rPr lang="vi-VN" altLang="ko-KR" sz="1800" smtClean="0">
                <a:latin typeface="LG Smart_H Regular" panose="020B0600000101010101" pitchFamily="34" charset="-127"/>
                <a:ea typeface="LG Smart_H Regular" panose="020B0600000101010101" pitchFamily="34" charset="-127"/>
              </a:rPr>
              <a:t> type 2 study</a:t>
            </a:r>
            <a:endParaRPr lang="ko-KR" altLang="en-US" sz="1800" dirty="0">
              <a:latin typeface="LG Smart_H Regular" panose="020B0600000101010101" pitchFamily="34" charset="-127"/>
              <a:ea typeface="LG Smart_H Regular" panose="020B0600000101010101" pitchFamily="34" charset="-127"/>
            </a:endParaRPr>
          </a:p>
        </p:txBody>
      </p:sp>
      <p:graphicFrame>
        <p:nvGraphicFramePr>
          <p:cNvPr id="11" name="Diagram 10"/>
          <p:cNvGraphicFramePr/>
          <p:nvPr>
            <p:extLst>
              <p:ext uri="{D42A27DB-BD31-4B8C-83A1-F6EECF244321}">
                <p14:modId xmlns:p14="http://schemas.microsoft.com/office/powerpoint/2010/main" val="117888999"/>
              </p:ext>
            </p:extLst>
          </p:nvPr>
        </p:nvGraphicFramePr>
        <p:xfrm>
          <a:off x="5889103" y="-36714"/>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3" name="TextBox 12"/>
          <p:cNvSpPr txBox="1"/>
          <p:nvPr/>
        </p:nvSpPr>
        <p:spPr>
          <a:xfrm>
            <a:off x="5105400" y="5029200"/>
            <a:ext cx="5181600" cy="2123658"/>
          </a:xfrm>
          <a:prstGeom prst="rect">
            <a:avLst/>
          </a:prstGeom>
          <a:noFill/>
        </p:spPr>
        <p:txBody>
          <a:bodyPr wrap="square" rtlCol="0">
            <a:spAutoFit/>
          </a:bodyPr>
          <a:lstStyle/>
          <a:p>
            <a:pPr>
              <a:lnSpc>
                <a:spcPct val="150000"/>
              </a:lnSpc>
            </a:pPr>
            <a:r>
              <a:rPr lang="en-US" sz="1100" b="1" u="sng" dirty="0" smtClean="0">
                <a:latin typeface="Arial Narrow" panose="020B0606020202030204" pitchFamily="34" charset="0"/>
                <a:ea typeface="LG Smart_H Regular" panose="020B0600000101010101" pitchFamily="34" charset="-127"/>
              </a:rPr>
              <a:t>Conclusion:</a:t>
            </a:r>
          </a:p>
          <a:p>
            <a:pPr>
              <a:lnSpc>
                <a:spcPct val="150000"/>
              </a:lnSpc>
            </a:pPr>
            <a:r>
              <a:rPr lang="en-US" sz="1100" dirty="0" smtClean="0">
                <a:latin typeface="Arial Narrow" panose="020B0606020202030204" pitchFamily="34" charset="0"/>
                <a:ea typeface="LG Smart_H Regular" panose="020B0600000101010101" pitchFamily="34" charset="-127"/>
              </a:rPr>
              <a:t>*3 people measure 10 samples, measure </a:t>
            </a:r>
            <a:r>
              <a:rPr lang="en-US" sz="1100" smtClean="0">
                <a:latin typeface="Arial Narrow" panose="020B0606020202030204" pitchFamily="34" charset="0"/>
                <a:ea typeface="LG Smart_H Regular" panose="020B0600000101010101" pitchFamily="34" charset="-127"/>
              </a:rPr>
              <a:t>repeat 3 </a:t>
            </a:r>
            <a:r>
              <a:rPr lang="en-US" sz="1100" dirty="0" smtClean="0">
                <a:latin typeface="Arial Narrow" panose="020B0606020202030204" pitchFamily="34" charset="0"/>
                <a:ea typeface="LG Smart_H Regular" panose="020B0600000101010101" pitchFamily="34" charset="-127"/>
              </a:rPr>
              <a:t>times (Blind and random)</a:t>
            </a:r>
          </a:p>
          <a:p>
            <a:pPr>
              <a:lnSpc>
                <a:spcPct val="150000"/>
              </a:lnSpc>
              <a:buFont typeface="Wingdings" pitchFamily="2" charset="2"/>
              <a:buChar char="§"/>
            </a:pPr>
            <a:r>
              <a:rPr lang="en-US" sz="1100" dirty="0" smtClean="0">
                <a:latin typeface="Arial Narrow" panose="020B0606020202030204" pitchFamily="34" charset="0"/>
                <a:ea typeface="LG Smart_H Regular" panose="020B0600000101010101" pitchFamily="34" charset="-127"/>
              </a:rPr>
              <a:t>  % Study Var (SV</a:t>
            </a:r>
            <a:r>
              <a:rPr lang="en-US" sz="1100" smtClean="0">
                <a:latin typeface="Arial Narrow" panose="020B0606020202030204" pitchFamily="34" charset="0"/>
                <a:ea typeface="LG Smart_H Regular" panose="020B0600000101010101" pitchFamily="34" charset="-127"/>
              </a:rPr>
              <a:t>) :</a:t>
            </a:r>
            <a:r>
              <a:rPr lang="vi-VN" sz="1100" smtClean="0">
                <a:latin typeface="Arial Narrow" panose="020B0606020202030204" pitchFamily="34" charset="0"/>
                <a:ea typeface="LG Smart_H Regular" panose="020B0600000101010101" pitchFamily="34" charset="-127"/>
              </a:rPr>
              <a:t> 6.16</a:t>
            </a:r>
            <a:r>
              <a:rPr lang="en-US" sz="1100" smtClean="0">
                <a:latin typeface="Arial Narrow" panose="020B0606020202030204" pitchFamily="34" charset="0"/>
                <a:ea typeface="LG Smart_H Regular" panose="020B0600000101010101" pitchFamily="34" charset="-127"/>
              </a:rPr>
              <a:t> &lt;</a:t>
            </a:r>
            <a:r>
              <a:rPr lang="vi-VN" sz="1100" smtClean="0">
                <a:latin typeface="Arial Narrow" panose="020B0606020202030204" pitchFamily="34" charset="0"/>
                <a:ea typeface="LG Smart_H Regular" panose="020B0600000101010101" pitchFamily="34" charset="-127"/>
              </a:rPr>
              <a:t> </a:t>
            </a:r>
            <a:r>
              <a:rPr lang="en-US" sz="1100" smtClean="0">
                <a:latin typeface="Arial Narrow" panose="020B0606020202030204" pitchFamily="34" charset="0"/>
                <a:ea typeface="LG Smart_H Regular" panose="020B0600000101010101" pitchFamily="34" charset="-127"/>
              </a:rPr>
              <a:t>10</a:t>
            </a:r>
            <a:r>
              <a:rPr lang="en-US" sz="1100" dirty="0" smtClean="0">
                <a:latin typeface="Arial Narrow" panose="020B0606020202030204" pitchFamily="34" charset="0"/>
                <a:ea typeface="LG Smart_H Regular" panose="020B0600000101010101" pitchFamily="34" charset="-127"/>
              </a:rPr>
              <a:t>% </a:t>
            </a:r>
            <a:r>
              <a:rPr lang="en-US" sz="1100" smtClean="0">
                <a:latin typeface="Arial Narrow" panose="020B0606020202030204" pitchFamily="34" charset="0"/>
                <a:ea typeface="LG Smart_H Regular" panose="020B0600000101010101" pitchFamily="34" charset="-127"/>
                <a:sym typeface="Wingdings" pitchFamily="2" charset="2"/>
              </a:rPr>
              <a:t> </a:t>
            </a:r>
            <a:r>
              <a:rPr lang="en-US" sz="1100" b="1">
                <a:solidFill>
                  <a:srgbClr val="006600"/>
                </a:solidFill>
                <a:latin typeface="Arial Narrow" panose="020B0606020202030204" pitchFamily="34" charset="0"/>
                <a:ea typeface="LG Smart_H Regular" panose="020B0600000101010101" pitchFamily="34" charset="-127"/>
                <a:sym typeface="Wingdings" pitchFamily="2" charset="2"/>
              </a:rPr>
              <a:t>OK</a:t>
            </a:r>
          </a:p>
          <a:p>
            <a:pPr>
              <a:lnSpc>
                <a:spcPct val="150000"/>
              </a:lnSpc>
            </a:pPr>
            <a:r>
              <a:rPr lang="en-US" sz="1100" smtClean="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sz="1100" dirty="0" smtClean="0">
                <a:solidFill>
                  <a:srgbClr val="006600"/>
                </a:solidFill>
                <a:latin typeface="Arial Narrow" panose="020B0606020202030204" pitchFamily="34" charset="0"/>
                <a:ea typeface="LG Smart_H Regular" panose="020B0600000101010101" pitchFamily="34" charset="-127"/>
                <a:sym typeface="Wingdings" pitchFamily="2" charset="2"/>
              </a:rPr>
              <a:t> Can use to check process variation.</a:t>
            </a:r>
          </a:p>
          <a:p>
            <a:pPr>
              <a:lnSpc>
                <a:spcPct val="150000"/>
              </a:lnSpc>
              <a:buFont typeface="Wingdings" pitchFamily="2" charset="2"/>
              <a:buChar char="§"/>
            </a:pPr>
            <a:r>
              <a:rPr lang="en-US" sz="1100" dirty="0" smtClean="0">
                <a:latin typeface="Arial Narrow" panose="020B0606020202030204" pitchFamily="34" charset="0"/>
                <a:ea typeface="LG Smart_H Regular" panose="020B0600000101010101" pitchFamily="34" charset="-127"/>
              </a:rPr>
              <a:t> </a:t>
            </a:r>
            <a:r>
              <a:rPr lang="en-US" sz="1100" smtClean="0">
                <a:latin typeface="Arial Narrow" panose="020B0606020202030204" pitchFamily="34" charset="0"/>
                <a:ea typeface="LG Smart_H Regular" panose="020B0600000101010101" pitchFamily="34" charset="-127"/>
              </a:rPr>
              <a:t>% Tolerance</a:t>
            </a:r>
            <a:r>
              <a:rPr lang="vi-VN" sz="1100" smtClean="0">
                <a:latin typeface="Arial Narrow" panose="020B0606020202030204" pitchFamily="34" charset="0"/>
                <a:ea typeface="LG Smart_H Regular" panose="020B0600000101010101" pitchFamily="34" charset="-127"/>
              </a:rPr>
              <a:t> </a:t>
            </a:r>
            <a:r>
              <a:rPr lang="en-US" sz="1100" smtClean="0">
                <a:latin typeface="Arial Narrow" panose="020B0606020202030204" pitchFamily="34" charset="0"/>
                <a:ea typeface="LG Smart_H Regular" panose="020B0600000101010101" pitchFamily="34" charset="-127"/>
              </a:rPr>
              <a:t>(SV </a:t>
            </a:r>
            <a:r>
              <a:rPr lang="vi-VN" sz="1100" smtClean="0">
                <a:latin typeface="Arial Narrow" panose="020B0606020202030204" pitchFamily="34" charset="0"/>
                <a:ea typeface="LG Smart_H Regular" panose="020B0600000101010101" pitchFamily="34" charset="-127"/>
              </a:rPr>
              <a:t>/ </a:t>
            </a:r>
            <a:r>
              <a:rPr lang="en-US" sz="1100" smtClean="0">
                <a:latin typeface="Arial Narrow" panose="020B0606020202030204" pitchFamily="34" charset="0"/>
                <a:ea typeface="LG Smart_H Regular" panose="020B0600000101010101" pitchFamily="34" charset="-127"/>
              </a:rPr>
              <a:t>Toler</a:t>
            </a:r>
            <a:r>
              <a:rPr lang="en-US" sz="1100" dirty="0" smtClean="0">
                <a:latin typeface="Arial Narrow" panose="020B0606020202030204" pitchFamily="34" charset="0"/>
                <a:ea typeface="LG Smart_H Regular" panose="020B0600000101010101" pitchFamily="34" charset="-127"/>
              </a:rPr>
              <a:t>) </a:t>
            </a:r>
            <a:r>
              <a:rPr lang="en-US" sz="1100" smtClean="0">
                <a:latin typeface="Arial Narrow" panose="020B0606020202030204" pitchFamily="34" charset="0"/>
                <a:ea typeface="LG Smart_H Regular" panose="020B0600000101010101" pitchFamily="34" charset="-127"/>
              </a:rPr>
              <a:t>: </a:t>
            </a:r>
            <a:r>
              <a:rPr lang="vi-VN" sz="1100" smtClean="0">
                <a:latin typeface="Arial Narrow" panose="020B0606020202030204" pitchFamily="34" charset="0"/>
                <a:ea typeface="LG Smart_H Regular" panose="020B0600000101010101" pitchFamily="34" charset="-127"/>
              </a:rPr>
              <a:t>8.84</a:t>
            </a:r>
            <a:r>
              <a:rPr lang="en-US" sz="1100" smtClean="0">
                <a:latin typeface="Arial Narrow" panose="020B0606020202030204" pitchFamily="34" charset="0"/>
                <a:ea typeface="LG Smart_H Regular" panose="020B0600000101010101" pitchFamily="34" charset="-127"/>
              </a:rPr>
              <a:t> % &lt;</a:t>
            </a:r>
            <a:r>
              <a:rPr lang="vi-VN" sz="1100" smtClean="0">
                <a:latin typeface="Arial Narrow" panose="020B0606020202030204" pitchFamily="34" charset="0"/>
                <a:ea typeface="LG Smart_H Regular" panose="020B0600000101010101" pitchFamily="34" charset="-127"/>
              </a:rPr>
              <a:t> </a:t>
            </a:r>
            <a:r>
              <a:rPr lang="en-US" sz="1100" smtClean="0">
                <a:latin typeface="Arial Narrow" panose="020B0606020202030204" pitchFamily="34" charset="0"/>
                <a:ea typeface="LG Smart_H Regular" panose="020B0600000101010101" pitchFamily="34" charset="-127"/>
              </a:rPr>
              <a:t>10% </a:t>
            </a:r>
            <a:r>
              <a:rPr lang="en-US" sz="1100">
                <a:latin typeface="Arial Narrow" panose="020B0606020202030204" pitchFamily="34" charset="0"/>
                <a:ea typeface="LG Smart_H Regular" panose="020B0600000101010101" pitchFamily="34" charset="-127"/>
                <a:sym typeface="Wingdings" pitchFamily="2" charset="2"/>
              </a:rPr>
              <a:t> </a:t>
            </a:r>
            <a:r>
              <a:rPr lang="en-US" sz="1100" b="1">
                <a:solidFill>
                  <a:srgbClr val="006600"/>
                </a:solidFill>
                <a:latin typeface="Arial Narrow" panose="020B0606020202030204" pitchFamily="34" charset="0"/>
                <a:ea typeface="LG Smart_H Regular" panose="020B0600000101010101" pitchFamily="34" charset="-127"/>
                <a:sym typeface="Wingdings" pitchFamily="2" charset="2"/>
              </a:rPr>
              <a:t>OK</a:t>
            </a:r>
          </a:p>
          <a:p>
            <a:pPr>
              <a:lnSpc>
                <a:spcPct val="150000"/>
              </a:lnSpc>
            </a:pPr>
            <a:r>
              <a:rPr lang="en-US" sz="1100" smtClean="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sz="1100" dirty="0" smtClean="0">
                <a:solidFill>
                  <a:srgbClr val="006600"/>
                </a:solidFill>
                <a:latin typeface="Arial Narrow" panose="020B0606020202030204" pitchFamily="34" charset="0"/>
                <a:ea typeface="LG Smart_H Regular" panose="020B0600000101010101" pitchFamily="34" charset="-127"/>
                <a:sym typeface="Wingdings" pitchFamily="2" charset="2"/>
              </a:rPr>
              <a:t> Can use to judge OK/NG</a:t>
            </a:r>
          </a:p>
          <a:p>
            <a:pPr>
              <a:lnSpc>
                <a:spcPct val="150000"/>
              </a:lnSpc>
              <a:buFont typeface="Wingdings" pitchFamily="2" charset="2"/>
              <a:buChar char="§"/>
            </a:pPr>
            <a:r>
              <a:rPr lang="en-US" sz="1100" dirty="0" smtClean="0">
                <a:latin typeface="Arial Narrow" panose="020B0606020202030204" pitchFamily="34" charset="0"/>
                <a:ea typeface="LG Smart_H Regular" panose="020B0600000101010101" pitchFamily="34" charset="-127"/>
                <a:sym typeface="Wingdings" pitchFamily="2" charset="2"/>
              </a:rPr>
              <a:t> </a:t>
            </a:r>
            <a:r>
              <a:rPr lang="en-US" sz="1100" smtClean="0">
                <a:latin typeface="Arial Narrow" panose="020B0606020202030204" pitchFamily="34" charset="0"/>
                <a:ea typeface="LG Smart_H Regular" panose="020B0600000101010101" pitchFamily="34" charset="-127"/>
                <a:sym typeface="Wingdings" pitchFamily="2" charset="2"/>
              </a:rPr>
              <a:t>NDC:</a:t>
            </a:r>
            <a:r>
              <a:rPr lang="vi-VN" sz="1100" smtClean="0">
                <a:latin typeface="Arial Narrow" panose="020B0606020202030204" pitchFamily="34" charset="0"/>
                <a:ea typeface="LG Smart_H Regular" panose="020B0600000101010101" pitchFamily="34" charset="-127"/>
                <a:sym typeface="Wingdings" pitchFamily="2" charset="2"/>
              </a:rPr>
              <a:t> 22</a:t>
            </a:r>
            <a:r>
              <a:rPr lang="en-US" sz="1100" smtClean="0">
                <a:latin typeface="Arial Narrow" panose="020B0606020202030204" pitchFamily="34" charset="0"/>
                <a:ea typeface="LG Smart_H Regular" panose="020B0600000101010101" pitchFamily="34" charset="-127"/>
                <a:sym typeface="Wingdings" pitchFamily="2" charset="2"/>
              </a:rPr>
              <a:t> &gt;</a:t>
            </a:r>
            <a:r>
              <a:rPr lang="vi-VN" sz="1100" smtClean="0">
                <a:latin typeface="Arial Narrow" panose="020B0606020202030204" pitchFamily="34" charset="0"/>
                <a:ea typeface="LG Smart_H Regular" panose="020B0600000101010101" pitchFamily="34" charset="-127"/>
                <a:sym typeface="Wingdings" pitchFamily="2" charset="2"/>
              </a:rPr>
              <a:t> </a:t>
            </a:r>
            <a:r>
              <a:rPr lang="en-US" sz="1100" smtClean="0">
                <a:latin typeface="Arial Narrow" panose="020B0606020202030204" pitchFamily="34" charset="0"/>
                <a:ea typeface="LG Smart_H Regular" panose="020B0600000101010101" pitchFamily="34" charset="-127"/>
                <a:sym typeface="Wingdings" pitchFamily="2" charset="2"/>
              </a:rPr>
              <a:t>5 </a:t>
            </a:r>
            <a:r>
              <a:rPr lang="en-US" sz="1100">
                <a:latin typeface="Arial Narrow" panose="020B0606020202030204" pitchFamily="34" charset="0"/>
                <a:ea typeface="LG Smart_H Regular" panose="020B0600000101010101" pitchFamily="34" charset="-127"/>
                <a:sym typeface="Wingdings" pitchFamily="2" charset="2"/>
              </a:rPr>
              <a:t></a:t>
            </a:r>
            <a:r>
              <a:rPr lang="en-US" sz="1100" smtClean="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sz="1100" dirty="0" smtClean="0">
                <a:solidFill>
                  <a:srgbClr val="006600"/>
                </a:solidFill>
                <a:latin typeface="Arial Narrow" panose="020B0606020202030204" pitchFamily="34" charset="0"/>
                <a:ea typeface="LG Smart_H Regular" panose="020B0600000101010101" pitchFamily="34" charset="-127"/>
                <a:sym typeface="Wingdings" pitchFamily="2" charset="2"/>
              </a:rPr>
              <a:t>OK</a:t>
            </a:r>
          </a:p>
          <a:p>
            <a:pPr>
              <a:lnSpc>
                <a:spcPct val="150000"/>
              </a:lnSpc>
            </a:pPr>
            <a:endParaRPr lang="en-US" sz="1100" b="1" dirty="0" smtClean="0">
              <a:latin typeface="Arial Narrow" panose="020B0606020202030204" pitchFamily="34" charset="0"/>
              <a:ea typeface="LG Smart_H Regular" panose="020B0600000101010101" pitchFamily="34" charset="-127"/>
              <a:sym typeface="Wingdings" pitchFamily="2" charset="2"/>
            </a:endParaRPr>
          </a:p>
        </p:txBody>
      </p:sp>
      <p:graphicFrame>
        <p:nvGraphicFramePr>
          <p:cNvPr id="21" name="Table 20"/>
          <p:cNvGraphicFramePr>
            <a:graphicFrameLocks noGrp="1"/>
          </p:cNvGraphicFramePr>
          <p:nvPr>
            <p:extLst>
              <p:ext uri="{D42A27DB-BD31-4B8C-83A1-F6EECF244321}">
                <p14:modId xmlns:p14="http://schemas.microsoft.com/office/powerpoint/2010/main" val="4224165718"/>
              </p:ext>
            </p:extLst>
          </p:nvPr>
        </p:nvGraphicFramePr>
        <p:xfrm>
          <a:off x="88640" y="1272972"/>
          <a:ext cx="4796160" cy="2059260"/>
        </p:xfrm>
        <a:graphic>
          <a:graphicData uri="http://schemas.openxmlformats.org/drawingml/2006/table">
            <a:tbl>
              <a:tblPr/>
              <a:tblGrid>
                <a:gridCol w="479616"/>
                <a:gridCol w="479616"/>
                <a:gridCol w="479616"/>
                <a:gridCol w="479616"/>
                <a:gridCol w="479616"/>
                <a:gridCol w="479616"/>
                <a:gridCol w="479616"/>
                <a:gridCol w="479616"/>
                <a:gridCol w="479616"/>
                <a:gridCol w="479616"/>
              </a:tblGrid>
              <a:tr h="171605">
                <a:tc>
                  <a:txBody>
                    <a:bodyPr/>
                    <a:lstStyle/>
                    <a:p>
                      <a:pPr algn="ctr" rtl="0" fontAlgn="ctr"/>
                      <a:endParaRPr lang="en-US" sz="900" b="1" i="0" u="none" strike="noStrike">
                        <a:solidFill>
                          <a:srgbClr val="000000"/>
                        </a:solidFill>
                        <a:effectLst/>
                        <a:latin typeface="Arial Narrow" panose="020B0606020202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gridSpan="3">
                  <a:txBody>
                    <a:bodyPr/>
                    <a:lstStyle/>
                    <a:p>
                      <a:pPr algn="ctr" rtl="0" fontAlgn="ctr"/>
                      <a:r>
                        <a:rPr lang="vi-VN" sz="900" b="1" i="0" u="none" strike="noStrike" smtClean="0">
                          <a:solidFill>
                            <a:srgbClr val="000000"/>
                          </a:solidFill>
                          <a:effectLst/>
                          <a:latin typeface="Arial Narrow" panose="020B0606020202030204" pitchFamily="34" charset="0"/>
                        </a:rPr>
                        <a:t>Bang</a:t>
                      </a:r>
                      <a:endParaRPr lang="en-US" sz="900" b="1" i="0" u="none" strike="noStrike">
                        <a:solidFill>
                          <a:srgbClr val="000000"/>
                        </a:solidFill>
                        <a:effectLst/>
                        <a:latin typeface="Arial Narrow" panose="020B0606020202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gridSpan="3">
                  <a:txBody>
                    <a:bodyPr/>
                    <a:lstStyle/>
                    <a:p>
                      <a:pPr algn="ctr" rtl="0" fontAlgn="ctr"/>
                      <a:r>
                        <a:rPr lang="vi-VN" sz="900" b="1" i="0" u="none" strike="noStrike" smtClean="0">
                          <a:solidFill>
                            <a:srgbClr val="000000"/>
                          </a:solidFill>
                          <a:effectLst/>
                          <a:latin typeface="Arial Narrow" panose="020B0606020202030204" pitchFamily="34" charset="0"/>
                        </a:rPr>
                        <a:t>Hoang</a:t>
                      </a:r>
                      <a:endParaRPr lang="en-US" sz="900" b="1" i="0" u="none" strike="noStrike">
                        <a:solidFill>
                          <a:srgbClr val="000000"/>
                        </a:solidFill>
                        <a:effectLst/>
                        <a:latin typeface="Arial Narrow" panose="020B0606020202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gridSpan="3">
                  <a:txBody>
                    <a:bodyPr/>
                    <a:lstStyle/>
                    <a:p>
                      <a:pPr algn="ctr" rtl="0" fontAlgn="ctr"/>
                      <a:r>
                        <a:rPr lang="vi-VN" sz="900" b="1" i="0" u="none" strike="noStrike" smtClean="0">
                          <a:solidFill>
                            <a:srgbClr val="000000"/>
                          </a:solidFill>
                          <a:effectLst/>
                          <a:latin typeface="Arial Narrow" panose="020B0606020202030204" pitchFamily="34" charset="0"/>
                        </a:rPr>
                        <a:t>Long</a:t>
                      </a:r>
                      <a:endParaRPr lang="en-US" sz="900" b="1" i="0" u="none" strike="noStrike">
                        <a:solidFill>
                          <a:srgbClr val="000000"/>
                        </a:solidFill>
                        <a:effectLst/>
                        <a:latin typeface="Arial Narrow" panose="020B0606020202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r>
              <a:tr h="171605">
                <a:tc>
                  <a:txBody>
                    <a:bodyPr/>
                    <a:lstStyle/>
                    <a:p>
                      <a:pPr algn="ctr" rtl="0" fontAlgn="ctr"/>
                      <a:endParaRPr lang="en-US" sz="900" b="1" i="0" u="none" strike="noStrike">
                        <a:solidFill>
                          <a:srgbClr val="000000"/>
                        </a:solidFill>
                        <a:effectLst/>
                        <a:latin typeface="Arial Narrow" panose="020B0606020202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1</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2</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3</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4</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5</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6</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7</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8</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9</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605">
                <a:tc>
                  <a:txBody>
                    <a:bodyPr/>
                    <a:lstStyle/>
                    <a:p>
                      <a:pPr algn="ctr" fontAlgn="ctr"/>
                      <a:r>
                        <a:rPr lang="vi-VN" sz="1000" b="0" i="0" u="none" strike="noStrike" smtClean="0">
                          <a:solidFill>
                            <a:schemeClr val="tx1"/>
                          </a:solidFill>
                          <a:effectLst/>
                          <a:latin typeface="Arial Narrow" panose="020B0606020202030204" pitchFamily="34" charset="0"/>
                        </a:rPr>
                        <a:t>10</a:t>
                      </a:r>
                      <a:endParaRPr lang="en-US" sz="1000" b="0" i="0" u="none" strike="noStrike">
                        <a:solidFill>
                          <a:schemeClr val="tx1"/>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297.84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6" name="Rectangle 15"/>
          <p:cNvSpPr/>
          <p:nvPr/>
        </p:nvSpPr>
        <p:spPr bwMode="auto">
          <a:xfrm>
            <a:off x="77692" y="6510195"/>
            <a:ext cx="2245095" cy="244151"/>
          </a:xfrm>
          <a:prstGeom prst="rect">
            <a:avLst/>
          </a:prstGeom>
          <a:no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smtClean="0">
              <a:ln>
                <a:noFill/>
              </a:ln>
              <a:solidFill>
                <a:schemeClr val="tx1"/>
              </a:solidFill>
              <a:effectLst/>
              <a:latin typeface="Arial" charset="0"/>
              <a:ea typeface="돋움" pitchFamily="50" charset="-127"/>
            </a:endParaRPr>
          </a:p>
        </p:txBody>
      </p:sp>
      <p:sp>
        <p:nvSpPr>
          <p:cNvPr id="17" name="Rectangle 16"/>
          <p:cNvSpPr/>
          <p:nvPr/>
        </p:nvSpPr>
        <p:spPr bwMode="auto">
          <a:xfrm>
            <a:off x="2209800" y="5105400"/>
            <a:ext cx="1339728" cy="533400"/>
          </a:xfrm>
          <a:prstGeom prst="rect">
            <a:avLst/>
          </a:prstGeom>
          <a:no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smtClean="0">
              <a:ln>
                <a:noFill/>
              </a:ln>
              <a:solidFill>
                <a:schemeClr val="tx1"/>
              </a:solidFill>
              <a:effectLst/>
              <a:latin typeface="Arial" charset="0"/>
              <a:ea typeface="돋움" pitchFamily="50" charset="-127"/>
            </a:endParaRPr>
          </a:p>
        </p:txBody>
      </p:sp>
      <p:pic>
        <p:nvPicPr>
          <p:cNvPr id="7" name="Picture 6"/>
          <p:cNvPicPr>
            <a:picLocks noChangeAspect="1"/>
          </p:cNvPicPr>
          <p:nvPr/>
        </p:nvPicPr>
        <p:blipFill rotWithShape="1">
          <a:blip r:embed="rId10"/>
          <a:srcRect t="13333" b="4424"/>
          <a:stretch/>
        </p:blipFill>
        <p:spPr>
          <a:xfrm>
            <a:off x="102206" y="3478703"/>
            <a:ext cx="2107594" cy="1384093"/>
          </a:xfrm>
          <a:prstGeom prst="rect">
            <a:avLst/>
          </a:prstGeom>
        </p:spPr>
      </p:pic>
      <p:pic>
        <p:nvPicPr>
          <p:cNvPr id="4" name="Picture 3"/>
          <p:cNvPicPr>
            <a:picLocks noChangeAspect="1"/>
          </p:cNvPicPr>
          <p:nvPr/>
        </p:nvPicPr>
        <p:blipFill>
          <a:blip r:embed="rId11"/>
          <a:stretch>
            <a:fillRect/>
          </a:stretch>
        </p:blipFill>
        <p:spPr>
          <a:xfrm>
            <a:off x="5209702" y="625218"/>
            <a:ext cx="4467699" cy="2117983"/>
          </a:xfrm>
          <a:prstGeom prst="rect">
            <a:avLst/>
          </a:prstGeom>
        </p:spPr>
      </p:pic>
      <p:pic>
        <p:nvPicPr>
          <p:cNvPr id="8" name="Picture 7"/>
          <p:cNvPicPr>
            <a:picLocks noChangeAspect="1"/>
          </p:cNvPicPr>
          <p:nvPr/>
        </p:nvPicPr>
        <p:blipFill>
          <a:blip r:embed="rId12"/>
          <a:stretch>
            <a:fillRect/>
          </a:stretch>
        </p:blipFill>
        <p:spPr>
          <a:xfrm>
            <a:off x="5209702" y="2743201"/>
            <a:ext cx="4467699" cy="2362199"/>
          </a:xfrm>
          <a:prstGeom prst="rect">
            <a:avLst/>
          </a:prstGeom>
        </p:spPr>
      </p:pic>
    </p:spTree>
    <p:extLst>
      <p:ext uri="{BB962C8B-B14F-4D97-AF65-F5344CB8AC3E}">
        <p14:creationId xmlns:p14="http://schemas.microsoft.com/office/powerpoint/2010/main" val="22261002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068945" y="1447800"/>
            <a:ext cx="5486400" cy="3657600"/>
          </a:xfrm>
          <a:prstGeom prst="rect">
            <a:avLst/>
          </a:prstGeom>
        </p:spPr>
      </p:pic>
      <p:sp>
        <p:nvSpPr>
          <p:cNvPr id="2" name="제목 1"/>
          <p:cNvSpPr>
            <a:spLocks noGrp="1"/>
          </p:cNvSpPr>
          <p:nvPr>
            <p:ph type="title"/>
          </p:nvPr>
        </p:nvSpPr>
        <p:spPr>
          <a:xfrm>
            <a:off x="56456" y="116632"/>
            <a:ext cx="8915400" cy="418058"/>
          </a:xfrm>
        </p:spPr>
        <p:txBody>
          <a:bodyPr>
            <a:normAutofit/>
          </a:bodyPr>
          <a:lstStyle/>
          <a:p>
            <a:r>
              <a:rPr lang="vi-VN" altLang="ko-KR" sz="1800" smtClean="0">
                <a:latin typeface="LG Smart_H Regular" panose="020B0600000101010101" pitchFamily="34" charset="-127"/>
                <a:ea typeface="LG Smart_H Regular" panose="020B0600000101010101" pitchFamily="34" charset="-127"/>
              </a:rPr>
              <a:t>% Resolution &amp; Type 1 study</a:t>
            </a:r>
            <a:endParaRPr lang="ko-KR" altLang="en-US" sz="1800" dirty="0">
              <a:latin typeface="LG Smart_H Regular" panose="020B0600000101010101" pitchFamily="34" charset="-127"/>
              <a:ea typeface="LG Smart_H Regular" panose="020B0600000101010101" pitchFamily="34" charset="-127"/>
            </a:endParaRPr>
          </a:p>
        </p:txBody>
      </p:sp>
      <p:graphicFrame>
        <p:nvGraphicFramePr>
          <p:cNvPr id="11" name="Diagram 10"/>
          <p:cNvGraphicFramePr/>
          <p:nvPr>
            <p:extLst>
              <p:ext uri="{D42A27DB-BD31-4B8C-83A1-F6EECF244321}">
                <p14:modId xmlns:p14="http://schemas.microsoft.com/office/powerpoint/2010/main" val="117888999"/>
              </p:ext>
            </p:extLst>
          </p:nvPr>
        </p:nvGraphicFramePr>
        <p:xfrm>
          <a:off x="5889103" y="-36714"/>
          <a:ext cx="3734291" cy="6171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31290135"/>
              </p:ext>
            </p:extLst>
          </p:nvPr>
        </p:nvGraphicFramePr>
        <p:xfrm>
          <a:off x="76200" y="1447800"/>
          <a:ext cx="1828800" cy="5118514"/>
        </p:xfrm>
        <a:graphic>
          <a:graphicData uri="http://schemas.openxmlformats.org/drawingml/2006/table">
            <a:tbl>
              <a:tblPr>
                <a:tableStyleId>{5C22544A-7EE6-4342-B048-85BDC9FD1C3A}</a:tableStyleId>
              </a:tblPr>
              <a:tblGrid>
                <a:gridCol w="914400"/>
                <a:gridCol w="914400"/>
              </a:tblGrid>
              <a:tr h="155448">
                <a:tc>
                  <a:txBody>
                    <a:bodyPr/>
                    <a:lstStyle/>
                    <a:p>
                      <a:pPr algn="ctr" fontAlgn="b"/>
                      <a:r>
                        <a:rPr lang="en-US" sz="900" b="1" i="0" u="none" strike="noStrike" smtClean="0">
                          <a:solidFill>
                            <a:srgbClr val="000000"/>
                          </a:solidFill>
                          <a:effectLst/>
                          <a:latin typeface="Arial Narrow" panose="020B0606020202030204" pitchFamily="34" charset="0"/>
                          <a:cs typeface="Arial" panose="020B0604020202020204" pitchFamily="34" charset="0"/>
                        </a:rPr>
                        <a:t>Reference</a:t>
                      </a:r>
                      <a:r>
                        <a:rPr lang="en-US" sz="900" b="1" i="0" u="none" strike="noStrike" baseline="0" smtClean="0">
                          <a:solidFill>
                            <a:srgbClr val="000000"/>
                          </a:solidFill>
                          <a:effectLst/>
                          <a:latin typeface="Arial Narrow" panose="020B0606020202030204" pitchFamily="34" charset="0"/>
                          <a:cs typeface="Arial" panose="020B0604020202020204" pitchFamily="34" charset="0"/>
                        </a:rPr>
                        <a:t> Value</a:t>
                      </a:r>
                      <a:endParaRPr lang="en-US" sz="900" b="1" i="0" u="none" strike="noStrike">
                        <a:solidFill>
                          <a:srgbClr val="000000"/>
                        </a:solidFill>
                        <a:effectLst/>
                        <a:latin typeface="Arial Narrow" panose="020B0606020202030204" pitchFamily="34" charset="0"/>
                        <a:cs typeface="Arial" panose="020B0604020202020204" pitchFamily="34" charset="0"/>
                      </a:endParaRPr>
                    </a:p>
                  </a:txBody>
                  <a:tcPr marL="7018" marR="7018" marT="7018"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vi-VN" sz="900" b="0" i="0" u="none" strike="noStrike" smtClean="0">
                          <a:solidFill>
                            <a:srgbClr val="000000"/>
                          </a:solidFill>
                          <a:effectLst/>
                          <a:latin typeface="Arial Narrow" panose="020B0606020202030204" pitchFamily="34" charset="0"/>
                          <a:cs typeface="Arial" panose="020B0604020202020204" pitchFamily="34" charset="0"/>
                        </a:rPr>
                        <a:t>297.733</a:t>
                      </a:r>
                      <a:endParaRPr lang="en-US" sz="900" b="0" i="0" u="none" strike="noStrike">
                        <a:solidFill>
                          <a:srgbClr val="000000"/>
                        </a:solidFill>
                        <a:effectLst/>
                        <a:latin typeface="Arial Narrow" panose="020B0606020202030204" pitchFamily="34" charset="0"/>
                        <a:cs typeface="Arial" panose="020B0604020202020204" pitchFamily="34" charset="0"/>
                      </a:endParaRPr>
                    </a:p>
                  </a:txBody>
                  <a:tcPr marL="7018" marR="7018" marT="7018"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0">
                <a:tc>
                  <a:txBody>
                    <a:bodyPr/>
                    <a:lstStyle/>
                    <a:p>
                      <a:pPr algn="ctr" fontAlgn="b"/>
                      <a:r>
                        <a:rPr lang="vi-VN" sz="900" b="1" i="0" u="none" strike="noStrike" smtClean="0">
                          <a:solidFill>
                            <a:srgbClr val="000000"/>
                          </a:solidFill>
                          <a:effectLst/>
                          <a:latin typeface="Arial Narrow" panose="020B0606020202030204" pitchFamily="34" charset="0"/>
                          <a:cs typeface="Arial" panose="020B0604020202020204" pitchFamily="34" charset="0"/>
                        </a:rPr>
                        <a:t>Operator</a:t>
                      </a:r>
                      <a:endParaRPr lang="en-US" sz="900" b="1" i="0" u="none" strike="noStrike">
                        <a:solidFill>
                          <a:srgbClr val="000000"/>
                        </a:solidFill>
                        <a:effectLst/>
                        <a:latin typeface="Arial Narrow" panose="020B0606020202030204" pitchFamily="34" charset="0"/>
                        <a:cs typeface="Arial" panose="020B0604020202020204" pitchFamily="34" charset="0"/>
                      </a:endParaRPr>
                    </a:p>
                  </a:txBody>
                  <a:tcPr marL="7018" marR="7018" marT="7018"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900" b="0" i="0" u="none" strike="noStrike" smtClean="0">
                          <a:solidFill>
                            <a:srgbClr val="000000"/>
                          </a:solidFill>
                          <a:effectLst/>
                          <a:latin typeface="Arial Narrow" panose="020B0606020202030204" pitchFamily="34" charset="0"/>
                          <a:cs typeface="Arial" panose="020B0604020202020204" pitchFamily="34" charset="0"/>
                        </a:rPr>
                        <a:t>Long</a:t>
                      </a:r>
                      <a:endParaRPr lang="en-US" sz="900" b="0" i="0" u="none" strike="noStrike">
                        <a:solidFill>
                          <a:srgbClr val="000000"/>
                        </a:solidFill>
                        <a:effectLst/>
                        <a:latin typeface="Arial Narrow" panose="020B0606020202030204" pitchFamily="34" charset="0"/>
                        <a:cs typeface="Arial" panose="020B0604020202020204" pitchFamily="34" charset="0"/>
                      </a:endParaRPr>
                    </a:p>
                  </a:txBody>
                  <a:tcPr marL="7018" marR="7018" marT="7018"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b"/>
                      <a:r>
                        <a:rPr lang="en-US" sz="900" b="1" i="0" u="none" strike="noStrike">
                          <a:solidFill>
                            <a:srgbClr val="000000"/>
                          </a:solidFill>
                          <a:effectLst/>
                          <a:latin typeface="Arial Narrow" panose="020B0606020202030204" pitchFamily="34" charset="0"/>
                        </a:rPr>
                        <a:t>Time</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fontAlgn="b"/>
                      <a:r>
                        <a:rPr lang="en-US" sz="900" b="1" i="0" u="none" strike="noStrike">
                          <a:solidFill>
                            <a:srgbClr val="000000"/>
                          </a:solidFill>
                          <a:effectLst/>
                          <a:latin typeface="Arial Narrow" panose="020B0606020202030204" pitchFamily="34" charset="0"/>
                        </a:rPr>
                        <a:t>Data</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75000"/>
                      </a:schemeClr>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297.72</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297.72</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19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29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297.73</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r h="155448">
                <a:tc>
                  <a:txBody>
                    <a:bodyPr/>
                    <a:lstStyle/>
                    <a:p>
                      <a:pPr algn="ctr" rtl="0" fontAlgn="ctr"/>
                      <a:r>
                        <a:rPr lang="en-US" sz="900" b="0" i="0" u="none" strike="noStrike">
                          <a:solidFill>
                            <a:srgbClr val="000000"/>
                          </a:solidFill>
                          <a:effectLst/>
                          <a:latin typeface="Arial Narrow" panose="020B0606020202030204" pitchFamily="34" charset="0"/>
                        </a:rPr>
                        <a:t>30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sz="900" b="0" i="0" u="none" strike="noStrike">
                          <a:solidFill>
                            <a:srgbClr val="000000"/>
                          </a:solidFill>
                          <a:effectLst/>
                          <a:latin typeface="Arial Narrow" panose="020B0606020202030204" pitchFamily="34" charset="0"/>
                        </a:rPr>
                        <a:t>297.74</a:t>
                      </a:r>
                    </a:p>
                  </a:txBody>
                  <a:tcPr marL="9525" marR="9525" marT="9525"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241894401"/>
              </p:ext>
            </p:extLst>
          </p:nvPr>
        </p:nvGraphicFramePr>
        <p:xfrm>
          <a:off x="76200" y="630659"/>
          <a:ext cx="4796166" cy="685800"/>
        </p:xfrm>
        <a:graphic>
          <a:graphicData uri="http://schemas.openxmlformats.org/drawingml/2006/table">
            <a:tbl>
              <a:tblPr/>
              <a:tblGrid>
                <a:gridCol w="707492"/>
                <a:gridCol w="1116911"/>
                <a:gridCol w="672710"/>
                <a:gridCol w="1279919"/>
                <a:gridCol w="482891"/>
                <a:gridCol w="536243"/>
              </a:tblGrid>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smtClean="0">
                          <a:effectLst/>
                          <a:latin typeface="Arial Narrow" panose="020B0606020202030204" pitchFamily="34" charset="0"/>
                          <a:ea typeface="LG Smart_H Regular" panose="020B0600000101010101" pitchFamily="34" charset="-127"/>
                        </a:rPr>
                        <a:t>18.Oct</a:t>
                      </a:r>
                      <a:r>
                        <a:rPr lang="vi-VN" sz="900" b="0" i="0" u="none" strike="noStrike" smtClean="0">
                          <a:effectLst/>
                          <a:latin typeface="Arial Narrow" panose="020B0606020202030204" pitchFamily="34" charset="0"/>
                          <a:ea typeface="LG Smart_H Regular" panose="020B0600000101010101" pitchFamily="34" charset="-127"/>
                        </a:rPr>
                        <a:t>.2024</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smtClean="0">
                          <a:effectLst/>
                          <a:latin typeface="Arial Narrow" panose="020B0606020202030204" pitchFamily="34" charset="0"/>
                          <a:ea typeface="LG Smart_H Regular" panose="020B0600000101010101" pitchFamily="34" charset="-127"/>
                        </a:rPr>
                        <a:t>Ruler</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Vernier Caliper 600 mm</a:t>
                      </a:r>
                      <a:endParaRPr lang="en-US" sz="900" b="0" i="0" u="none" strike="noStrike" dirty="0" smtClean="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Target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297.73</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r h="228600">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Part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vi-VN" altLang="ko-KR" sz="900" smtClean="0">
                          <a:latin typeface="Arial Narrow" panose="020B0606020202030204" pitchFamily="34" charset="0"/>
                          <a:ea typeface="LG Smart_H Regular" panose="020B0600000101010101" pitchFamily="34" charset="-127"/>
                        </a:rPr>
                        <a:t>ABA30132601</a:t>
                      </a:r>
                      <a:endParaRPr lang="en-US" altLang="ko-KR" sz="900" dirty="0" smtClean="0">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smtClean="0">
                          <a:effectLst/>
                          <a:latin typeface="Arial Narrow" panose="020B0606020202030204" pitchFamily="34" charset="0"/>
                          <a:ea typeface="LG Smart_H Regular" panose="020B0600000101010101" pitchFamily="34" charset="-127"/>
                        </a:rPr>
                        <a:t>ID</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solidFill>
                            <a:schemeClr val="tx1"/>
                          </a:solidFill>
                          <a:effectLst/>
                          <a:latin typeface="Arial Narrow" panose="020B0606020202030204" pitchFamily="34" charset="0"/>
                          <a:ea typeface="LG Smart_H Regular" panose="020B0600000101010101" pitchFamily="34" charset="-127"/>
                        </a:rPr>
                        <a:t>IVI-SQA-C44</a:t>
                      </a:r>
                      <a:endParaRPr lang="en-US" sz="900" b="0" i="0" u="none" strike="noStrike" dirty="0">
                        <a:solidFill>
                          <a:schemeClr val="tx1"/>
                        </a:solidFill>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vi-VN" sz="900" b="1" i="0" u="none" strike="noStrike" smtClean="0">
                          <a:effectLst/>
                          <a:latin typeface="Arial Narrow" panose="020B0606020202030204" pitchFamily="34" charset="0"/>
                          <a:ea typeface="LG Smart_H Regular" panose="020B0600000101010101" pitchFamily="34" charset="-127"/>
                        </a:rPr>
                        <a:t>+TOL</a:t>
                      </a:r>
                      <a:endParaRPr lang="en-US" sz="900" b="1"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+0.2</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r h="228600">
                <a:tc>
                  <a:txBody>
                    <a:bodyPr/>
                    <a:lstStyle/>
                    <a:p>
                      <a:pPr algn="l" fontAlgn="ctr"/>
                      <a:r>
                        <a:rPr lang="en-US" sz="900" b="1" i="0" u="none" strike="noStrike" dirty="0" smtClean="0">
                          <a:effectLst/>
                          <a:latin typeface="Arial Narrow" panose="020B0606020202030204" pitchFamily="34" charset="0"/>
                          <a:ea typeface="LG Smart_H Regular" panose="020B0600000101010101" pitchFamily="34" charset="-127"/>
                        </a:rPr>
                        <a:t>Part </a:t>
                      </a:r>
                      <a:r>
                        <a:rPr lang="en-US" sz="900" b="1" i="0" u="none" strike="noStrike" dirty="0">
                          <a:effectLst/>
                          <a:latin typeface="Arial Narrow" panose="020B0606020202030204" pitchFamily="34" charset="0"/>
                          <a:ea typeface="LG Smart_H Regular" panose="020B0600000101010101" pitchFamily="34" charset="-127"/>
                        </a:rPr>
                        <a:t>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smtClean="0">
                          <a:latin typeface="Arial Narrow" panose="020B0606020202030204" pitchFamily="34" charset="0"/>
                        </a:rPr>
                        <a:t>Bracket Mid Assy</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900" b="1" i="0" u="none" strike="noStrike" dirty="0">
                          <a:effectLst/>
                          <a:latin typeface="Arial Narrow" panose="020B0606020202030204" pitchFamily="34" charset="0"/>
                          <a:ea typeface="LG Smart_H Regular" panose="020B0600000101010101" pitchFamily="34" charset="-127"/>
                        </a:rPr>
                        <a:t>Resolution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900" b="0" i="0" u="none" strike="noStrike" smtClean="0">
                          <a:effectLst/>
                          <a:latin typeface="Arial Narrow" panose="020B0606020202030204" pitchFamily="34" charset="0"/>
                          <a:ea typeface="LG Smart_H Regular" panose="020B0600000101010101" pitchFamily="34" charset="-127"/>
                        </a:rPr>
                        <a:t>0.01mm</a:t>
                      </a:r>
                      <a:endParaRPr lang="en-US" sz="900" b="0" i="0" u="none" strike="noStrike" dirty="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vi-VN" sz="900" b="1" i="0" u="none" strike="noStrike" smtClean="0">
                          <a:effectLst/>
                          <a:latin typeface="Arial Narrow" panose="020B0606020202030204" pitchFamily="34" charset="0"/>
                          <a:ea typeface="LG Smart_H Regular" panose="020B0600000101010101" pitchFamily="34" charset="-127"/>
                        </a:rPr>
                        <a:t>-TOL</a:t>
                      </a:r>
                      <a:endParaRPr lang="en-US" sz="900" b="1" i="0" u="none" strike="noStrike" smtClean="0">
                        <a:effectLst/>
                        <a:latin typeface="Arial Narrow" panose="020B0606020202030204" pitchFamily="34" charset="0"/>
                        <a:ea typeface="LG Smart_H Regular" panose="020B0600000101010101" pitchFamily="34"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vi-VN" sz="900" b="0" smtClean="0">
                          <a:latin typeface="Arial Narrow" panose="020B0606020202030204" pitchFamily="34" charset="0"/>
                        </a:rPr>
                        <a:t>-0.2</a:t>
                      </a:r>
                      <a:endParaRPr lang="en-US" sz="900" b="0">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542359962"/>
              </p:ext>
            </p:extLst>
          </p:nvPr>
        </p:nvGraphicFramePr>
        <p:xfrm>
          <a:off x="4953000" y="630659"/>
          <a:ext cx="4876801" cy="685800"/>
        </p:xfrm>
        <a:graphic>
          <a:graphicData uri="http://schemas.openxmlformats.org/drawingml/2006/table">
            <a:tbl>
              <a:tblPr firstRow="1" bandRow="1">
                <a:tableStyleId>{5C22544A-7EE6-4342-B048-85BDC9FD1C3A}</a:tableStyleId>
              </a:tblPr>
              <a:tblGrid>
                <a:gridCol w="1917842"/>
                <a:gridCol w="1282558"/>
                <a:gridCol w="1676401"/>
              </a:tblGrid>
              <a:tr h="182880">
                <a:tc>
                  <a:txBody>
                    <a:bodyPr/>
                    <a:lstStyle/>
                    <a:p>
                      <a:r>
                        <a:rPr lang="vi-VN" sz="900" smtClean="0">
                          <a:solidFill>
                            <a:schemeClr val="tx1"/>
                          </a:solidFill>
                          <a:latin typeface="Arial Narrow" panose="020B0606020202030204" pitchFamily="34" charset="0"/>
                        </a:rPr>
                        <a:t>Instrument Resolution</a:t>
                      </a:r>
                      <a:endParaRPr lang="en-US" sz="90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90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b="0" smtClean="0">
                          <a:solidFill>
                            <a:schemeClr val="tx1"/>
                          </a:solidFill>
                          <a:latin typeface="Arial Narrow" panose="020B0606020202030204" pitchFamily="34" charset="0"/>
                        </a:rPr>
                        <a:t>0.01</a:t>
                      </a:r>
                      <a:endParaRPr lang="en-US" sz="900" b="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182880">
                <a:tc>
                  <a:txBody>
                    <a:bodyPr/>
                    <a:lstStyle/>
                    <a:p>
                      <a:r>
                        <a:rPr lang="en-US" altLang="ko-KR" sz="900" b="1" smtClean="0">
                          <a:latin typeface="Arial Narrow" panose="020B0606020202030204" pitchFamily="34" charset="0"/>
                        </a:rPr>
                        <a:t>Tolerance</a:t>
                      </a:r>
                      <a:r>
                        <a:rPr lang="ko-KR" altLang="en-US" sz="900" b="1" smtClean="0">
                          <a:latin typeface="Arial Narrow" panose="020B0606020202030204" pitchFamily="34" charset="0"/>
                        </a:rPr>
                        <a:t>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vi-VN" sz="900" smtClean="0">
                          <a:latin typeface="Arial Narrow" panose="020B0606020202030204" pitchFamily="34" charset="0"/>
                        </a:rPr>
                        <a:t>T = USL - LSL</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smtClean="0">
                          <a:latin typeface="Arial Narrow" panose="020B0606020202030204" pitchFamily="34" charset="0"/>
                        </a:rPr>
                        <a:t>0.4</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r>
              <a:tr h="182880">
                <a:tc>
                  <a:txBody>
                    <a:bodyPr/>
                    <a:lstStyle/>
                    <a:p>
                      <a:r>
                        <a:rPr lang="en-US" altLang="ko-KR" sz="900" b="1" smtClean="0">
                          <a:latin typeface="Arial Narrow" panose="020B0606020202030204" pitchFamily="34" charset="0"/>
                        </a:rPr>
                        <a:t>Decomposition performance</a:t>
                      </a:r>
                      <a:r>
                        <a:rPr lang="ko-KR" altLang="en-US" sz="900" b="1" smtClean="0">
                          <a:latin typeface="Arial Narrow" panose="020B0606020202030204" pitchFamily="34" charset="0"/>
                        </a:rPr>
                        <a:t>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vi-VN" sz="900" smtClean="0">
                          <a:latin typeface="Arial Narrow" panose="020B0606020202030204" pitchFamily="34" charset="0"/>
                        </a:rPr>
                        <a:t>%RE = (RE / T) * 100%</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vi-VN" sz="900" smtClean="0">
                          <a:latin typeface="Arial Narrow" panose="020B0606020202030204" pitchFamily="34" charset="0"/>
                        </a:rPr>
                        <a:t>(</a:t>
                      </a:r>
                      <a:r>
                        <a:rPr lang="vi-VN" sz="900" baseline="0" smtClean="0">
                          <a:latin typeface="Arial Narrow" panose="020B0606020202030204" pitchFamily="34" charset="0"/>
                        </a:rPr>
                        <a:t> 0.01 / 0.4 ) * 100% = 2.5% &lt; 5 %</a:t>
                      </a:r>
                      <a:endParaRPr lang="en-US" sz="900">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8D621"/>
                    </a:solidFill>
                  </a:tcPr>
                </a:tc>
              </a:tr>
            </a:tbl>
          </a:graphicData>
        </a:graphic>
      </p:graphicFrame>
      <p:sp>
        <p:nvSpPr>
          <p:cNvPr id="9" name="TextBox 8"/>
          <p:cNvSpPr txBox="1"/>
          <p:nvPr/>
        </p:nvSpPr>
        <p:spPr>
          <a:xfrm>
            <a:off x="2068945" y="5040745"/>
            <a:ext cx="5181600" cy="1361911"/>
          </a:xfrm>
          <a:prstGeom prst="rect">
            <a:avLst/>
          </a:prstGeom>
          <a:noFill/>
        </p:spPr>
        <p:txBody>
          <a:bodyPr wrap="square" rtlCol="0">
            <a:spAutoFit/>
          </a:bodyPr>
          <a:lstStyle/>
          <a:p>
            <a:pPr>
              <a:lnSpc>
                <a:spcPct val="150000"/>
              </a:lnSpc>
            </a:pPr>
            <a:r>
              <a:rPr lang="en-US" sz="1100" b="1" u="sng" dirty="0" smtClean="0">
                <a:latin typeface="Arial Narrow" panose="020B0606020202030204" pitchFamily="34" charset="0"/>
                <a:ea typeface="LG Smart_H Regular" panose="020B0600000101010101" pitchFamily="34" charset="-127"/>
              </a:rPr>
              <a:t>Conclusion:</a:t>
            </a:r>
          </a:p>
          <a:p>
            <a:pPr>
              <a:lnSpc>
                <a:spcPct val="150000"/>
              </a:lnSpc>
            </a:pPr>
            <a:r>
              <a:rPr lang="en-US" sz="1100" smtClean="0">
                <a:latin typeface="Arial Narrow" panose="020B0606020202030204" pitchFamily="34" charset="0"/>
                <a:ea typeface="LG Smart_H Regular" panose="020B0600000101010101" pitchFamily="34" charset="-127"/>
              </a:rPr>
              <a:t>*1 </a:t>
            </a:r>
            <a:r>
              <a:rPr lang="en-US" sz="1100" dirty="0" smtClean="0">
                <a:latin typeface="Arial Narrow" panose="020B0606020202030204" pitchFamily="34" charset="0"/>
                <a:ea typeface="LG Smart_H Regular" panose="020B0600000101010101" pitchFamily="34" charset="-127"/>
              </a:rPr>
              <a:t>people </a:t>
            </a:r>
            <a:r>
              <a:rPr lang="en-US" sz="1100" smtClean="0">
                <a:latin typeface="Arial Narrow" panose="020B0606020202030204" pitchFamily="34" charset="0"/>
                <a:ea typeface="LG Smart_H Regular" panose="020B0600000101010101" pitchFamily="34" charset="-127"/>
              </a:rPr>
              <a:t>measure </a:t>
            </a:r>
            <a:r>
              <a:rPr lang="en-US" sz="1100">
                <a:latin typeface="Arial Narrow" panose="020B0606020202030204" pitchFamily="34" charset="0"/>
                <a:ea typeface="LG Smart_H Regular" panose="020B0600000101010101" pitchFamily="34" charset="-127"/>
              </a:rPr>
              <a:t>a</a:t>
            </a:r>
            <a:r>
              <a:rPr lang="en-US" sz="1100" smtClean="0">
                <a:latin typeface="Arial Narrow" panose="020B0606020202030204" pitchFamily="34" charset="0"/>
                <a:ea typeface="LG Smart_H Regular" panose="020B0600000101010101" pitchFamily="34" charset="-127"/>
              </a:rPr>
              <a:t> sample, </a:t>
            </a:r>
            <a:r>
              <a:rPr lang="en-US" sz="1100" dirty="0" smtClean="0">
                <a:latin typeface="Arial Narrow" panose="020B0606020202030204" pitchFamily="34" charset="0"/>
                <a:ea typeface="LG Smart_H Regular" panose="020B0600000101010101" pitchFamily="34" charset="-127"/>
              </a:rPr>
              <a:t>measure </a:t>
            </a:r>
            <a:r>
              <a:rPr lang="en-US" sz="1100" smtClean="0">
                <a:latin typeface="Arial Narrow" panose="020B0606020202030204" pitchFamily="34" charset="0"/>
                <a:ea typeface="LG Smart_H Regular" panose="020B0600000101010101" pitchFamily="34" charset="-127"/>
              </a:rPr>
              <a:t>repeat 30 times </a:t>
            </a:r>
            <a:endParaRPr lang="en-US" sz="1100" dirty="0" smtClean="0">
              <a:latin typeface="Arial Narrow" panose="020B0606020202030204" pitchFamily="34" charset="0"/>
              <a:ea typeface="LG Smart_H Regular" panose="020B0600000101010101" pitchFamily="34" charset="-127"/>
            </a:endParaRPr>
          </a:p>
          <a:p>
            <a:pPr>
              <a:lnSpc>
                <a:spcPct val="150000"/>
              </a:lnSpc>
              <a:buFont typeface="Wingdings" pitchFamily="2" charset="2"/>
              <a:buChar char="§"/>
            </a:pPr>
            <a:r>
              <a:rPr lang="en-US" sz="1100" smtClean="0">
                <a:latin typeface="Arial Narrow" panose="020B0606020202030204" pitchFamily="34" charset="0"/>
                <a:ea typeface="LG Smart_H Regular" panose="020B0600000101010101" pitchFamily="34" charset="-127"/>
              </a:rPr>
              <a:t>  Cg = </a:t>
            </a:r>
            <a:r>
              <a:rPr lang="vi-VN" sz="1100" smtClean="0">
                <a:latin typeface="Arial Narrow" panose="020B0606020202030204" pitchFamily="34" charset="0"/>
                <a:ea typeface="LG Smart_H Regular" panose="020B0600000101010101" pitchFamily="34" charset="-127"/>
              </a:rPr>
              <a:t>2.15</a:t>
            </a:r>
            <a:r>
              <a:rPr lang="en-US" sz="1100" smtClean="0">
                <a:latin typeface="Arial Narrow" panose="020B0606020202030204" pitchFamily="34" charset="0"/>
                <a:ea typeface="LG Smart_H Regular" panose="020B0600000101010101" pitchFamily="34" charset="-127"/>
              </a:rPr>
              <a:t> &gt; 1.33 </a:t>
            </a:r>
            <a:r>
              <a:rPr lang="en-US" sz="1100" smtClean="0">
                <a:latin typeface="Arial Narrow" panose="020B0606020202030204" pitchFamily="34" charset="0"/>
                <a:ea typeface="LG Smart_H Regular" panose="020B0600000101010101" pitchFamily="34" charset="-127"/>
                <a:sym typeface="Wingdings" pitchFamily="2" charset="2"/>
              </a:rPr>
              <a:t> </a:t>
            </a:r>
            <a:r>
              <a:rPr lang="en-US" sz="1100" b="1">
                <a:solidFill>
                  <a:srgbClr val="006600"/>
                </a:solidFill>
                <a:latin typeface="Arial Narrow" panose="020B0606020202030204" pitchFamily="34" charset="0"/>
                <a:ea typeface="LG Smart_H Regular" panose="020B0600000101010101" pitchFamily="34" charset="-127"/>
                <a:sym typeface="Wingdings" pitchFamily="2" charset="2"/>
              </a:rPr>
              <a:t>OK</a:t>
            </a:r>
          </a:p>
          <a:p>
            <a:pPr marL="171450" indent="-171450">
              <a:lnSpc>
                <a:spcPct val="150000"/>
              </a:lnSpc>
              <a:buFont typeface="Wingdings" panose="05000000000000000000" pitchFamily="2" charset="2"/>
              <a:buChar char="§"/>
            </a:pPr>
            <a:r>
              <a:rPr lang="en-US" sz="1100" smtClean="0">
                <a:latin typeface="Arial Narrow" panose="020B0606020202030204" pitchFamily="34" charset="0"/>
                <a:ea typeface="LG Smart_H Regular" panose="020B0600000101010101" pitchFamily="34" charset="-127"/>
              </a:rPr>
              <a:t>Cgk = </a:t>
            </a:r>
            <a:r>
              <a:rPr lang="vi-VN" sz="1100" smtClean="0">
                <a:latin typeface="Arial Narrow" panose="020B0606020202030204" pitchFamily="34" charset="0"/>
                <a:ea typeface="LG Smart_H Regular" panose="020B0600000101010101" pitchFamily="34" charset="-127"/>
              </a:rPr>
              <a:t>2.09</a:t>
            </a:r>
            <a:r>
              <a:rPr lang="en-US" sz="1100" smtClean="0">
                <a:latin typeface="Arial Narrow" panose="020B0606020202030204" pitchFamily="34" charset="0"/>
                <a:ea typeface="LG Smart_H Regular" panose="020B0600000101010101" pitchFamily="34" charset="-127"/>
              </a:rPr>
              <a:t> &gt; 1.33</a:t>
            </a:r>
            <a:r>
              <a:rPr lang="en-US" sz="1100" smtClean="0">
                <a:latin typeface="Arial Narrow" panose="020B0606020202030204" pitchFamily="34" charset="0"/>
                <a:ea typeface="LG Smart_H Regular" panose="020B0600000101010101" pitchFamily="34" charset="-127"/>
                <a:sym typeface="Wingdings" pitchFamily="2" charset="2"/>
              </a:rPr>
              <a:t> </a:t>
            </a:r>
            <a:r>
              <a:rPr lang="en-US" sz="1100" b="1">
                <a:solidFill>
                  <a:srgbClr val="006600"/>
                </a:solidFill>
                <a:latin typeface="Arial Narrow" panose="020B0606020202030204" pitchFamily="34" charset="0"/>
                <a:ea typeface="LG Smart_H Regular" panose="020B0600000101010101" pitchFamily="34" charset="-127"/>
                <a:sym typeface="Wingdings" pitchFamily="2" charset="2"/>
              </a:rPr>
              <a:t>OK</a:t>
            </a:r>
          </a:p>
          <a:p>
            <a:pPr>
              <a:lnSpc>
                <a:spcPct val="150000"/>
              </a:lnSpc>
            </a:pPr>
            <a:r>
              <a:rPr lang="en-US" sz="1100" smtClean="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sz="1100">
                <a:solidFill>
                  <a:srgbClr val="006600"/>
                </a:solidFill>
                <a:latin typeface="Arial Narrow" panose="020B0606020202030204" pitchFamily="34" charset="0"/>
                <a:ea typeface="LG Smart_H Regular" panose="020B0600000101010101" pitchFamily="34" charset="-127"/>
                <a:sym typeface="Wingdings" pitchFamily="2" charset="2"/>
              </a:rPr>
              <a:t>This instrument can </a:t>
            </a:r>
            <a:r>
              <a:rPr lang="en-US" sz="1100" smtClean="0">
                <a:solidFill>
                  <a:srgbClr val="006600"/>
                </a:solidFill>
                <a:latin typeface="Arial Narrow" panose="020B0606020202030204" pitchFamily="34" charset="0"/>
                <a:ea typeface="LG Smart_H Regular" panose="020B0600000101010101" pitchFamily="34" charset="-127"/>
                <a:sym typeface="Wingdings" pitchFamily="2" charset="2"/>
              </a:rPr>
              <a:t>use</a:t>
            </a:r>
            <a:endParaRPr lang="vi-VN" sz="1100">
              <a:solidFill>
                <a:srgbClr val="006600"/>
              </a:solidFill>
              <a:latin typeface="Arial Narrow" panose="020B0606020202030204" pitchFamily="34" charset="0"/>
              <a:ea typeface="LG Smart_H Regular" panose="020B0600000101010101" pitchFamily="34" charset="-127"/>
              <a:sym typeface="Wingdings" pitchFamily="2" charset="2"/>
            </a:endParaRPr>
          </a:p>
        </p:txBody>
      </p:sp>
      <p:sp>
        <p:nvSpPr>
          <p:cNvPr id="10" name="Rectangle 9"/>
          <p:cNvSpPr/>
          <p:nvPr/>
        </p:nvSpPr>
        <p:spPr bwMode="auto">
          <a:xfrm>
            <a:off x="5638800" y="4111070"/>
            <a:ext cx="1295400" cy="533400"/>
          </a:xfrm>
          <a:prstGeom prst="rect">
            <a:avLst/>
          </a:prstGeom>
          <a:no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smtClean="0">
              <a:ln>
                <a:noFill/>
              </a:ln>
              <a:solidFill>
                <a:schemeClr val="tx1"/>
              </a:solidFill>
              <a:effectLst/>
              <a:latin typeface="Arial" charset="0"/>
              <a:ea typeface="돋움" pitchFamily="50" charset="-127"/>
            </a:endParaRPr>
          </a:p>
        </p:txBody>
      </p:sp>
      <p:sp>
        <p:nvSpPr>
          <p:cNvPr id="5" name="TextBox 4"/>
          <p:cNvSpPr txBox="1"/>
          <p:nvPr/>
        </p:nvSpPr>
        <p:spPr>
          <a:xfrm>
            <a:off x="-2667000" y="304800"/>
            <a:ext cx="2590800" cy="6524863"/>
          </a:xfrm>
          <a:prstGeom prst="rect">
            <a:avLst/>
          </a:prstGeom>
          <a:noFill/>
          <a:ln>
            <a:solidFill>
              <a:schemeClr val="bg1">
                <a:lumMod val="65000"/>
              </a:schemeClr>
            </a:solidFill>
          </a:ln>
        </p:spPr>
        <p:txBody>
          <a:bodyPr wrap="square" rtlCol="0">
            <a:spAutoFit/>
          </a:bodyPr>
          <a:lstStyle/>
          <a:p>
            <a:pPr latinLnBrk="0"/>
            <a:r>
              <a:rPr lang="vi-VN" sz="1100" b="1" smtClean="0">
                <a:latin typeface="Arial" panose="020B0604020202020204" pitchFamily="34" charset="0"/>
                <a:cs typeface="Arial" panose="020B0604020202020204" pitchFamily="34" charset="0"/>
              </a:rPr>
              <a:t>Reference Value</a:t>
            </a:r>
          </a:p>
          <a:p>
            <a:pPr latinLnBrk="0"/>
            <a:r>
              <a:rPr lang="vi-VN" sz="1100" smtClean="0">
                <a:latin typeface="Arial" panose="020B0604020202020204" pitchFamily="34" charset="0"/>
                <a:cs typeface="Arial" panose="020B0604020202020204" pitchFamily="34" charset="0"/>
              </a:rPr>
              <a:t>Sản xuất con hàng mà giá trị đo được chính là Center spec thì điều đó là lý tưởng nhất, nhưng quá trình sản xuất luôn tồn tại sai số ngẫu nhiên nên là việc sản xuất ra 1 con hàng đảm bảo nằm ở Center của spec là rất khó, vì vậy mới sinh ra khái nghiệm giá trị tham khảo.</a:t>
            </a:r>
          </a:p>
          <a:p>
            <a:pPr latinLnBrk="0"/>
            <a:r>
              <a:rPr lang="vi-VN" sz="1100">
                <a:latin typeface="Arial" panose="020B0604020202020204" pitchFamily="34" charset="0"/>
                <a:cs typeface="Arial" panose="020B0604020202020204" pitchFamily="34" charset="0"/>
              </a:rPr>
              <a:t>Giá trị tham khảo ở đây được </a:t>
            </a:r>
            <a:r>
              <a:rPr lang="vi-VN" sz="1100" smtClean="0">
                <a:latin typeface="Arial" panose="020B0604020202020204" pitchFamily="34" charset="0"/>
                <a:cs typeface="Arial" panose="020B0604020202020204" pitchFamily="34" charset="0"/>
              </a:rPr>
              <a:t>hiểu </a:t>
            </a:r>
            <a:r>
              <a:rPr lang="vi-VN" sz="1100">
                <a:latin typeface="Arial" panose="020B0604020202020204" pitchFamily="34" charset="0"/>
                <a:cs typeface="Arial" panose="020B0604020202020204" pitchFamily="34" charset="0"/>
              </a:rPr>
              <a:t>là giá trị thực, đúng nhất, sát nhất khi thực hiện đo 1 </a:t>
            </a:r>
            <a:r>
              <a:rPr lang="vi-VN" sz="1100" smtClean="0">
                <a:latin typeface="Arial" panose="020B0604020202020204" pitchFamily="34" charset="0"/>
                <a:cs typeface="Arial" panose="020B0604020202020204" pitchFamily="34" charset="0"/>
              </a:rPr>
              <a:t>part thực tế </a:t>
            </a:r>
            <a:r>
              <a:rPr lang="vi-VN" sz="1100">
                <a:latin typeface="Arial" panose="020B0604020202020204" pitchFamily="34" charset="0"/>
                <a:cs typeface="Arial" panose="020B0604020202020204" pitchFamily="34" charset="0"/>
              </a:rPr>
              <a:t>nào đó.</a:t>
            </a:r>
          </a:p>
          <a:p>
            <a:pPr latinLnBrk="0"/>
            <a:endParaRPr lang="vi-VN" sz="1100">
              <a:latin typeface="Arial" panose="020B0604020202020204" pitchFamily="34" charset="0"/>
              <a:cs typeface="Arial" panose="020B0604020202020204" pitchFamily="34" charset="0"/>
            </a:endParaRPr>
          </a:p>
          <a:p>
            <a:pPr latinLnBrk="0"/>
            <a:endParaRPr lang="vi-VN" sz="1100">
              <a:latin typeface="Arial" panose="020B0604020202020204" pitchFamily="34" charset="0"/>
              <a:cs typeface="Arial" panose="020B0604020202020204" pitchFamily="34" charset="0"/>
            </a:endParaRPr>
          </a:p>
          <a:p>
            <a:pPr latinLnBrk="0"/>
            <a:r>
              <a:rPr lang="vi-VN" sz="1100" smtClean="0">
                <a:latin typeface="Arial" panose="020B0604020202020204" pitchFamily="34" charset="0"/>
                <a:cs typeface="Arial" panose="020B0604020202020204" pitchFamily="34" charset="0"/>
              </a:rPr>
              <a:t>Cách tìm và giải thích về 1 giá trị Reference Value:</a:t>
            </a:r>
          </a:p>
          <a:p>
            <a:pPr latinLnBrk="0"/>
            <a:r>
              <a:rPr lang="vi-VN" sz="1100" smtClean="0">
                <a:latin typeface="Arial" panose="020B0604020202020204" pitchFamily="34" charset="0"/>
                <a:cs typeface="Arial" panose="020B0604020202020204" pitchFamily="34" charset="0"/>
              </a:rPr>
              <a:t>Giá trị tham khảo được tìm ra khi chúng ta lựa chọn 1 công nhân có kĩ năng cao nhất (Có thể là leader, quản lý hoặc người có chứng chỉ)</a:t>
            </a:r>
          </a:p>
          <a:p>
            <a:pPr latinLnBrk="0"/>
            <a:r>
              <a:rPr lang="vi-VN" sz="1100" smtClean="0">
                <a:latin typeface="Arial" panose="020B0604020202020204" pitchFamily="34" charset="0"/>
                <a:cs typeface="Arial" panose="020B0604020202020204" pitchFamily="34" charset="0"/>
              </a:rPr>
              <a:t>Chúng ta sử dụng 1 thiết bị có độ phân giải cao hơn thiết bị đang kiểm chứng</a:t>
            </a:r>
          </a:p>
          <a:p>
            <a:pPr latinLnBrk="0"/>
            <a:r>
              <a:rPr lang="vi-VN" sz="1100" smtClean="0">
                <a:latin typeface="Arial" panose="020B0604020202020204" pitchFamily="34" charset="0"/>
                <a:cs typeface="Arial" panose="020B0604020202020204" pitchFamily="34" charset="0"/>
              </a:rPr>
              <a:t>Ví dụ: Chúng ta đang gage cho thước kẹp 600mm với độ phân giải là 0.01</a:t>
            </a:r>
          </a:p>
          <a:p>
            <a:pPr latinLnBrk="0"/>
            <a:r>
              <a:rPr lang="vi-VN" sz="1100" smtClean="0">
                <a:latin typeface="Arial" panose="020B0604020202020204" pitchFamily="34" charset="0"/>
                <a:cs typeface="Arial" panose="020B0604020202020204" pitchFamily="34" charset="0"/>
              </a:rPr>
              <a:t>Tức là giá trị trả ra sau khi đo đúng tới 2 số sau dấy phẩy, vậy tư duy ở đây là chúng ta sẽ dùng 1 thiết bị có độ phân giải trả ra kết quả đúng tới 3 số sau dấu phẩy để cùng với chuyện gia đo đạc bên trên để tìm ra giá trị tham khảo.</a:t>
            </a:r>
          </a:p>
          <a:p>
            <a:pPr latinLnBrk="0"/>
            <a:endParaRPr lang="vi-VN" sz="1100" smtClean="0">
              <a:latin typeface="Arial" panose="020B0604020202020204" pitchFamily="34" charset="0"/>
              <a:cs typeface="Arial" panose="020B0604020202020204" pitchFamily="34" charset="0"/>
            </a:endParaRPr>
          </a:p>
          <a:p>
            <a:pPr latinLnBrk="0"/>
            <a:r>
              <a:rPr lang="vi-VN" sz="1100" smtClean="0">
                <a:latin typeface="Arial" panose="020B0604020202020204" pitchFamily="34" charset="0"/>
                <a:cs typeface="Arial" panose="020B0604020202020204" pitchFamily="34" charset="0"/>
              </a:rPr>
              <a:t>Cách làm thực tế:</a:t>
            </a:r>
          </a:p>
          <a:p>
            <a:pPr latinLnBrk="0"/>
            <a:r>
              <a:rPr lang="vi-VN" sz="1100" smtClean="0">
                <a:latin typeface="Arial" panose="020B0604020202020204" pitchFamily="34" charset="0"/>
                <a:cs typeface="Arial" panose="020B0604020202020204" pitchFamily="34" charset="0"/>
              </a:rPr>
              <a:t>Chúng ta sẽ cho công nhân đó đo 10 lần 1 con hàng mẫu và sử dụng thiết bị có độ phân giải tốt hơn và sau đó lấy giá trị trung bình của 10 lần đo đó</a:t>
            </a:r>
            <a:endParaRPr lang="vi-VN" sz="1100">
              <a:latin typeface="Arial" panose="020B0604020202020204" pitchFamily="34" charset="0"/>
              <a:cs typeface="Arial" panose="020B0604020202020204" pitchFamily="34" charset="0"/>
            </a:endParaRPr>
          </a:p>
        </p:txBody>
      </p:sp>
      <p:sp>
        <p:nvSpPr>
          <p:cNvPr id="13" name="TextBox 12"/>
          <p:cNvSpPr txBox="1"/>
          <p:nvPr/>
        </p:nvSpPr>
        <p:spPr>
          <a:xfrm>
            <a:off x="9220200" y="1447800"/>
            <a:ext cx="4714708" cy="5170646"/>
          </a:xfrm>
          <a:prstGeom prst="rect">
            <a:avLst/>
          </a:prstGeom>
          <a:solidFill>
            <a:srgbClr val="C3FDC9"/>
          </a:solidFill>
        </p:spPr>
        <p:txBody>
          <a:bodyPr wrap="square" rtlCol="0">
            <a:spAutoFit/>
          </a:bodyPr>
          <a:lstStyle/>
          <a:p>
            <a:pPr latinLnBrk="0"/>
            <a:r>
              <a:rPr lang="vi-VN" sz="1100" smtClean="0">
                <a:latin typeface="Arial" panose="020B0604020202020204" pitchFamily="34" charset="0"/>
                <a:cs typeface="Arial" panose="020B0604020202020204" pitchFamily="34" charset="0"/>
              </a:rPr>
              <a:t>Trả lời cho câu hỏi của anh gì đó mà em quên mất tên</a:t>
            </a:r>
          </a:p>
          <a:p>
            <a:pPr latinLnBrk="0"/>
            <a:r>
              <a:rPr lang="vi-VN" sz="1100" smtClean="0">
                <a:latin typeface="Arial" panose="020B0604020202020204" pitchFamily="34" charset="0"/>
                <a:cs typeface="Arial" panose="020B0604020202020204" pitchFamily="34" charset="0"/>
              </a:rPr>
              <a:t>Anh ý ngồi ở dãy ngoài cùng bàn thứ 2, hôm vừa rồi ngồi 1 mình ạ </a:t>
            </a:r>
            <a:endParaRPr lang="vi-VN" sz="1100">
              <a:latin typeface="Arial" panose="020B0604020202020204" pitchFamily="34" charset="0"/>
              <a:cs typeface="Arial" panose="020B0604020202020204" pitchFamily="34" charset="0"/>
              <a:sym typeface="Wingdings" panose="05000000000000000000" pitchFamily="2" charset="2"/>
            </a:endParaRPr>
          </a:p>
          <a:p>
            <a:pPr latinLnBrk="0"/>
            <a:r>
              <a:rPr lang="vi-VN" sz="1100" smtClean="0">
                <a:latin typeface="Arial" panose="020B0604020202020204" pitchFamily="34" charset="0"/>
                <a:cs typeface="Arial" panose="020B0604020202020204" pitchFamily="34" charset="0"/>
                <a:sym typeface="Wingdings" panose="05000000000000000000" pitchFamily="2" charset="2"/>
              </a:rPr>
              <a:t>Trước tiên là anh yên tâm các câu hỏi phát sinh trong quá trình giảng dạy em sẽ có note lại và tìm hiểu và gửi lại câu trả lời nhé ạ.</a:t>
            </a:r>
          </a:p>
          <a:p>
            <a:pPr latinLnBrk="0"/>
            <a:endParaRPr lang="vi-VN" sz="1100">
              <a:latin typeface="Arial" panose="020B0604020202020204" pitchFamily="34" charset="0"/>
              <a:cs typeface="Arial" panose="020B0604020202020204" pitchFamily="34" charset="0"/>
              <a:sym typeface="Wingdings" panose="05000000000000000000" pitchFamily="2" charset="2"/>
            </a:endParaRPr>
          </a:p>
          <a:p>
            <a:pPr latinLnBrk="0"/>
            <a:r>
              <a:rPr lang="vi-VN" sz="1100" smtClean="0">
                <a:latin typeface="Arial" panose="020B0604020202020204" pitchFamily="34" charset="0"/>
                <a:cs typeface="Arial" panose="020B0604020202020204" pitchFamily="34" charset="0"/>
                <a:sym typeface="Wingdings" panose="05000000000000000000" pitchFamily="2" charset="2"/>
              </a:rPr>
              <a:t>Hôm đó câu hỏi của anh là cg và Cgk là gì?</a:t>
            </a:r>
          </a:p>
          <a:p>
            <a:pPr latinLnBrk="0"/>
            <a:endParaRPr lang="vi-VN" sz="1100">
              <a:latin typeface="Arial" panose="020B0604020202020204" pitchFamily="34" charset="0"/>
              <a:cs typeface="Arial" panose="020B0604020202020204" pitchFamily="34" charset="0"/>
              <a:sym typeface="Wingdings" panose="05000000000000000000" pitchFamily="2" charset="2"/>
            </a:endParaRPr>
          </a:p>
          <a:p>
            <a:pPr latinLnBrk="0"/>
            <a:r>
              <a:rPr lang="vi-VN" sz="1100" smtClean="0">
                <a:latin typeface="Arial" panose="020B0604020202020204" pitchFamily="34" charset="0"/>
                <a:cs typeface="Arial" panose="020B0604020202020204" pitchFamily="34" charset="0"/>
                <a:sym typeface="Wingdings" panose="05000000000000000000" pitchFamily="2" charset="2"/>
              </a:rPr>
              <a:t>Đầu tiên 1 câu trả lời ngắn gọn để phù hợp với lớp Green belt là</a:t>
            </a:r>
          </a:p>
          <a:p>
            <a:pPr latinLnBrk="0"/>
            <a:endParaRPr lang="vi-VN" sz="1100">
              <a:latin typeface="Arial" panose="020B0604020202020204" pitchFamily="34" charset="0"/>
              <a:cs typeface="Arial" panose="020B0604020202020204" pitchFamily="34" charset="0"/>
              <a:sym typeface="Wingdings" panose="05000000000000000000" pitchFamily="2" charset="2"/>
            </a:endParaRPr>
          </a:p>
          <a:p>
            <a:pPr latinLnBrk="0"/>
            <a:r>
              <a:rPr lang="vi-VN" sz="1100" smtClean="0">
                <a:latin typeface="Arial" panose="020B0604020202020204" pitchFamily="34" charset="0"/>
                <a:cs typeface="Arial" panose="020B0604020202020204" pitchFamily="34" charset="0"/>
                <a:sym typeface="Wingdings" panose="05000000000000000000" pitchFamily="2" charset="2"/>
              </a:rPr>
              <a:t>Đối với gage type 1 Study như em đã thông tin là chúng ra như đang thực hiện re-check.</a:t>
            </a:r>
          </a:p>
          <a:p>
            <a:pPr latinLnBrk="0"/>
            <a:r>
              <a:rPr lang="vi-VN" sz="1100" smtClean="0">
                <a:latin typeface="Arial" panose="020B0604020202020204" pitchFamily="34" charset="0"/>
                <a:cs typeface="Arial" panose="020B0604020202020204" pitchFamily="34" charset="0"/>
                <a:sym typeface="Wingdings" panose="05000000000000000000" pitchFamily="2" charset="2"/>
              </a:rPr>
              <a:t>Type 1 đánh trên 2 chỉ số là độ lặp lại và đội lệch (2 chỉ số này phần nào đó cover cho 3 chỉ số trong Calibration)</a:t>
            </a:r>
          </a:p>
          <a:p>
            <a:pPr latinLnBrk="0"/>
            <a:endParaRPr lang="vi-VN" sz="1100">
              <a:latin typeface="Arial" panose="020B0604020202020204" pitchFamily="34" charset="0"/>
              <a:cs typeface="Arial" panose="020B0604020202020204" pitchFamily="34" charset="0"/>
              <a:sym typeface="Wingdings" panose="05000000000000000000" pitchFamily="2" charset="2"/>
            </a:endParaRPr>
          </a:p>
          <a:p>
            <a:pPr latinLnBrk="0"/>
            <a:r>
              <a:rPr lang="vi-VN" sz="1100" smtClean="0">
                <a:latin typeface="Arial" panose="020B0604020202020204" pitchFamily="34" charset="0"/>
                <a:cs typeface="Arial" panose="020B0604020202020204" pitchFamily="34" charset="0"/>
                <a:sym typeface="Wingdings" panose="05000000000000000000" pitchFamily="2" charset="2"/>
              </a:rPr>
              <a:t>Theo như Cuốn Manual của minitab họ có chỉ ra thông qua mối liên hệ giữa tolerance của spec, kết hợp</a:t>
            </a:r>
          </a:p>
          <a:p>
            <a:pPr latinLnBrk="0"/>
            <a:r>
              <a:rPr lang="vi-VN" sz="1100" smtClean="0">
                <a:latin typeface="Arial" panose="020B0604020202020204" pitchFamily="34" charset="0"/>
                <a:cs typeface="Arial" panose="020B0604020202020204" pitchFamily="34" charset="0"/>
                <a:sym typeface="Wingdings" panose="05000000000000000000" pitchFamily="2" charset="2"/>
              </a:rPr>
              <a:t>Chỉ số Cg đại diện cho độ lặp lại (Repeatability) </a:t>
            </a:r>
          </a:p>
          <a:p>
            <a:pPr latinLnBrk="0"/>
            <a:r>
              <a:rPr lang="vi-VN" sz="1100" smtClean="0">
                <a:latin typeface="Arial" panose="020B0604020202020204" pitchFamily="34" charset="0"/>
                <a:cs typeface="Arial" panose="020B0604020202020204" pitchFamily="34" charset="0"/>
                <a:sym typeface="Wingdings" panose="05000000000000000000" pitchFamily="2" charset="2"/>
              </a:rPr>
              <a:t>Chỉ số Cgk đại diện cho độ lệch Bias</a:t>
            </a:r>
          </a:p>
          <a:p>
            <a:pPr latinLnBrk="0"/>
            <a:endParaRPr lang="vi-VN" sz="1100" smtClean="0">
              <a:latin typeface="Arial" panose="020B0604020202020204" pitchFamily="34" charset="0"/>
              <a:cs typeface="Arial" panose="020B0604020202020204" pitchFamily="34" charset="0"/>
              <a:sym typeface="Wingdings" panose="05000000000000000000" pitchFamily="2" charset="2"/>
            </a:endParaRPr>
          </a:p>
          <a:p>
            <a:pPr latinLnBrk="0"/>
            <a:r>
              <a:rPr lang="vi-VN" sz="1100" b="1" smtClean="0">
                <a:latin typeface="Arial" panose="020B0604020202020204" pitchFamily="34" charset="0"/>
                <a:cs typeface="Arial" panose="020B0604020202020204" pitchFamily="34" charset="0"/>
                <a:sym typeface="Wingdings" panose="05000000000000000000" pitchFamily="2" charset="2"/>
              </a:rPr>
              <a:t>Em gửi đường link để anh có thể tham khảo chi tiết bài giải thích nhé ạ. Trong đó sẽ có cả công thức nhé ạ</a:t>
            </a:r>
          </a:p>
          <a:p>
            <a:pPr latinLnBrk="0"/>
            <a:endParaRPr lang="vi-VN" sz="1100">
              <a:latin typeface="Arial" panose="020B0604020202020204" pitchFamily="34" charset="0"/>
              <a:cs typeface="Arial" panose="020B0604020202020204" pitchFamily="34" charset="0"/>
              <a:sym typeface="Wingdings" panose="05000000000000000000" pitchFamily="2" charset="2"/>
            </a:endParaRPr>
          </a:p>
          <a:p>
            <a:pPr latinLnBrk="0"/>
            <a:r>
              <a:rPr lang="en-US" sz="1100">
                <a:latin typeface="Arial" panose="020B0604020202020204" pitchFamily="34" charset="0"/>
                <a:cs typeface="Arial" panose="020B0604020202020204" pitchFamily="34" charset="0"/>
                <a:hlinkClick r:id="rId9"/>
              </a:rPr>
              <a:t>https://support.minitab.com/en-us/minitab/help-and-how-to/quality-and-process-improvement/measurement-system-analysis/supporting-topics/other-gage-studies-and-measures/type-1-gage-study</a:t>
            </a:r>
            <a:r>
              <a:rPr lang="en-US" sz="1100" smtClean="0">
                <a:latin typeface="Arial" panose="020B0604020202020204" pitchFamily="34" charset="0"/>
                <a:cs typeface="Arial" panose="020B0604020202020204" pitchFamily="34" charset="0"/>
                <a:hlinkClick r:id="rId9"/>
              </a:rPr>
              <a:t>/</a:t>
            </a:r>
            <a:endParaRPr lang="vi-VN" sz="1100" smtClean="0">
              <a:latin typeface="Arial" panose="020B0604020202020204" pitchFamily="34" charset="0"/>
              <a:cs typeface="Arial" panose="020B0604020202020204" pitchFamily="34" charset="0"/>
            </a:endParaRPr>
          </a:p>
          <a:p>
            <a:pPr latinLnBrk="0"/>
            <a:endParaRPr lang="vi-VN" sz="1100">
              <a:latin typeface="Arial" panose="020B0604020202020204" pitchFamily="34" charset="0"/>
              <a:cs typeface="Arial" panose="020B0604020202020204" pitchFamily="34" charset="0"/>
            </a:endParaRPr>
          </a:p>
          <a:p>
            <a:pPr latinLnBrk="0"/>
            <a:endParaRPr lang="vi-VN" sz="1100" smtClean="0">
              <a:latin typeface="Arial" panose="020B0604020202020204" pitchFamily="34" charset="0"/>
              <a:cs typeface="Arial" panose="020B0604020202020204" pitchFamily="34" charset="0"/>
            </a:endParaRPr>
          </a:p>
          <a:p>
            <a:pPr latinLnBrk="0"/>
            <a:endParaRPr lang="vi-VN" sz="1100">
              <a:latin typeface="Arial" panose="020B0604020202020204" pitchFamily="34" charset="0"/>
              <a:cs typeface="Arial" panose="020B0604020202020204" pitchFamily="34" charset="0"/>
            </a:endParaRPr>
          </a:p>
          <a:p>
            <a:pPr latinLnBrk="0"/>
            <a:endParaRPr lang="vi-VN" sz="1100" smtClean="0">
              <a:latin typeface="Arial" panose="020B0604020202020204" pitchFamily="34" charset="0"/>
              <a:cs typeface="Arial" panose="020B0604020202020204" pitchFamily="34" charset="0"/>
            </a:endParaRPr>
          </a:p>
          <a:p>
            <a:pPr latinLnBrk="0"/>
            <a:endParaRPr lang="en-US" sz="110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10"/>
          <a:stretch>
            <a:fillRect/>
          </a:stretch>
        </p:blipFill>
        <p:spPr>
          <a:xfrm>
            <a:off x="9229725" y="5726303"/>
            <a:ext cx="4331628" cy="319983"/>
          </a:xfrm>
          <a:prstGeom prst="rect">
            <a:avLst/>
          </a:prstGeom>
        </p:spPr>
      </p:pic>
      <p:pic>
        <p:nvPicPr>
          <p:cNvPr id="7" name="Picture 6"/>
          <p:cNvPicPr>
            <a:picLocks noChangeAspect="1"/>
          </p:cNvPicPr>
          <p:nvPr/>
        </p:nvPicPr>
        <p:blipFill>
          <a:blip r:embed="rId11"/>
          <a:stretch>
            <a:fillRect/>
          </a:stretch>
        </p:blipFill>
        <p:spPr>
          <a:xfrm>
            <a:off x="9229725" y="6129229"/>
            <a:ext cx="3590925" cy="355537"/>
          </a:xfrm>
          <a:prstGeom prst="rect">
            <a:avLst/>
          </a:prstGeom>
        </p:spPr>
      </p:pic>
      <p:sp>
        <p:nvSpPr>
          <p:cNvPr id="12" name="TextBox 11"/>
          <p:cNvSpPr txBox="1"/>
          <p:nvPr/>
        </p:nvSpPr>
        <p:spPr>
          <a:xfrm>
            <a:off x="7467600" y="1447800"/>
            <a:ext cx="1752600" cy="2585323"/>
          </a:xfrm>
          <a:prstGeom prst="rect">
            <a:avLst/>
          </a:prstGeom>
          <a:noFill/>
        </p:spPr>
        <p:txBody>
          <a:bodyPr wrap="square" rtlCol="0">
            <a:spAutoFit/>
          </a:bodyPr>
          <a:lstStyle/>
          <a:p>
            <a:pPr latinLnBrk="0"/>
            <a:r>
              <a:rPr lang="en-US" smtClean="0">
                <a:latin typeface="Arial Narrow" panose="020B0606020202030204" pitchFamily="34" charset="0"/>
              </a:rPr>
              <a:t>Reference value = average (10 sample by equipment that will be higher than this equipemt and measure by operator with good skill)</a:t>
            </a:r>
            <a:endParaRPr lang="en-US">
              <a:latin typeface="Arial Narrow" panose="020B0606020202030204" pitchFamily="34" charset="0"/>
            </a:endParaRPr>
          </a:p>
        </p:txBody>
      </p:sp>
    </p:spTree>
    <p:extLst>
      <p:ext uri="{BB962C8B-B14F-4D97-AF65-F5344CB8AC3E}">
        <p14:creationId xmlns:p14="http://schemas.microsoft.com/office/powerpoint/2010/main" val="42888975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1</a:t>
            </a:r>
            <a:endParaRPr lang="en-US"/>
          </a:p>
        </p:txBody>
      </p:sp>
      <p:sp>
        <p:nvSpPr>
          <p:cNvPr id="6" name="TextBox 5"/>
          <p:cNvSpPr txBox="1"/>
          <p:nvPr/>
        </p:nvSpPr>
        <p:spPr>
          <a:xfrm>
            <a:off x="533400" y="624277"/>
            <a:ext cx="4939237" cy="369332"/>
          </a:xfrm>
          <a:prstGeom prst="rect">
            <a:avLst/>
          </a:prstGeom>
          <a:noFill/>
        </p:spPr>
        <p:txBody>
          <a:bodyPr wrap="none" rtlCol="0">
            <a:spAutoFit/>
          </a:bodyPr>
          <a:lstStyle/>
          <a:p>
            <a:r>
              <a:rPr lang="vi-VN" smtClean="0">
                <a:latin typeface="Arial" panose="020B0604020202020204" pitchFamily="34" charset="0"/>
                <a:cs typeface="Arial" panose="020B0604020202020204" pitchFamily="34" charset="0"/>
              </a:rPr>
              <a:t>Type 1 là 1 người đo, đo 30 lần, đo trên 1 mẫu</a:t>
            </a:r>
          </a:p>
        </p:txBody>
      </p:sp>
      <p:pic>
        <p:nvPicPr>
          <p:cNvPr id="11" name="Picture 10"/>
          <p:cNvPicPr>
            <a:picLocks noChangeAspect="1"/>
          </p:cNvPicPr>
          <p:nvPr/>
        </p:nvPicPr>
        <p:blipFill>
          <a:blip r:embed="rId3"/>
          <a:stretch>
            <a:fillRect/>
          </a:stretch>
        </p:blipFill>
        <p:spPr>
          <a:xfrm>
            <a:off x="685800" y="1293389"/>
            <a:ext cx="7248618" cy="5336011"/>
          </a:xfrm>
          <a:prstGeom prst="rect">
            <a:avLst/>
          </a:prstGeom>
        </p:spPr>
      </p:pic>
      <p:graphicFrame>
        <p:nvGraphicFramePr>
          <p:cNvPr id="12" name="Object 11"/>
          <p:cNvGraphicFramePr>
            <a:graphicFrameLocks noChangeAspect="1"/>
          </p:cNvGraphicFramePr>
          <p:nvPr>
            <p:extLst>
              <p:ext uri="{D42A27DB-BD31-4B8C-83A1-F6EECF244321}">
                <p14:modId xmlns:p14="http://schemas.microsoft.com/office/powerpoint/2010/main" val="3820607589"/>
              </p:ext>
            </p:extLst>
          </p:nvPr>
        </p:nvGraphicFramePr>
        <p:xfrm>
          <a:off x="8534400" y="907626"/>
          <a:ext cx="914400" cy="771525"/>
        </p:xfrm>
        <a:graphic>
          <a:graphicData uri="http://schemas.openxmlformats.org/presentationml/2006/ole">
            <mc:AlternateContent xmlns:mc="http://schemas.openxmlformats.org/markup-compatibility/2006">
              <mc:Choice xmlns:v="urn:schemas-microsoft-com:vml" Requires="v">
                <p:oleObj spid="_x0000_s1032" name="Worksheet" showAsIcon="1" r:id="rId5" imgW="914400" imgH="771480" progId="Excel.Sheet.12">
                  <p:embed/>
                </p:oleObj>
              </mc:Choice>
              <mc:Fallback>
                <p:oleObj name="Worksheet" showAsIcon="1" r:id="rId5" imgW="914400" imgH="771480" progId="Excel.Sheet.12">
                  <p:embed/>
                  <p:pic>
                    <p:nvPicPr>
                      <p:cNvPr id="0" name=""/>
                      <p:cNvPicPr/>
                      <p:nvPr/>
                    </p:nvPicPr>
                    <p:blipFill>
                      <a:blip r:embed="rId6"/>
                      <a:stretch>
                        <a:fillRect/>
                      </a:stretch>
                    </p:blipFill>
                    <p:spPr>
                      <a:xfrm>
                        <a:off x="8534400" y="907626"/>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13459230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1</a:t>
            </a:r>
            <a:endParaRPr lang="en-US"/>
          </a:p>
        </p:txBody>
      </p:sp>
      <p:sp>
        <p:nvSpPr>
          <p:cNvPr id="3" name="Slide Number Placeholder 2"/>
          <p:cNvSpPr>
            <a:spLocks noGrp="1"/>
          </p:cNvSpPr>
          <p:nvPr>
            <p:ph type="sldNum" sz="quarter" idx="12"/>
          </p:nvPr>
        </p:nvSpPr>
        <p:spPr/>
        <p:txBody>
          <a:bodyPr/>
          <a:lstStyle/>
          <a:p>
            <a:fld id="{CCB65402-AEF5-4D26-A49C-7368E264DDAC}" type="slidenum">
              <a:rPr lang="ko-KR" altLang="en-US" smtClean="0">
                <a:solidFill>
                  <a:prstClr val="black">
                    <a:tint val="75000"/>
                  </a:prstClr>
                </a:solidFill>
              </a:rPr>
              <a:pPr/>
              <a:t>5</a:t>
            </a:fld>
            <a:r>
              <a:rPr lang="en-US" altLang="ko-KR" smtClean="0">
                <a:solidFill>
                  <a:prstClr val="black">
                    <a:tint val="75000"/>
                  </a:prstClr>
                </a:solidFill>
              </a:rPr>
              <a:t>/71</a:t>
            </a:r>
            <a:r>
              <a:rPr lang="ko-KR" altLang="en-US" smtClean="0">
                <a:solidFill>
                  <a:prstClr val="black">
                    <a:tint val="75000"/>
                  </a:prstClr>
                </a:solidFill>
              </a:rPr>
              <a:t> </a:t>
            </a:r>
            <a:r>
              <a:rPr lang="en-US" altLang="ko-KR" smtClean="0">
                <a:solidFill>
                  <a:prstClr val="black">
                    <a:tint val="75000"/>
                  </a:prstClr>
                </a:solidFill>
              </a:rPr>
              <a:t>  </a:t>
            </a:r>
            <a:endParaRPr lang="ko-KR" altLang="en-US" dirty="0">
              <a:solidFill>
                <a:prstClr val="black">
                  <a:tint val="75000"/>
                </a:prstClr>
              </a:solidFill>
            </a:endParaRPr>
          </a:p>
        </p:txBody>
      </p:sp>
      <p:pic>
        <p:nvPicPr>
          <p:cNvPr id="4" name="Picture 3"/>
          <p:cNvPicPr>
            <a:picLocks noChangeAspect="1"/>
          </p:cNvPicPr>
          <p:nvPr/>
        </p:nvPicPr>
        <p:blipFill>
          <a:blip r:embed="rId2"/>
          <a:stretch>
            <a:fillRect/>
          </a:stretch>
        </p:blipFill>
        <p:spPr>
          <a:xfrm>
            <a:off x="533400" y="858974"/>
            <a:ext cx="8911798" cy="5381625"/>
          </a:xfrm>
          <a:prstGeom prst="rect">
            <a:avLst/>
          </a:prstGeom>
        </p:spPr>
      </p:pic>
    </p:spTree>
    <p:extLst>
      <p:ext uri="{BB962C8B-B14F-4D97-AF65-F5344CB8AC3E}">
        <p14:creationId xmlns:p14="http://schemas.microsoft.com/office/powerpoint/2010/main" val="2355693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1</a:t>
            </a:r>
            <a:endParaRPr lang="en-US"/>
          </a:p>
        </p:txBody>
      </p:sp>
      <p:sp>
        <p:nvSpPr>
          <p:cNvPr id="3" name="Slide Number Placeholder 2"/>
          <p:cNvSpPr>
            <a:spLocks noGrp="1"/>
          </p:cNvSpPr>
          <p:nvPr>
            <p:ph type="sldNum" sz="quarter" idx="12"/>
          </p:nvPr>
        </p:nvSpPr>
        <p:spPr/>
        <p:txBody>
          <a:bodyPr/>
          <a:lstStyle/>
          <a:p>
            <a:fld id="{CCB65402-AEF5-4D26-A49C-7368E264DDAC}" type="slidenum">
              <a:rPr lang="ko-KR" altLang="en-US" smtClean="0">
                <a:solidFill>
                  <a:prstClr val="black">
                    <a:tint val="75000"/>
                  </a:prstClr>
                </a:solidFill>
              </a:rPr>
              <a:pPr/>
              <a:t>6</a:t>
            </a:fld>
            <a:r>
              <a:rPr lang="en-US" altLang="ko-KR" smtClean="0">
                <a:solidFill>
                  <a:prstClr val="black">
                    <a:tint val="75000"/>
                  </a:prstClr>
                </a:solidFill>
              </a:rPr>
              <a:t>/71</a:t>
            </a:r>
            <a:r>
              <a:rPr lang="ko-KR" altLang="en-US" smtClean="0">
                <a:solidFill>
                  <a:prstClr val="black">
                    <a:tint val="75000"/>
                  </a:prstClr>
                </a:solidFill>
              </a:rPr>
              <a:t> </a:t>
            </a:r>
            <a:r>
              <a:rPr lang="en-US" altLang="ko-KR" smtClean="0">
                <a:solidFill>
                  <a:prstClr val="black">
                    <a:tint val="75000"/>
                  </a:prstClr>
                </a:solidFill>
              </a:rPr>
              <a:t>  </a:t>
            </a:r>
            <a:endParaRPr lang="ko-KR" altLang="en-US" dirty="0">
              <a:solidFill>
                <a:prstClr val="black">
                  <a:tint val="75000"/>
                </a:prstClr>
              </a:solidFill>
            </a:endParaRPr>
          </a:p>
        </p:txBody>
      </p:sp>
      <p:pic>
        <p:nvPicPr>
          <p:cNvPr id="5" name="Picture 4"/>
          <p:cNvPicPr>
            <a:picLocks noChangeAspect="1"/>
          </p:cNvPicPr>
          <p:nvPr/>
        </p:nvPicPr>
        <p:blipFill>
          <a:blip r:embed="rId2"/>
          <a:stretch>
            <a:fillRect/>
          </a:stretch>
        </p:blipFill>
        <p:spPr>
          <a:xfrm>
            <a:off x="533400" y="999109"/>
            <a:ext cx="8229600" cy="5593328"/>
          </a:xfrm>
          <a:prstGeom prst="rect">
            <a:avLst/>
          </a:prstGeom>
        </p:spPr>
      </p:pic>
      <p:sp>
        <p:nvSpPr>
          <p:cNvPr id="6" name="TextBox 5"/>
          <p:cNvSpPr txBox="1"/>
          <p:nvPr/>
        </p:nvSpPr>
        <p:spPr>
          <a:xfrm>
            <a:off x="533400" y="624277"/>
            <a:ext cx="5314275" cy="369332"/>
          </a:xfrm>
          <a:prstGeom prst="rect">
            <a:avLst/>
          </a:prstGeom>
          <a:noFill/>
        </p:spPr>
        <p:txBody>
          <a:bodyPr wrap="none" rtlCol="0">
            <a:spAutoFit/>
          </a:bodyPr>
          <a:lstStyle/>
          <a:p>
            <a:r>
              <a:rPr lang="vi-VN" smtClean="0">
                <a:latin typeface="Arial" panose="020B0604020202020204" pitchFamily="34" charset="0"/>
                <a:cs typeface="Arial" panose="020B0604020202020204" pitchFamily="34" charset="0"/>
              </a:rPr>
              <a:t>Chuột phải để copy Graph đưa vào báo cáo nhé ạ</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59892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2</a:t>
            </a:r>
            <a:endParaRPr lang="en-US"/>
          </a:p>
        </p:txBody>
      </p:sp>
      <p:sp>
        <p:nvSpPr>
          <p:cNvPr id="6" name="TextBox 5"/>
          <p:cNvSpPr txBox="1"/>
          <p:nvPr/>
        </p:nvSpPr>
        <p:spPr>
          <a:xfrm>
            <a:off x="533400" y="624277"/>
            <a:ext cx="6936514" cy="646331"/>
          </a:xfrm>
          <a:prstGeom prst="rect">
            <a:avLst/>
          </a:prstGeom>
          <a:noFill/>
        </p:spPr>
        <p:txBody>
          <a:bodyPr wrap="none" rtlCol="0">
            <a:spAutoFit/>
          </a:bodyPr>
          <a:lstStyle/>
          <a:p>
            <a:r>
              <a:rPr lang="vi-VN" smtClean="0">
                <a:latin typeface="Arial" panose="020B0604020202020204" pitchFamily="34" charset="0"/>
                <a:cs typeface="Arial" panose="020B0604020202020204" pitchFamily="34" charset="0"/>
              </a:rPr>
              <a:t>Type 2 thực hiện với 3 người đo, 10 mẫu và mỗi mẫu lặp lại 3 lần</a:t>
            </a:r>
          </a:p>
          <a:p>
            <a:r>
              <a:rPr lang="vi-VN" smtClean="0">
                <a:latin typeface="Arial" panose="020B0604020202020204" pitchFamily="34" charset="0"/>
                <a:cs typeface="Arial" panose="020B0604020202020204" pitchFamily="34" charset="0"/>
              </a:rPr>
              <a:t>Bước này là bước chồng data để minitab có thể hiểu và chạy thôi.</a:t>
            </a:r>
            <a:endParaRPr lang="en-US">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3"/>
          <a:stretch>
            <a:fillRect/>
          </a:stretch>
        </p:blipFill>
        <p:spPr>
          <a:xfrm>
            <a:off x="533400" y="1307068"/>
            <a:ext cx="8686800" cy="5136542"/>
          </a:xfrm>
          <a:prstGeom prst="rect">
            <a:avLst/>
          </a:prstGeom>
        </p:spPr>
      </p:pic>
      <p:sp>
        <p:nvSpPr>
          <p:cNvPr id="8" name="TextBox 7"/>
          <p:cNvSpPr txBox="1"/>
          <p:nvPr/>
        </p:nvSpPr>
        <p:spPr>
          <a:xfrm>
            <a:off x="3352800" y="4350694"/>
            <a:ext cx="6324600" cy="600164"/>
          </a:xfrm>
          <a:prstGeom prst="rect">
            <a:avLst/>
          </a:prstGeom>
          <a:noFill/>
        </p:spPr>
        <p:txBody>
          <a:bodyPr wrap="square" rtlCol="0">
            <a:spAutoFit/>
          </a:bodyPr>
          <a:lstStyle/>
          <a:p>
            <a:pPr latinLnBrk="0"/>
            <a:r>
              <a:rPr lang="vi-VN" sz="1100" smtClean="0">
                <a:latin typeface="Arial" panose="020B0604020202020204" pitchFamily="34" charset="0"/>
                <a:cs typeface="Arial" panose="020B0604020202020204" pitchFamily="34" charset="0"/>
              </a:rPr>
              <a:t>Ở đây có 1 tư duy để các bạn có thể áp dụng cho việc thực hiện chạy các tác vụ khác của Mintab là các bạn cứ mở funtion đó trong minitab ra, thì các bạn thấy Minitab lấy dữ liệu theo cột dọc, vì vậy đấy là lí do tại sao phải chồng data</a:t>
            </a:r>
            <a:endParaRPr lang="en-US" sz="1100">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4"/>
          <a:stretch>
            <a:fillRect/>
          </a:stretch>
        </p:blipFill>
        <p:spPr>
          <a:xfrm>
            <a:off x="6248400" y="5040445"/>
            <a:ext cx="5210175" cy="3635109"/>
          </a:xfrm>
          <a:prstGeom prst="rect">
            <a:avLst/>
          </a:prstGeom>
        </p:spPr>
      </p:pic>
      <p:graphicFrame>
        <p:nvGraphicFramePr>
          <p:cNvPr id="10" name="Object 9"/>
          <p:cNvGraphicFramePr>
            <a:graphicFrameLocks noChangeAspect="1"/>
          </p:cNvGraphicFramePr>
          <p:nvPr>
            <p:extLst>
              <p:ext uri="{D42A27DB-BD31-4B8C-83A1-F6EECF244321}">
                <p14:modId xmlns:p14="http://schemas.microsoft.com/office/powerpoint/2010/main" val="1001722451"/>
              </p:ext>
            </p:extLst>
          </p:nvPr>
        </p:nvGraphicFramePr>
        <p:xfrm>
          <a:off x="3863058" y="5257800"/>
          <a:ext cx="1590228" cy="1341755"/>
        </p:xfrm>
        <a:graphic>
          <a:graphicData uri="http://schemas.openxmlformats.org/presentationml/2006/ole">
            <mc:AlternateContent xmlns:mc="http://schemas.openxmlformats.org/markup-compatibility/2006">
              <mc:Choice xmlns:v="urn:schemas-microsoft-com:vml" Requires="v">
                <p:oleObj spid="_x0000_s2056" name="Worksheet" showAsIcon="1" r:id="rId6" imgW="914400" imgH="771480" progId="Excel.Sheet.12">
                  <p:embed/>
                </p:oleObj>
              </mc:Choice>
              <mc:Fallback>
                <p:oleObj name="Worksheet" showAsIcon="1" r:id="rId6" imgW="914400" imgH="771480" progId="Excel.Sheet.12">
                  <p:embed/>
                  <p:pic>
                    <p:nvPicPr>
                      <p:cNvPr id="0" name=""/>
                      <p:cNvPicPr/>
                      <p:nvPr/>
                    </p:nvPicPr>
                    <p:blipFill>
                      <a:blip r:embed="rId7"/>
                      <a:stretch>
                        <a:fillRect/>
                      </a:stretch>
                    </p:blipFill>
                    <p:spPr>
                      <a:xfrm>
                        <a:off x="3863058" y="5257800"/>
                        <a:ext cx="1590228" cy="1341755"/>
                      </a:xfrm>
                      <a:prstGeom prst="rect">
                        <a:avLst/>
                      </a:prstGeom>
                    </p:spPr>
                  </p:pic>
                </p:oleObj>
              </mc:Fallback>
            </mc:AlternateContent>
          </a:graphicData>
        </a:graphic>
      </p:graphicFrame>
    </p:spTree>
    <p:extLst>
      <p:ext uri="{BB962C8B-B14F-4D97-AF65-F5344CB8AC3E}">
        <p14:creationId xmlns:p14="http://schemas.microsoft.com/office/powerpoint/2010/main" val="28107152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2</a:t>
            </a:r>
            <a:endParaRPr lang="en-US"/>
          </a:p>
        </p:txBody>
      </p:sp>
      <p:sp>
        <p:nvSpPr>
          <p:cNvPr id="6" name="TextBox 5"/>
          <p:cNvSpPr txBox="1"/>
          <p:nvPr/>
        </p:nvSpPr>
        <p:spPr>
          <a:xfrm>
            <a:off x="169835" y="609600"/>
            <a:ext cx="7093609" cy="646331"/>
          </a:xfrm>
          <a:prstGeom prst="rect">
            <a:avLst/>
          </a:prstGeom>
          <a:noFill/>
        </p:spPr>
        <p:txBody>
          <a:bodyPr wrap="none" rtlCol="0">
            <a:spAutoFit/>
          </a:bodyPr>
          <a:lstStyle/>
          <a:p>
            <a:r>
              <a:rPr lang="vi-VN" smtClean="0">
                <a:latin typeface="Arial" panose="020B0604020202020204" pitchFamily="34" charset="0"/>
                <a:cs typeface="Arial" panose="020B0604020202020204" pitchFamily="34" charset="0"/>
              </a:rPr>
              <a:t>Thực hiện theo trình tự nhé</a:t>
            </a:r>
          </a:p>
          <a:p>
            <a:r>
              <a:rPr lang="vi-VN" smtClean="0">
                <a:latin typeface="Arial" panose="020B0604020202020204" pitchFamily="34" charset="0"/>
                <a:cs typeface="Arial" panose="020B0604020202020204" pitchFamily="34" charset="0"/>
              </a:rPr>
              <a:t>Cross là cho mẫu có thể tái sử dụng, Nest là gage với mẫu phá hủy</a:t>
            </a:r>
            <a:endParaRPr lang="en-US">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1219200" y="1524000"/>
            <a:ext cx="6877050" cy="5123349"/>
          </a:xfrm>
          <a:prstGeom prst="rect">
            <a:avLst/>
          </a:prstGeom>
        </p:spPr>
      </p:pic>
    </p:spTree>
    <p:extLst>
      <p:ext uri="{BB962C8B-B14F-4D97-AF65-F5344CB8AC3E}">
        <p14:creationId xmlns:p14="http://schemas.microsoft.com/office/powerpoint/2010/main" val="35716227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2</a:t>
            </a:r>
            <a:endParaRPr lang="en-US"/>
          </a:p>
        </p:txBody>
      </p:sp>
      <p:pic>
        <p:nvPicPr>
          <p:cNvPr id="4" name="Picture 3"/>
          <p:cNvPicPr>
            <a:picLocks noChangeAspect="1"/>
          </p:cNvPicPr>
          <p:nvPr/>
        </p:nvPicPr>
        <p:blipFill>
          <a:blip r:embed="rId2"/>
          <a:stretch>
            <a:fillRect/>
          </a:stretch>
        </p:blipFill>
        <p:spPr>
          <a:xfrm>
            <a:off x="381000" y="1524000"/>
            <a:ext cx="9153144" cy="4953000"/>
          </a:xfrm>
          <a:prstGeom prst="rect">
            <a:avLst/>
          </a:prstGeom>
        </p:spPr>
      </p:pic>
      <p:sp>
        <p:nvSpPr>
          <p:cNvPr id="6" name="TextBox 5"/>
          <p:cNvSpPr txBox="1"/>
          <p:nvPr/>
        </p:nvSpPr>
        <p:spPr>
          <a:xfrm>
            <a:off x="77069" y="567680"/>
            <a:ext cx="9825126" cy="1200329"/>
          </a:xfrm>
          <a:prstGeom prst="rect">
            <a:avLst/>
          </a:prstGeom>
          <a:noFill/>
        </p:spPr>
        <p:txBody>
          <a:bodyPr wrap="none" rtlCol="0">
            <a:spAutoFit/>
          </a:bodyPr>
          <a:lstStyle/>
          <a:p>
            <a:r>
              <a:rPr lang="vi-VN" smtClean="0">
                <a:latin typeface="Arial" panose="020B0604020202020204" pitchFamily="34" charset="0"/>
                <a:cs typeface="Arial" panose="020B0604020202020204" pitchFamily="34" charset="0"/>
              </a:rPr>
              <a:t>Thực hiện theo trình tự nhé</a:t>
            </a:r>
          </a:p>
          <a:p>
            <a:r>
              <a:rPr lang="vi-VN" smtClean="0">
                <a:latin typeface="Arial" panose="020B0604020202020204" pitchFamily="34" charset="0"/>
                <a:cs typeface="Arial" panose="020B0604020202020204" pitchFamily="34" charset="0"/>
              </a:rPr>
              <a:t>Chọn data phù hợp với các đối tượng như dưới ảnh</a:t>
            </a:r>
          </a:p>
          <a:p>
            <a:r>
              <a:rPr lang="vi-VN" smtClean="0">
                <a:latin typeface="Arial" panose="020B0604020202020204" pitchFamily="34" charset="0"/>
                <a:cs typeface="Arial" panose="020B0604020202020204" pitchFamily="34" charset="0"/>
              </a:rPr>
              <a:t>Chọn mục Option để có thể điền tổng tolerance (nhớ là click để hiện lên cái chấm đen kia nhé,</a:t>
            </a:r>
          </a:p>
          <a:p>
            <a:r>
              <a:rPr lang="vi-VN" smtClean="0">
                <a:latin typeface="Arial" panose="020B0604020202020204" pitchFamily="34" charset="0"/>
                <a:cs typeface="Arial" panose="020B0604020202020204" pitchFamily="34" charset="0"/>
              </a:rPr>
              <a:t>Sau đó chọn OK</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57593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2</a:t>
            </a:r>
            <a:endParaRPr lang="en-US"/>
          </a:p>
        </p:txBody>
      </p:sp>
      <p:sp>
        <p:nvSpPr>
          <p:cNvPr id="6" name="TextBox 5"/>
          <p:cNvSpPr txBox="1"/>
          <p:nvPr/>
        </p:nvSpPr>
        <p:spPr>
          <a:xfrm>
            <a:off x="77069" y="567680"/>
            <a:ext cx="9068508" cy="646331"/>
          </a:xfrm>
          <a:prstGeom prst="rect">
            <a:avLst/>
          </a:prstGeom>
          <a:noFill/>
        </p:spPr>
        <p:txBody>
          <a:bodyPr wrap="none" rtlCol="0">
            <a:spAutoFit/>
          </a:bodyPr>
          <a:lstStyle/>
          <a:p>
            <a:pPr>
              <a:lnSpc>
                <a:spcPct val="200000"/>
              </a:lnSpc>
            </a:pPr>
            <a:r>
              <a:rPr lang="vi-VN" smtClean="0">
                <a:latin typeface="Arial" panose="020B0604020202020204" pitchFamily="34" charset="0"/>
                <a:cs typeface="Arial" panose="020B0604020202020204" pitchFamily="34" charset="0"/>
              </a:rPr>
              <a:t>Sau đó chọn mục gage infor để điền các thông tin như ngày gage, người gage, spec,...</a:t>
            </a:r>
          </a:p>
        </p:txBody>
      </p:sp>
      <p:pic>
        <p:nvPicPr>
          <p:cNvPr id="3" name="Picture 2"/>
          <p:cNvPicPr>
            <a:picLocks noChangeAspect="1"/>
          </p:cNvPicPr>
          <p:nvPr/>
        </p:nvPicPr>
        <p:blipFill>
          <a:blip r:embed="rId2"/>
          <a:stretch>
            <a:fillRect/>
          </a:stretch>
        </p:blipFill>
        <p:spPr>
          <a:xfrm>
            <a:off x="304800" y="1981200"/>
            <a:ext cx="9302151" cy="4676001"/>
          </a:xfrm>
          <a:prstGeom prst="rect">
            <a:avLst/>
          </a:prstGeom>
        </p:spPr>
      </p:pic>
    </p:spTree>
    <p:extLst>
      <p:ext uri="{BB962C8B-B14F-4D97-AF65-F5344CB8AC3E}">
        <p14:creationId xmlns:p14="http://schemas.microsoft.com/office/powerpoint/2010/main" val="5038121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2</a:t>
            </a:r>
            <a:endParaRPr lang="en-US"/>
          </a:p>
        </p:txBody>
      </p:sp>
      <p:sp>
        <p:nvSpPr>
          <p:cNvPr id="6" name="TextBox 5"/>
          <p:cNvSpPr txBox="1"/>
          <p:nvPr/>
        </p:nvSpPr>
        <p:spPr>
          <a:xfrm>
            <a:off x="77069" y="567680"/>
            <a:ext cx="5904180" cy="646331"/>
          </a:xfrm>
          <a:prstGeom prst="rect">
            <a:avLst/>
          </a:prstGeom>
          <a:noFill/>
        </p:spPr>
        <p:txBody>
          <a:bodyPr wrap="none" rtlCol="0">
            <a:spAutoFit/>
          </a:bodyPr>
          <a:lstStyle/>
          <a:p>
            <a:pPr>
              <a:lnSpc>
                <a:spcPct val="200000"/>
              </a:lnSpc>
            </a:pPr>
            <a:r>
              <a:rPr lang="vi-VN" smtClean="0">
                <a:latin typeface="Arial" panose="020B0604020202020204" pitchFamily="34" charset="0"/>
                <a:cs typeface="Arial" panose="020B0604020202020204" pitchFamily="34" charset="0"/>
              </a:rPr>
              <a:t>Sau khi chạy xong màn hình mintab sẽ hiện thị như trên</a:t>
            </a:r>
          </a:p>
        </p:txBody>
      </p:sp>
      <p:pic>
        <p:nvPicPr>
          <p:cNvPr id="4" name="Picture 3"/>
          <p:cNvPicPr>
            <a:picLocks noChangeAspect="1"/>
          </p:cNvPicPr>
          <p:nvPr/>
        </p:nvPicPr>
        <p:blipFill>
          <a:blip r:embed="rId2"/>
          <a:stretch>
            <a:fillRect/>
          </a:stretch>
        </p:blipFill>
        <p:spPr>
          <a:xfrm>
            <a:off x="77069" y="1600199"/>
            <a:ext cx="4875931" cy="4350831"/>
          </a:xfrm>
          <a:prstGeom prst="rect">
            <a:avLst/>
          </a:prstGeom>
        </p:spPr>
      </p:pic>
      <p:pic>
        <p:nvPicPr>
          <p:cNvPr id="8" name="Picture 7"/>
          <p:cNvPicPr>
            <a:picLocks noChangeAspect="1"/>
          </p:cNvPicPr>
          <p:nvPr/>
        </p:nvPicPr>
        <p:blipFill>
          <a:blip r:embed="rId3"/>
          <a:stretch>
            <a:fillRect/>
          </a:stretch>
        </p:blipFill>
        <p:spPr>
          <a:xfrm>
            <a:off x="4981594" y="1600199"/>
            <a:ext cx="4922835" cy="4350831"/>
          </a:xfrm>
          <a:prstGeom prst="rect">
            <a:avLst/>
          </a:prstGeom>
        </p:spPr>
      </p:pic>
    </p:spTree>
    <p:extLst>
      <p:ext uri="{BB962C8B-B14F-4D97-AF65-F5344CB8AC3E}">
        <p14:creationId xmlns:p14="http://schemas.microsoft.com/office/powerpoint/2010/main" val="1463177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Type 2</a:t>
            </a:r>
            <a:endParaRPr lang="en-US"/>
          </a:p>
        </p:txBody>
      </p:sp>
      <p:pic>
        <p:nvPicPr>
          <p:cNvPr id="3" name="Picture 2"/>
          <p:cNvPicPr>
            <a:picLocks noChangeAspect="1"/>
          </p:cNvPicPr>
          <p:nvPr/>
        </p:nvPicPr>
        <p:blipFill>
          <a:blip r:embed="rId2"/>
          <a:stretch>
            <a:fillRect/>
          </a:stretch>
        </p:blipFill>
        <p:spPr>
          <a:xfrm>
            <a:off x="2057400" y="1600200"/>
            <a:ext cx="6325469" cy="4834179"/>
          </a:xfrm>
          <a:prstGeom prst="rect">
            <a:avLst/>
          </a:prstGeom>
        </p:spPr>
      </p:pic>
      <p:sp>
        <p:nvSpPr>
          <p:cNvPr id="6" name="TextBox 5"/>
          <p:cNvSpPr txBox="1"/>
          <p:nvPr/>
        </p:nvSpPr>
        <p:spPr>
          <a:xfrm>
            <a:off x="77069" y="567680"/>
            <a:ext cx="8866530" cy="1200329"/>
          </a:xfrm>
          <a:prstGeom prst="rect">
            <a:avLst/>
          </a:prstGeom>
          <a:solidFill>
            <a:srgbClr val="C3FDC9"/>
          </a:solidFill>
        </p:spPr>
        <p:txBody>
          <a:bodyPr wrap="none" rtlCol="0">
            <a:spAutoFit/>
          </a:bodyPr>
          <a:lstStyle/>
          <a:p>
            <a:r>
              <a:rPr lang="vi-VN" smtClean="0">
                <a:latin typeface="Arial" panose="020B0604020202020204" pitchFamily="34" charset="0"/>
                <a:cs typeface="Arial" panose="020B0604020202020204" pitchFamily="34" charset="0"/>
              </a:rPr>
              <a:t>Sau khi gage xong, copy và trình bày như slide 1 nhé ạ</a:t>
            </a:r>
          </a:p>
          <a:p>
            <a:r>
              <a:rPr lang="vi-VN" smtClean="0">
                <a:latin typeface="Arial" panose="020B0604020202020204" pitchFamily="34" charset="0"/>
                <a:cs typeface="Arial" panose="020B0604020202020204" pitchFamily="34" charset="0"/>
              </a:rPr>
              <a:t>Chuột phải vào đối tượng và chọn Copy Graph</a:t>
            </a:r>
          </a:p>
          <a:p>
            <a:r>
              <a:rPr lang="vi-VN" smtClean="0">
                <a:latin typeface="Arial" panose="020B0604020202020204" pitchFamily="34" charset="0"/>
                <a:cs typeface="Arial" panose="020B0604020202020204" pitchFamily="34" charset="0"/>
              </a:rPr>
              <a:t>Ngoài ra muốn quan lại thì Ctrl + E nhé ạ  (Mình nghĩ cái này là cái các bạn cần =)) ) </a:t>
            </a:r>
          </a:p>
          <a:p>
            <a:r>
              <a:rPr lang="vi-VN" smtClean="0">
                <a:latin typeface="Arial" panose="020B0604020202020204" pitchFamily="34" charset="0"/>
                <a:cs typeface="Arial" panose="020B0604020202020204" pitchFamily="34" charset="0"/>
              </a:rPr>
              <a:t>Hãy nhớ Ctrl + E để quay lại tab hiệu chỉnh ạ</a:t>
            </a:r>
          </a:p>
        </p:txBody>
      </p:sp>
    </p:spTree>
    <p:extLst>
      <p:ext uri="{BB962C8B-B14F-4D97-AF65-F5344CB8AC3E}">
        <p14:creationId xmlns:p14="http://schemas.microsoft.com/office/powerpoint/2010/main" val="19065129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Control chart</a:t>
            </a:r>
            <a:endParaRPr lang="en-US"/>
          </a:p>
        </p:txBody>
      </p:sp>
      <p:pic>
        <p:nvPicPr>
          <p:cNvPr id="3" name="Picture 2"/>
          <p:cNvPicPr>
            <a:picLocks noChangeAspect="1"/>
          </p:cNvPicPr>
          <p:nvPr/>
        </p:nvPicPr>
        <p:blipFill>
          <a:blip r:embed="rId2"/>
          <a:stretch>
            <a:fillRect/>
          </a:stretch>
        </p:blipFill>
        <p:spPr>
          <a:xfrm>
            <a:off x="990600" y="838200"/>
            <a:ext cx="8092882" cy="5804274"/>
          </a:xfrm>
          <a:prstGeom prst="rect">
            <a:avLst/>
          </a:prstGeom>
        </p:spPr>
      </p:pic>
    </p:spTree>
    <p:extLst>
      <p:ext uri="{BB962C8B-B14F-4D97-AF65-F5344CB8AC3E}">
        <p14:creationId xmlns:p14="http://schemas.microsoft.com/office/powerpoint/2010/main" val="23776849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Control chart</a:t>
            </a:r>
            <a:endParaRPr lang="en-US"/>
          </a:p>
        </p:txBody>
      </p:sp>
      <p:pic>
        <p:nvPicPr>
          <p:cNvPr id="4" name="Picture 3"/>
          <p:cNvPicPr>
            <a:picLocks noChangeAspect="1"/>
          </p:cNvPicPr>
          <p:nvPr/>
        </p:nvPicPr>
        <p:blipFill rotWithShape="1">
          <a:blip r:embed="rId2"/>
          <a:srcRect l="17897" r="44519"/>
          <a:stretch/>
        </p:blipFill>
        <p:spPr>
          <a:xfrm>
            <a:off x="152400" y="609600"/>
            <a:ext cx="3200400" cy="6148637"/>
          </a:xfrm>
          <a:prstGeom prst="rect">
            <a:avLst/>
          </a:prstGeom>
        </p:spPr>
      </p:pic>
      <p:pic>
        <p:nvPicPr>
          <p:cNvPr id="5" name="Picture 4"/>
          <p:cNvPicPr>
            <a:picLocks noChangeAspect="1"/>
          </p:cNvPicPr>
          <p:nvPr/>
        </p:nvPicPr>
        <p:blipFill>
          <a:blip r:embed="rId3"/>
          <a:stretch>
            <a:fillRect/>
          </a:stretch>
        </p:blipFill>
        <p:spPr>
          <a:xfrm>
            <a:off x="3886200" y="609600"/>
            <a:ext cx="5105400" cy="6155354"/>
          </a:xfrm>
          <a:prstGeom prst="rect">
            <a:avLst/>
          </a:prstGeom>
        </p:spPr>
      </p:pic>
    </p:spTree>
    <p:extLst>
      <p:ext uri="{BB962C8B-B14F-4D97-AF65-F5344CB8AC3E}">
        <p14:creationId xmlns:p14="http://schemas.microsoft.com/office/powerpoint/2010/main" val="16281353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Control chart</a:t>
            </a:r>
            <a:endParaRPr lang="en-US"/>
          </a:p>
        </p:txBody>
      </p:sp>
      <p:pic>
        <p:nvPicPr>
          <p:cNvPr id="3" name="Picture 2"/>
          <p:cNvPicPr>
            <a:picLocks noChangeAspect="1"/>
          </p:cNvPicPr>
          <p:nvPr/>
        </p:nvPicPr>
        <p:blipFill>
          <a:blip r:embed="rId2"/>
          <a:stretch>
            <a:fillRect/>
          </a:stretch>
        </p:blipFill>
        <p:spPr>
          <a:xfrm>
            <a:off x="304800" y="685800"/>
            <a:ext cx="3276600" cy="2671820"/>
          </a:xfrm>
          <a:prstGeom prst="rect">
            <a:avLst/>
          </a:prstGeom>
        </p:spPr>
      </p:pic>
      <p:pic>
        <p:nvPicPr>
          <p:cNvPr id="6" name="Picture 5"/>
          <p:cNvPicPr>
            <a:picLocks noChangeAspect="1"/>
          </p:cNvPicPr>
          <p:nvPr/>
        </p:nvPicPr>
        <p:blipFill>
          <a:blip r:embed="rId3"/>
          <a:stretch>
            <a:fillRect/>
          </a:stretch>
        </p:blipFill>
        <p:spPr>
          <a:xfrm>
            <a:off x="3657600" y="685800"/>
            <a:ext cx="3206184" cy="2671820"/>
          </a:xfrm>
          <a:prstGeom prst="rect">
            <a:avLst/>
          </a:prstGeom>
        </p:spPr>
      </p:pic>
      <p:pic>
        <p:nvPicPr>
          <p:cNvPr id="7" name="Picture 6"/>
          <p:cNvPicPr>
            <a:picLocks noChangeAspect="1"/>
          </p:cNvPicPr>
          <p:nvPr/>
        </p:nvPicPr>
        <p:blipFill>
          <a:blip r:embed="rId4"/>
          <a:stretch>
            <a:fillRect/>
          </a:stretch>
        </p:blipFill>
        <p:spPr>
          <a:xfrm>
            <a:off x="5410200" y="3429000"/>
            <a:ext cx="4111258" cy="3324225"/>
          </a:xfrm>
          <a:prstGeom prst="rect">
            <a:avLst/>
          </a:prstGeom>
        </p:spPr>
      </p:pic>
    </p:spTree>
    <p:extLst>
      <p:ext uri="{BB962C8B-B14F-4D97-AF65-F5344CB8AC3E}">
        <p14:creationId xmlns:p14="http://schemas.microsoft.com/office/powerpoint/2010/main" val="4142016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a:t>
            </a:r>
            <a:r>
              <a:rPr lang="vi-VN" smtClean="0"/>
              <a:t>type 6</a:t>
            </a:r>
            <a:endParaRPr lang="en-US"/>
          </a:p>
        </p:txBody>
      </p:sp>
      <p:pic>
        <p:nvPicPr>
          <p:cNvPr id="4" name="Picture 3"/>
          <p:cNvPicPr>
            <a:picLocks noChangeAspect="1"/>
          </p:cNvPicPr>
          <p:nvPr/>
        </p:nvPicPr>
        <p:blipFill>
          <a:blip r:embed="rId2"/>
          <a:stretch>
            <a:fillRect/>
          </a:stretch>
        </p:blipFill>
        <p:spPr>
          <a:xfrm>
            <a:off x="229047" y="685800"/>
            <a:ext cx="9524553" cy="5755980"/>
          </a:xfrm>
          <a:prstGeom prst="rect">
            <a:avLst/>
          </a:prstGeom>
        </p:spPr>
      </p:pic>
    </p:spTree>
    <p:extLst>
      <p:ext uri="{BB962C8B-B14F-4D97-AF65-F5344CB8AC3E}">
        <p14:creationId xmlns:p14="http://schemas.microsoft.com/office/powerpoint/2010/main" val="42287951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Guide chi tiết </a:t>
            </a:r>
            <a:r>
              <a:rPr lang="vi-VN" smtClean="0"/>
              <a:t>type 6</a:t>
            </a:r>
            <a:endParaRPr lang="en-US"/>
          </a:p>
        </p:txBody>
      </p:sp>
      <p:pic>
        <p:nvPicPr>
          <p:cNvPr id="3" name="Picture 2"/>
          <p:cNvPicPr>
            <a:picLocks noChangeAspect="1"/>
          </p:cNvPicPr>
          <p:nvPr/>
        </p:nvPicPr>
        <p:blipFill>
          <a:blip r:embed="rId2"/>
          <a:stretch>
            <a:fillRect/>
          </a:stretch>
        </p:blipFill>
        <p:spPr>
          <a:xfrm>
            <a:off x="200472" y="609600"/>
            <a:ext cx="6172200" cy="5988597"/>
          </a:xfrm>
          <a:prstGeom prst="rect">
            <a:avLst/>
          </a:prstGeom>
        </p:spPr>
      </p:pic>
      <p:pic>
        <p:nvPicPr>
          <p:cNvPr id="5" name="Picture 4"/>
          <p:cNvPicPr>
            <a:picLocks noChangeAspect="1"/>
          </p:cNvPicPr>
          <p:nvPr/>
        </p:nvPicPr>
        <p:blipFill>
          <a:blip r:embed="rId3"/>
          <a:stretch>
            <a:fillRect/>
          </a:stretch>
        </p:blipFill>
        <p:spPr>
          <a:xfrm>
            <a:off x="4686747" y="1143000"/>
            <a:ext cx="4953000" cy="4191000"/>
          </a:xfrm>
          <a:prstGeom prst="rect">
            <a:avLst/>
          </a:prstGeom>
        </p:spPr>
      </p:pic>
    </p:spTree>
    <p:extLst>
      <p:ext uri="{BB962C8B-B14F-4D97-AF65-F5344CB8AC3E}">
        <p14:creationId xmlns:p14="http://schemas.microsoft.com/office/powerpoint/2010/main" val="3102255739"/>
      </p:ext>
    </p:extLst>
  </p:cSld>
  <p:clrMapOvr>
    <a:masterClrMapping/>
  </p:clrMapOvr>
  <p:timing>
    <p:tnLst>
      <p:par>
        <p:cTn id="1" dur="indefinite" restart="never" nodeType="tmRoot"/>
      </p:par>
    </p:tnLst>
  </p:timing>
</p:sld>
</file>

<file path=ppt/theme/theme1.xml><?xml version="1.0" encoding="utf-8"?>
<a:theme xmlns:a="http://schemas.openxmlformats.org/drawingml/2006/main" name="3_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Arial" charset="0"/>
            <a:ea typeface="돋움" pitchFamily="50" charset="-127"/>
          </a:defRPr>
        </a:defPPr>
      </a:lstStyle>
    </a:spDef>
    <a:lnDef>
      <a:spPr bwMode="auto">
        <a:noFill/>
        <a:ln w="9525" cap="flat" cmpd="sng" algn="ctr">
          <a:solidFill>
            <a:srgbClr val="C00000"/>
          </a:solidFill>
          <a:prstDash val="solid"/>
          <a:round/>
          <a:headEnd type="none" w="med" len="med"/>
          <a:tailEnd type="triangle" w="med" len="med"/>
        </a:ln>
        <a:effectLst/>
      </a:spPr>
      <a:body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70671</TotalTime>
  <Words>1467</Words>
  <Application>Microsoft Office PowerPoint</Application>
  <PresentationFormat>A4 Paper (210x297 mm)</PresentationFormat>
  <Paragraphs>421</Paragraphs>
  <Slides>17</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8" baseType="lpstr">
      <vt:lpstr>돋움</vt:lpstr>
      <vt:lpstr>굴림</vt:lpstr>
      <vt:lpstr>LG Smart_H Regular</vt:lpstr>
      <vt:lpstr>맑은 고딕</vt:lpstr>
      <vt:lpstr>현대하모니 L</vt:lpstr>
      <vt:lpstr>Arial</vt:lpstr>
      <vt:lpstr>Arial Narrow</vt:lpstr>
      <vt:lpstr>Calibri</vt:lpstr>
      <vt:lpstr>Wingdings</vt:lpstr>
      <vt:lpstr>3_디자인 사용자 지정</vt:lpstr>
      <vt:lpstr>Worksheet</vt:lpstr>
      <vt:lpstr>% Resolution &amp; Type 1 study</vt:lpstr>
      <vt:lpstr>Gage R&amp;R type 2 study</vt:lpstr>
      <vt:lpstr>% Resolution &amp; Type 1 study</vt:lpstr>
      <vt:lpstr>Guide chi tiết Type 1</vt:lpstr>
      <vt:lpstr>Guide chi tiết Type 1</vt:lpstr>
      <vt:lpstr>Guide chi tiết Type 1</vt:lpstr>
      <vt:lpstr>Guide chi tiết Type 2</vt:lpstr>
      <vt:lpstr>Guide chi tiết Type 2</vt:lpstr>
      <vt:lpstr>Guide chi tiết Type 2</vt:lpstr>
      <vt:lpstr>Guide chi tiết Type 2</vt:lpstr>
      <vt:lpstr>Guide chi tiết Type 2</vt:lpstr>
      <vt:lpstr>Guide chi tiết Type 2</vt:lpstr>
      <vt:lpstr>Guide chi tiết Control chart</vt:lpstr>
      <vt:lpstr>Guide chi tiết Control chart</vt:lpstr>
      <vt:lpstr>Guide chi tiết Control chart</vt:lpstr>
      <vt:lpstr>Guide chi tiết type 6</vt:lpstr>
      <vt:lpstr>Guide chi tiết type 6</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Bery</dc:creator>
  <cp:lastModifiedBy>HIEU DUC TRINH/LGEVH IVI SQC Part(hieu.trinh@lge.com)</cp:lastModifiedBy>
  <cp:revision>3346</cp:revision>
  <cp:lastPrinted>2019-11-06T07:59:13Z</cp:lastPrinted>
  <dcterms:created xsi:type="dcterms:W3CDTF">2013-07-05T02:04:59Z</dcterms:created>
  <dcterms:modified xsi:type="dcterms:W3CDTF">2025-08-15T09:10:24Z</dcterms:modified>
</cp:coreProperties>
</file>