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6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71" r:id="rId13"/>
    <p:sldId id="272" r:id="rId14"/>
    <p:sldId id="278" r:id="rId15"/>
    <p:sldId id="280" r:id="rId16"/>
    <p:sldId id="281" r:id="rId17"/>
    <p:sldId id="282" r:id="rId18"/>
    <p:sldId id="274" r:id="rId19"/>
    <p:sldId id="273" r:id="rId20"/>
    <p:sldId id="275" r:id="rId21"/>
    <p:sldId id="279" r:id="rId22"/>
    <p:sldId id="283" r:id="rId23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6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4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0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4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8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6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3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0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9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7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65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CA531-75B6-440C-86AC-4DDAD2DFA3C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94E5D-C0AA-4F58-8630-2FCF803BD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1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alculator, pen, compass, money and a paper with graphs printed on it">
            <a:extLst>
              <a:ext uri="{FF2B5EF4-FFF2-40B4-BE49-F238E27FC236}">
                <a16:creationId xmlns:a16="http://schemas.microsoft.com/office/drawing/2014/main" id="{5789EFCE-BC69-20E0-027B-65751DBB2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2" t="6484" r="27602" b="-1"/>
          <a:stretch>
            <a:fillRect/>
          </a:stretch>
        </p:blipFill>
        <p:spPr>
          <a:xfrm>
            <a:off x="2862834" y="10"/>
            <a:ext cx="7043166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27238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44272" y="1342781"/>
            <a:ext cx="326898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dirty="0">
                <a:solidFill>
                  <a:srgbClr val="C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</a:t>
            </a:r>
            <a:r>
              <a:rPr lang="en-US" sz="43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tatistical</a:t>
            </a:r>
            <a:r>
              <a:rPr lang="en-US" sz="4300" b="1" dirty="0">
                <a:solidFill>
                  <a:srgbClr val="C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P</a:t>
            </a:r>
            <a:r>
              <a:rPr lang="en-US" sz="43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rocess</a:t>
            </a:r>
            <a:r>
              <a:rPr lang="en-US" sz="4300" b="1" dirty="0">
                <a:solidFill>
                  <a:srgbClr val="C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C</a:t>
            </a:r>
            <a:r>
              <a:rPr lang="en-US" sz="43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ontrol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720" y="412799"/>
            <a:ext cx="146304" cy="572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0836" y="4546920"/>
            <a:ext cx="323183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6FAC49A5-495E-6C8D-C53A-765A686D0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07" y="4765532"/>
            <a:ext cx="2558928" cy="1124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158603-1012-8CA5-9428-5D9F2FE231A7}"/>
              </a:ext>
            </a:extLst>
          </p:cNvPr>
          <p:cNvSpPr/>
          <p:nvPr/>
        </p:nvSpPr>
        <p:spPr>
          <a:xfrm>
            <a:off x="276045" y="625683"/>
            <a:ext cx="823912" cy="146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6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7E48D-F690-0D52-79A8-BDB8D906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E7DD2C-3CB5-E163-3580-4DD28BD929A4}"/>
              </a:ext>
            </a:extLst>
          </p:cNvPr>
          <p:cNvSpPr txBox="1"/>
          <p:nvPr/>
        </p:nvSpPr>
        <p:spPr>
          <a:xfrm>
            <a:off x="1923965" y="389771"/>
            <a:ext cx="6058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Process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F3988-EBFE-0D34-CC93-28B50FCA850A}"/>
              </a:ext>
            </a:extLst>
          </p:cNvPr>
          <p:cNvSpPr txBox="1"/>
          <p:nvPr/>
        </p:nvSpPr>
        <p:spPr>
          <a:xfrm>
            <a:off x="825259" y="2830425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BF410-8099-A7A8-05D9-00CFEFB6C14D}"/>
              </a:ext>
            </a:extLst>
          </p:cNvPr>
          <p:cNvSpPr txBox="1"/>
          <p:nvPr/>
        </p:nvSpPr>
        <p:spPr>
          <a:xfrm>
            <a:off x="5413027" y="2830426"/>
            <a:ext cx="4237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capability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95F23-AFD9-17DB-A68A-33D306541431}"/>
              </a:ext>
            </a:extLst>
          </p:cNvPr>
          <p:cNvSpPr txBox="1"/>
          <p:nvPr/>
        </p:nvSpPr>
        <p:spPr>
          <a:xfrm>
            <a:off x="1854678" y="1135956"/>
            <a:ext cx="66797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Định </a:t>
            </a:r>
            <a:r>
              <a:rPr lang="en-US" b="1" dirty="0" err="1">
                <a:latin typeface="Arial Narrow" panose="020B0606020202030204" pitchFamily="34" charset="0"/>
              </a:rPr>
              <a:t>nghĩa</a:t>
            </a:r>
            <a:r>
              <a:rPr lang="en-US" b="1" dirty="0">
                <a:latin typeface="Arial Narrow" panose="020B0606020202030204" pitchFamily="34" charset="0"/>
              </a:rPr>
              <a:t>:</a:t>
            </a:r>
          </a:p>
          <a:p>
            <a:r>
              <a:rPr lang="en-US" dirty="0">
                <a:latin typeface="Arial Narrow" panose="020B0606020202030204" pitchFamily="34" charset="0"/>
              </a:rPr>
              <a:t>SPC </a:t>
            </a:r>
            <a:r>
              <a:rPr lang="en-US" dirty="0" err="1">
                <a:latin typeface="Arial Narrow" panose="020B0606020202030204" pitchFamily="34" charset="0"/>
              </a:rPr>
              <a:t>là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công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cụ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để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theo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dõi</a:t>
            </a:r>
            <a:r>
              <a:rPr lang="en-US" dirty="0">
                <a:latin typeface="Arial Narrow" panose="020B0606020202030204" pitchFamily="34" charset="0"/>
              </a:rPr>
              <a:t> dao </a:t>
            </a:r>
            <a:r>
              <a:rPr lang="en-US" dirty="0" err="1">
                <a:latin typeface="Arial Narrow" panose="020B0606020202030204" pitchFamily="34" charset="0"/>
              </a:rPr>
              <a:t>động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của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thông</a:t>
            </a:r>
            <a:r>
              <a:rPr lang="en-US" dirty="0">
                <a:latin typeface="Arial Narrow" panose="020B0606020202030204" pitchFamily="34" charset="0"/>
              </a:rPr>
              <a:t> qua </a:t>
            </a:r>
            <a:r>
              <a:rPr lang="en-US" dirty="0" err="1">
                <a:latin typeface="Arial Narrow" panose="020B0606020202030204" pitchFamily="34" charset="0"/>
              </a:rPr>
              <a:t>phương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pháp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thống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kê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đó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kiểm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soát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được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trình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sản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phẩm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và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xác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định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được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các</a:t>
            </a:r>
            <a:r>
              <a:rPr lang="en-US" dirty="0">
                <a:latin typeface="Arial Narrow" panose="020B0606020202030204" pitchFamily="34" charset="0"/>
              </a:rPr>
              <a:t> xu </a:t>
            </a:r>
            <a:r>
              <a:rPr lang="en-US" dirty="0" err="1">
                <a:latin typeface="Arial Narrow" panose="020B0606020202030204" pitchFamily="34" charset="0"/>
              </a:rPr>
              <a:t>hướng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của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chúng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7B0CE-61FE-0EA5-E28E-A177F5BC2995}"/>
              </a:ext>
            </a:extLst>
          </p:cNvPr>
          <p:cNvSpPr txBox="1"/>
          <p:nvPr/>
        </p:nvSpPr>
        <p:spPr>
          <a:xfrm>
            <a:off x="213898" y="3774043"/>
            <a:ext cx="46082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Định </a:t>
            </a:r>
            <a:r>
              <a:rPr lang="en-US" b="1" dirty="0" err="1">
                <a:latin typeface="Arial Narrow" panose="020B0606020202030204" pitchFamily="34" charset="0"/>
              </a:rPr>
              <a:t>nghĩa</a:t>
            </a:r>
            <a:r>
              <a:rPr lang="en-US" b="1" dirty="0">
                <a:latin typeface="Arial Narrow" panose="020B0606020202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 Narrow" panose="020B0606020202030204" pitchFamily="34" charset="0"/>
              </a:rPr>
              <a:t>Biểu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đồ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kiểm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soát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là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một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công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cụ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xác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suất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thống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kê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được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sử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dụng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để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kiểm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soát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sản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phẩm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và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chế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tạo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 Narrow" panose="020B0606020202030204" pitchFamily="34" charset="0"/>
              </a:rPr>
              <a:t>Biểu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đồ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kiểm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soát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giúp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đánh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giá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và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xác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định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xem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liệu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một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có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được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thực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hiện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trong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trạng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thái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được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kiểm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soát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không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đồng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thời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giúp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duy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trạng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thái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kiểm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soát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về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mặt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thống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kê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FC2D0-B7D7-1EAA-99B9-B6DE54E21BFD}"/>
              </a:ext>
            </a:extLst>
          </p:cNvPr>
          <p:cNvSpPr txBox="1"/>
          <p:nvPr/>
        </p:nvSpPr>
        <p:spPr>
          <a:xfrm>
            <a:off x="5041816" y="3784643"/>
            <a:ext cx="46082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Định </a:t>
            </a:r>
            <a:r>
              <a:rPr lang="en-US" b="1" dirty="0" err="1">
                <a:latin typeface="Arial Narrow" panose="020B0606020202030204" pitchFamily="34" charset="0"/>
              </a:rPr>
              <a:t>nghĩa</a:t>
            </a:r>
            <a:r>
              <a:rPr lang="en-US" b="1" dirty="0">
                <a:latin typeface="Arial Narrow" panose="020B0606020202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 Narrow" panose="020B0606020202030204" pitchFamily="34" charset="0"/>
              </a:rPr>
              <a:t>Là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khoảng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biến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động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tối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đa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sẵn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có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của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một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ổn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định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 Narrow" panose="020B0606020202030204" pitchFamily="34" charset="0"/>
              </a:rPr>
              <a:t>Trước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khi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tính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chỉ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số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năng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lực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thì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phải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đảm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bảo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rằng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quá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trình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đó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là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ổn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định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6956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376585" y="593411"/>
            <a:ext cx="3836307" cy="380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102870" tIns="51435" rIns="102870" bIns="51435">
            <a:spAutoFit/>
          </a:bodyPr>
          <a:lstStyle>
            <a:defPPr>
              <a:defRPr lang="ko-KR"/>
            </a:defPPr>
            <a:lvl1pPr defTabSz="1028700" eaLnBrk="0" latinLnBrk="0" hangingPunct="0">
              <a:defRPr kumimoji="0" sz="1800" b="1">
                <a:solidFill>
                  <a:srgbClr val="000000"/>
                </a:solidFill>
                <a:latin typeface="+mn-ea"/>
                <a:ea typeface="+mn-ea"/>
              </a:defRPr>
            </a:lvl1pPr>
            <a:lvl2pPr marL="514350" defTabSz="1028700">
              <a:defRPr sz="2400">
                <a:latin typeface="Times New Roman" pitchFamily="18" charset="0"/>
              </a:defRPr>
            </a:lvl2pPr>
            <a:lvl3pPr marL="1028700" defTabSz="1028700">
              <a:defRPr sz="2400">
                <a:latin typeface="Times New Roman" pitchFamily="18" charset="0"/>
              </a:defRPr>
            </a:lvl3pPr>
            <a:lvl4pPr marL="1543050" defTabSz="1028700">
              <a:defRPr sz="2400">
                <a:latin typeface="Times New Roman" pitchFamily="18" charset="0"/>
              </a:defRPr>
            </a:lvl4pPr>
            <a:lvl5pPr marL="2057400" defTabSz="1028700">
              <a:defRPr sz="2400">
                <a:latin typeface="Times New Roman" pitchFamily="18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ko-KR" dirty="0" err="1">
                <a:latin typeface="arial" pitchFamily="34" charset="0"/>
              </a:rPr>
              <a:t>Định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nghĩa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về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biểu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đồ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kiểm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soát</a:t>
            </a:r>
            <a:endParaRPr lang="ko-KR" altLang="en-US" dirty="0">
              <a:latin typeface="arial" pitchFamily="34" charset="0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351696" y="1108849"/>
            <a:ext cx="9168247" cy="293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112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112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112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112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112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vi-VN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맑은 고딕" pitchFamily="50" charset="-127"/>
              </a:rPr>
              <a:t>Biểu đồ kiểm soát </a:t>
            </a:r>
            <a:r>
              <a:rPr kumimoji="0"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맑은 고딕" pitchFamily="50" charset="-127"/>
              </a:rPr>
              <a:t>(Control Chart) 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là một công cụ dùng để kiểm soát độ biến thiên (hay biến động) của chất lượng sản phẩm đầu ra. </a:t>
            </a:r>
            <a:endParaRPr kumimoji="0" lang="en-US" altLang="ko-KR" sz="14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  <a:p>
            <a:pPr eaLnBrk="1" hangingPunct="1">
              <a:lnSpc>
                <a:spcPct val="120000"/>
              </a:lnSpc>
            </a:pPr>
            <a:endParaRPr kumimoji="0" lang="en-US" altLang="ko-KR" sz="14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Chúng cho ta biết biến động của quá trình đang diễn ra có ổn định hay không. </a:t>
            </a:r>
            <a:endParaRPr kumimoji="0" lang="en-US" altLang="ko-KR" sz="14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  <a:p>
            <a:pPr eaLnBrk="1" hangingPunct="1">
              <a:lnSpc>
                <a:spcPct val="120000"/>
              </a:lnSpc>
            </a:pPr>
            <a:endParaRPr kumimoji="0" lang="en-US" altLang="ko-KR" sz="14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vi-VN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맑은 고딕" pitchFamily="50" charset="-127"/>
              </a:rPr>
              <a:t>Một quá trình được xem là ổn định 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nếu nằm trong mức kiểm soát (in-control process), có thể dự báo được, và độ biến động gây ra do các </a:t>
            </a:r>
            <a:r>
              <a:rPr kumimoji="0" lang="en-US" altLang="ko-KR" sz="14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nguyên</a:t>
            </a:r>
            <a:r>
              <a:rPr kumimoji="0" lang="en-US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nhân</a:t>
            </a:r>
            <a:r>
              <a:rPr kumimoji="0" lang="en-US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ngẫu</a:t>
            </a:r>
            <a:r>
              <a:rPr kumimoji="0" lang="en-US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nhiên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(</a:t>
            </a:r>
            <a:r>
              <a:rPr kumimoji="0" lang="en-US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chance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causes). </a:t>
            </a:r>
            <a:endParaRPr kumimoji="0" lang="en-US" altLang="ko-KR" sz="14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  <a:p>
            <a:pPr eaLnBrk="1" hangingPunct="1">
              <a:lnSpc>
                <a:spcPct val="120000"/>
              </a:lnSpc>
            </a:pPr>
            <a:endParaRPr kumimoji="0" lang="en-US" altLang="ko-KR" sz="14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vi-VN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맑은 고딕" pitchFamily="50" charset="-127"/>
              </a:rPr>
              <a:t>Biểu đồ kiểm soát giúp chúng ta 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xem độ biến động một quá trình là do các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nguyên</a:t>
            </a:r>
            <a:r>
              <a:rPr kumimoji="0" lang="en-US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nhân</a:t>
            </a:r>
            <a:r>
              <a:rPr kumimoji="0" lang="en-US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ngẫu</a:t>
            </a:r>
            <a:r>
              <a:rPr kumimoji="0" lang="en-US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nhiên</a:t>
            </a:r>
            <a:r>
              <a:rPr kumimoji="0" lang="vi-VN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(gây quá trình ổn định) hay do các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nguyên</a:t>
            </a:r>
            <a:r>
              <a:rPr kumimoji="0" lang="en-US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nhân</a:t>
            </a:r>
            <a:r>
              <a:rPr kumimoji="0" lang="en-US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không</a:t>
            </a:r>
            <a:r>
              <a:rPr kumimoji="0" lang="en-US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ngẫu</a:t>
            </a:r>
            <a:r>
              <a:rPr kumimoji="0" lang="en-US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en-US" altLang="ko-KR" sz="1400" b="1" dirty="0" err="1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nhiên</a:t>
            </a:r>
            <a:r>
              <a:rPr kumimoji="0" lang="vi-VN" altLang="ko-KR" sz="1400" b="1" dirty="0">
                <a:solidFill>
                  <a:srgbClr val="C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(tạm dịch từ</a:t>
            </a:r>
            <a:r>
              <a:rPr kumimoji="0" lang="en-US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assignable causes</a:t>
            </a:r>
            <a:r>
              <a:rPr kumimoji="0" lang="vi-VN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) nào đó (gây quá trình không ổn định).</a:t>
            </a:r>
            <a:endParaRPr kumimoji="0" lang="en-US" altLang="ko-KR" sz="14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" name="Line 262"/>
          <p:cNvSpPr>
            <a:spLocks noChangeShapeType="1"/>
          </p:cNvSpPr>
          <p:nvPr/>
        </p:nvSpPr>
        <p:spPr bwMode="auto">
          <a:xfrm>
            <a:off x="1794158" y="5458825"/>
            <a:ext cx="55451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" name="Line 264"/>
          <p:cNvSpPr>
            <a:spLocks noChangeShapeType="1"/>
          </p:cNvSpPr>
          <p:nvPr/>
        </p:nvSpPr>
        <p:spPr bwMode="auto">
          <a:xfrm rot="5400000">
            <a:off x="6737633" y="5450888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6" name="Group 265"/>
          <p:cNvGrpSpPr>
            <a:grpSpLocks/>
          </p:cNvGrpSpPr>
          <p:nvPr/>
        </p:nvGrpSpPr>
        <p:grpSpPr bwMode="auto">
          <a:xfrm rot="5400000">
            <a:off x="7390889" y="4900819"/>
            <a:ext cx="1263650" cy="1084262"/>
            <a:chOff x="826" y="1347"/>
            <a:chExt cx="2492" cy="1713"/>
          </a:xfrm>
        </p:grpSpPr>
        <p:sp>
          <p:nvSpPr>
            <p:cNvPr id="7" name="Freeform 266"/>
            <p:cNvSpPr>
              <a:spLocks/>
            </p:cNvSpPr>
            <p:nvPr/>
          </p:nvSpPr>
          <p:spPr bwMode="auto">
            <a:xfrm>
              <a:off x="826" y="1347"/>
              <a:ext cx="1249" cy="1713"/>
            </a:xfrm>
            <a:custGeom>
              <a:avLst/>
              <a:gdLst>
                <a:gd name="T0" fmla="*/ 0 w 1249"/>
                <a:gd name="T1" fmla="*/ 1712 h 1713"/>
                <a:gd name="T2" fmla="*/ 33 w 1249"/>
                <a:gd name="T3" fmla="*/ 1706 h 1713"/>
                <a:gd name="T4" fmla="*/ 89 w 1249"/>
                <a:gd name="T5" fmla="*/ 1695 h 1713"/>
                <a:gd name="T6" fmla="*/ 134 w 1249"/>
                <a:gd name="T7" fmla="*/ 1689 h 1713"/>
                <a:gd name="T8" fmla="*/ 184 w 1249"/>
                <a:gd name="T9" fmla="*/ 1678 h 1713"/>
                <a:gd name="T10" fmla="*/ 240 w 1249"/>
                <a:gd name="T11" fmla="*/ 1661 h 1713"/>
                <a:gd name="T12" fmla="*/ 285 w 1249"/>
                <a:gd name="T13" fmla="*/ 1650 h 1713"/>
                <a:gd name="T14" fmla="*/ 319 w 1249"/>
                <a:gd name="T15" fmla="*/ 1639 h 1713"/>
                <a:gd name="T16" fmla="*/ 363 w 1249"/>
                <a:gd name="T17" fmla="*/ 1622 h 1713"/>
                <a:gd name="T18" fmla="*/ 391 w 1249"/>
                <a:gd name="T19" fmla="*/ 1611 h 1713"/>
                <a:gd name="T20" fmla="*/ 425 w 1249"/>
                <a:gd name="T21" fmla="*/ 1594 h 1713"/>
                <a:gd name="T22" fmla="*/ 464 w 1249"/>
                <a:gd name="T23" fmla="*/ 1577 h 1713"/>
                <a:gd name="T24" fmla="*/ 492 w 1249"/>
                <a:gd name="T25" fmla="*/ 1560 h 1713"/>
                <a:gd name="T26" fmla="*/ 509 w 1249"/>
                <a:gd name="T27" fmla="*/ 1544 h 1713"/>
                <a:gd name="T28" fmla="*/ 531 w 1249"/>
                <a:gd name="T29" fmla="*/ 1527 h 1713"/>
                <a:gd name="T30" fmla="*/ 553 w 1249"/>
                <a:gd name="T31" fmla="*/ 1504 h 1713"/>
                <a:gd name="T32" fmla="*/ 570 w 1249"/>
                <a:gd name="T33" fmla="*/ 1482 h 1713"/>
                <a:gd name="T34" fmla="*/ 576 w 1249"/>
                <a:gd name="T35" fmla="*/ 1476 h 1713"/>
                <a:gd name="T36" fmla="*/ 587 w 1249"/>
                <a:gd name="T37" fmla="*/ 1460 h 1713"/>
                <a:gd name="T38" fmla="*/ 615 w 1249"/>
                <a:gd name="T39" fmla="*/ 1415 h 1713"/>
                <a:gd name="T40" fmla="*/ 637 w 1249"/>
                <a:gd name="T41" fmla="*/ 1370 h 1713"/>
                <a:gd name="T42" fmla="*/ 660 w 1249"/>
                <a:gd name="T43" fmla="*/ 1326 h 1713"/>
                <a:gd name="T44" fmla="*/ 682 w 1249"/>
                <a:gd name="T45" fmla="*/ 1275 h 1713"/>
                <a:gd name="T46" fmla="*/ 704 w 1249"/>
                <a:gd name="T47" fmla="*/ 1225 h 1713"/>
                <a:gd name="T48" fmla="*/ 727 w 1249"/>
                <a:gd name="T49" fmla="*/ 1169 h 1713"/>
                <a:gd name="T50" fmla="*/ 744 w 1249"/>
                <a:gd name="T51" fmla="*/ 1124 h 1713"/>
                <a:gd name="T52" fmla="*/ 755 w 1249"/>
                <a:gd name="T53" fmla="*/ 1091 h 1713"/>
                <a:gd name="T54" fmla="*/ 794 w 1249"/>
                <a:gd name="T55" fmla="*/ 979 h 1713"/>
                <a:gd name="T56" fmla="*/ 872 w 1249"/>
                <a:gd name="T57" fmla="*/ 744 h 1713"/>
                <a:gd name="T58" fmla="*/ 912 w 1249"/>
                <a:gd name="T59" fmla="*/ 626 h 1713"/>
                <a:gd name="T60" fmla="*/ 923 w 1249"/>
                <a:gd name="T61" fmla="*/ 592 h 1713"/>
                <a:gd name="T62" fmla="*/ 945 w 1249"/>
                <a:gd name="T63" fmla="*/ 536 h 1713"/>
                <a:gd name="T64" fmla="*/ 962 w 1249"/>
                <a:gd name="T65" fmla="*/ 486 h 1713"/>
                <a:gd name="T66" fmla="*/ 979 w 1249"/>
                <a:gd name="T67" fmla="*/ 436 h 1713"/>
                <a:gd name="T68" fmla="*/ 1001 w 1249"/>
                <a:gd name="T69" fmla="*/ 380 h 1713"/>
                <a:gd name="T70" fmla="*/ 1018 w 1249"/>
                <a:gd name="T71" fmla="*/ 335 h 1713"/>
                <a:gd name="T72" fmla="*/ 1035 w 1249"/>
                <a:gd name="T73" fmla="*/ 291 h 1713"/>
                <a:gd name="T74" fmla="*/ 1052 w 1249"/>
                <a:gd name="T75" fmla="*/ 251 h 1713"/>
                <a:gd name="T76" fmla="*/ 1057 w 1249"/>
                <a:gd name="T77" fmla="*/ 235 h 1713"/>
                <a:gd name="T78" fmla="*/ 1063 w 1249"/>
                <a:gd name="T79" fmla="*/ 218 h 1713"/>
                <a:gd name="T80" fmla="*/ 1080 w 1249"/>
                <a:gd name="T81" fmla="*/ 179 h 1713"/>
                <a:gd name="T82" fmla="*/ 1091 w 1249"/>
                <a:gd name="T83" fmla="*/ 151 h 1713"/>
                <a:gd name="T84" fmla="*/ 1102 w 1249"/>
                <a:gd name="T85" fmla="*/ 123 h 1713"/>
                <a:gd name="T86" fmla="*/ 1119 w 1249"/>
                <a:gd name="T87" fmla="*/ 95 h 1713"/>
                <a:gd name="T88" fmla="*/ 1130 w 1249"/>
                <a:gd name="T89" fmla="*/ 72 h 1713"/>
                <a:gd name="T90" fmla="*/ 1141 w 1249"/>
                <a:gd name="T91" fmla="*/ 55 h 1713"/>
                <a:gd name="T92" fmla="*/ 1152 w 1249"/>
                <a:gd name="T93" fmla="*/ 44 h 1713"/>
                <a:gd name="T94" fmla="*/ 1158 w 1249"/>
                <a:gd name="T95" fmla="*/ 39 h 1713"/>
                <a:gd name="T96" fmla="*/ 1169 w 1249"/>
                <a:gd name="T97" fmla="*/ 27 h 1713"/>
                <a:gd name="T98" fmla="*/ 1192 w 1249"/>
                <a:gd name="T99" fmla="*/ 16 h 1713"/>
                <a:gd name="T100" fmla="*/ 1214 w 1249"/>
                <a:gd name="T101" fmla="*/ 5 h 1713"/>
                <a:gd name="T102" fmla="*/ 1236 w 1249"/>
                <a:gd name="T103" fmla="*/ 0 h 1713"/>
                <a:gd name="T104" fmla="*/ 1248 w 1249"/>
                <a:gd name="T105" fmla="*/ 0 h 171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49"/>
                <a:gd name="T160" fmla="*/ 0 h 1713"/>
                <a:gd name="T161" fmla="*/ 1249 w 1249"/>
                <a:gd name="T162" fmla="*/ 1713 h 171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49" h="1713">
                  <a:moveTo>
                    <a:pt x="0" y="1712"/>
                  </a:moveTo>
                  <a:lnTo>
                    <a:pt x="33" y="1706"/>
                  </a:lnTo>
                  <a:lnTo>
                    <a:pt x="89" y="1695"/>
                  </a:lnTo>
                  <a:lnTo>
                    <a:pt x="134" y="1689"/>
                  </a:lnTo>
                  <a:lnTo>
                    <a:pt x="184" y="1678"/>
                  </a:lnTo>
                  <a:lnTo>
                    <a:pt x="240" y="1661"/>
                  </a:lnTo>
                  <a:lnTo>
                    <a:pt x="285" y="1650"/>
                  </a:lnTo>
                  <a:lnTo>
                    <a:pt x="319" y="1639"/>
                  </a:lnTo>
                  <a:lnTo>
                    <a:pt x="363" y="1622"/>
                  </a:lnTo>
                  <a:lnTo>
                    <a:pt x="391" y="1611"/>
                  </a:lnTo>
                  <a:lnTo>
                    <a:pt x="425" y="1594"/>
                  </a:lnTo>
                  <a:lnTo>
                    <a:pt x="464" y="1577"/>
                  </a:lnTo>
                  <a:lnTo>
                    <a:pt x="492" y="1560"/>
                  </a:lnTo>
                  <a:lnTo>
                    <a:pt x="509" y="1544"/>
                  </a:lnTo>
                  <a:lnTo>
                    <a:pt x="531" y="1527"/>
                  </a:lnTo>
                  <a:lnTo>
                    <a:pt x="553" y="1504"/>
                  </a:lnTo>
                  <a:lnTo>
                    <a:pt x="570" y="1482"/>
                  </a:lnTo>
                  <a:lnTo>
                    <a:pt x="576" y="1476"/>
                  </a:lnTo>
                  <a:lnTo>
                    <a:pt x="587" y="1460"/>
                  </a:lnTo>
                  <a:lnTo>
                    <a:pt x="615" y="1415"/>
                  </a:lnTo>
                  <a:lnTo>
                    <a:pt x="637" y="1370"/>
                  </a:lnTo>
                  <a:lnTo>
                    <a:pt x="660" y="1326"/>
                  </a:lnTo>
                  <a:lnTo>
                    <a:pt x="682" y="1275"/>
                  </a:lnTo>
                  <a:lnTo>
                    <a:pt x="704" y="1225"/>
                  </a:lnTo>
                  <a:lnTo>
                    <a:pt x="727" y="1169"/>
                  </a:lnTo>
                  <a:lnTo>
                    <a:pt x="744" y="1124"/>
                  </a:lnTo>
                  <a:lnTo>
                    <a:pt x="755" y="1091"/>
                  </a:lnTo>
                  <a:lnTo>
                    <a:pt x="794" y="979"/>
                  </a:lnTo>
                  <a:lnTo>
                    <a:pt x="872" y="744"/>
                  </a:lnTo>
                  <a:lnTo>
                    <a:pt x="912" y="626"/>
                  </a:lnTo>
                  <a:lnTo>
                    <a:pt x="923" y="592"/>
                  </a:lnTo>
                  <a:lnTo>
                    <a:pt x="945" y="536"/>
                  </a:lnTo>
                  <a:lnTo>
                    <a:pt x="962" y="486"/>
                  </a:lnTo>
                  <a:lnTo>
                    <a:pt x="979" y="436"/>
                  </a:lnTo>
                  <a:lnTo>
                    <a:pt x="1001" y="380"/>
                  </a:lnTo>
                  <a:lnTo>
                    <a:pt x="1018" y="335"/>
                  </a:lnTo>
                  <a:lnTo>
                    <a:pt x="1035" y="291"/>
                  </a:lnTo>
                  <a:lnTo>
                    <a:pt x="1052" y="251"/>
                  </a:lnTo>
                  <a:lnTo>
                    <a:pt x="1057" y="235"/>
                  </a:lnTo>
                  <a:lnTo>
                    <a:pt x="1063" y="218"/>
                  </a:lnTo>
                  <a:lnTo>
                    <a:pt x="1080" y="179"/>
                  </a:lnTo>
                  <a:lnTo>
                    <a:pt x="1091" y="151"/>
                  </a:lnTo>
                  <a:lnTo>
                    <a:pt x="1102" y="123"/>
                  </a:lnTo>
                  <a:lnTo>
                    <a:pt x="1119" y="95"/>
                  </a:lnTo>
                  <a:lnTo>
                    <a:pt x="1130" y="72"/>
                  </a:lnTo>
                  <a:lnTo>
                    <a:pt x="1141" y="55"/>
                  </a:lnTo>
                  <a:lnTo>
                    <a:pt x="1152" y="44"/>
                  </a:lnTo>
                  <a:lnTo>
                    <a:pt x="1158" y="39"/>
                  </a:lnTo>
                  <a:lnTo>
                    <a:pt x="1169" y="27"/>
                  </a:lnTo>
                  <a:lnTo>
                    <a:pt x="1192" y="16"/>
                  </a:lnTo>
                  <a:lnTo>
                    <a:pt x="1214" y="5"/>
                  </a:lnTo>
                  <a:lnTo>
                    <a:pt x="1236" y="0"/>
                  </a:lnTo>
                  <a:lnTo>
                    <a:pt x="1248" y="0"/>
                  </a:lnTo>
                </a:path>
              </a:pathLst>
            </a:custGeom>
            <a:noFill/>
            <a:ln w="25400" cap="rnd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267"/>
            <p:cNvSpPr>
              <a:spLocks/>
            </p:cNvSpPr>
            <p:nvPr/>
          </p:nvSpPr>
          <p:spPr bwMode="auto">
            <a:xfrm>
              <a:off x="2074" y="1347"/>
              <a:ext cx="1244" cy="1713"/>
            </a:xfrm>
            <a:custGeom>
              <a:avLst/>
              <a:gdLst>
                <a:gd name="T0" fmla="*/ 1243 w 1244"/>
                <a:gd name="T1" fmla="*/ 1712 h 1713"/>
                <a:gd name="T2" fmla="*/ 1209 w 1244"/>
                <a:gd name="T3" fmla="*/ 1706 h 1713"/>
                <a:gd name="T4" fmla="*/ 1153 w 1244"/>
                <a:gd name="T5" fmla="*/ 1695 h 1713"/>
                <a:gd name="T6" fmla="*/ 1108 w 1244"/>
                <a:gd name="T7" fmla="*/ 1689 h 1713"/>
                <a:gd name="T8" fmla="*/ 1058 w 1244"/>
                <a:gd name="T9" fmla="*/ 1678 h 1713"/>
                <a:gd name="T10" fmla="*/ 1002 w 1244"/>
                <a:gd name="T11" fmla="*/ 1661 h 1713"/>
                <a:gd name="T12" fmla="*/ 957 w 1244"/>
                <a:gd name="T13" fmla="*/ 1650 h 1713"/>
                <a:gd name="T14" fmla="*/ 923 w 1244"/>
                <a:gd name="T15" fmla="*/ 1639 h 1713"/>
                <a:gd name="T16" fmla="*/ 878 w 1244"/>
                <a:gd name="T17" fmla="*/ 1622 h 1713"/>
                <a:gd name="T18" fmla="*/ 850 w 1244"/>
                <a:gd name="T19" fmla="*/ 1611 h 1713"/>
                <a:gd name="T20" fmla="*/ 817 w 1244"/>
                <a:gd name="T21" fmla="*/ 1594 h 1713"/>
                <a:gd name="T22" fmla="*/ 778 w 1244"/>
                <a:gd name="T23" fmla="*/ 1577 h 1713"/>
                <a:gd name="T24" fmla="*/ 750 w 1244"/>
                <a:gd name="T25" fmla="*/ 1560 h 1713"/>
                <a:gd name="T26" fmla="*/ 733 w 1244"/>
                <a:gd name="T27" fmla="*/ 1544 h 1713"/>
                <a:gd name="T28" fmla="*/ 711 w 1244"/>
                <a:gd name="T29" fmla="*/ 1527 h 1713"/>
                <a:gd name="T30" fmla="*/ 689 w 1244"/>
                <a:gd name="T31" fmla="*/ 1504 h 1713"/>
                <a:gd name="T32" fmla="*/ 672 w 1244"/>
                <a:gd name="T33" fmla="*/ 1482 h 1713"/>
                <a:gd name="T34" fmla="*/ 666 w 1244"/>
                <a:gd name="T35" fmla="*/ 1476 h 1713"/>
                <a:gd name="T36" fmla="*/ 655 w 1244"/>
                <a:gd name="T37" fmla="*/ 1460 h 1713"/>
                <a:gd name="T38" fmla="*/ 627 w 1244"/>
                <a:gd name="T39" fmla="*/ 1415 h 1713"/>
                <a:gd name="T40" fmla="*/ 605 w 1244"/>
                <a:gd name="T41" fmla="*/ 1370 h 1713"/>
                <a:gd name="T42" fmla="*/ 582 w 1244"/>
                <a:gd name="T43" fmla="*/ 1331 h 1713"/>
                <a:gd name="T44" fmla="*/ 560 w 1244"/>
                <a:gd name="T45" fmla="*/ 1281 h 1713"/>
                <a:gd name="T46" fmla="*/ 537 w 1244"/>
                <a:gd name="T47" fmla="*/ 1231 h 1713"/>
                <a:gd name="T48" fmla="*/ 515 w 1244"/>
                <a:gd name="T49" fmla="*/ 1175 h 1713"/>
                <a:gd name="T50" fmla="*/ 492 w 1244"/>
                <a:gd name="T51" fmla="*/ 1124 h 1713"/>
                <a:gd name="T52" fmla="*/ 481 w 1244"/>
                <a:gd name="T53" fmla="*/ 1091 h 1713"/>
                <a:gd name="T54" fmla="*/ 442 w 1244"/>
                <a:gd name="T55" fmla="*/ 979 h 1713"/>
                <a:gd name="T56" fmla="*/ 364 w 1244"/>
                <a:gd name="T57" fmla="*/ 744 h 1713"/>
                <a:gd name="T58" fmla="*/ 324 w 1244"/>
                <a:gd name="T59" fmla="*/ 626 h 1713"/>
                <a:gd name="T60" fmla="*/ 313 w 1244"/>
                <a:gd name="T61" fmla="*/ 592 h 1713"/>
                <a:gd name="T62" fmla="*/ 296 w 1244"/>
                <a:gd name="T63" fmla="*/ 542 h 1713"/>
                <a:gd name="T64" fmla="*/ 280 w 1244"/>
                <a:gd name="T65" fmla="*/ 486 h 1713"/>
                <a:gd name="T66" fmla="*/ 257 w 1244"/>
                <a:gd name="T67" fmla="*/ 430 h 1713"/>
                <a:gd name="T68" fmla="*/ 240 w 1244"/>
                <a:gd name="T69" fmla="*/ 380 h 1713"/>
                <a:gd name="T70" fmla="*/ 224 w 1244"/>
                <a:gd name="T71" fmla="*/ 335 h 1713"/>
                <a:gd name="T72" fmla="*/ 207 w 1244"/>
                <a:gd name="T73" fmla="*/ 291 h 1713"/>
                <a:gd name="T74" fmla="*/ 190 w 1244"/>
                <a:gd name="T75" fmla="*/ 251 h 1713"/>
                <a:gd name="T76" fmla="*/ 184 w 1244"/>
                <a:gd name="T77" fmla="*/ 235 h 1713"/>
                <a:gd name="T78" fmla="*/ 179 w 1244"/>
                <a:gd name="T79" fmla="*/ 218 h 1713"/>
                <a:gd name="T80" fmla="*/ 162 w 1244"/>
                <a:gd name="T81" fmla="*/ 184 h 1713"/>
                <a:gd name="T82" fmla="*/ 145 w 1244"/>
                <a:gd name="T83" fmla="*/ 151 h 1713"/>
                <a:gd name="T84" fmla="*/ 128 w 1244"/>
                <a:gd name="T85" fmla="*/ 117 h 1713"/>
                <a:gd name="T86" fmla="*/ 117 w 1244"/>
                <a:gd name="T87" fmla="*/ 95 h 1713"/>
                <a:gd name="T88" fmla="*/ 106 w 1244"/>
                <a:gd name="T89" fmla="*/ 78 h 1713"/>
                <a:gd name="T90" fmla="*/ 95 w 1244"/>
                <a:gd name="T91" fmla="*/ 61 h 1713"/>
                <a:gd name="T92" fmla="*/ 84 w 1244"/>
                <a:gd name="T93" fmla="*/ 44 h 1713"/>
                <a:gd name="T94" fmla="*/ 78 w 1244"/>
                <a:gd name="T95" fmla="*/ 39 h 1713"/>
                <a:gd name="T96" fmla="*/ 67 w 1244"/>
                <a:gd name="T97" fmla="*/ 27 h 1713"/>
                <a:gd name="T98" fmla="*/ 50 w 1244"/>
                <a:gd name="T99" fmla="*/ 16 h 1713"/>
                <a:gd name="T100" fmla="*/ 33 w 1244"/>
                <a:gd name="T101" fmla="*/ 5 h 1713"/>
                <a:gd name="T102" fmla="*/ 11 w 1244"/>
                <a:gd name="T103" fmla="*/ 0 h 1713"/>
                <a:gd name="T104" fmla="*/ 0 w 1244"/>
                <a:gd name="T105" fmla="*/ 0 h 171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44"/>
                <a:gd name="T160" fmla="*/ 0 h 1713"/>
                <a:gd name="T161" fmla="*/ 1244 w 1244"/>
                <a:gd name="T162" fmla="*/ 1713 h 171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44" h="1713">
                  <a:moveTo>
                    <a:pt x="1243" y="1712"/>
                  </a:moveTo>
                  <a:lnTo>
                    <a:pt x="1209" y="1706"/>
                  </a:lnTo>
                  <a:lnTo>
                    <a:pt x="1153" y="1695"/>
                  </a:lnTo>
                  <a:lnTo>
                    <a:pt x="1108" y="1689"/>
                  </a:lnTo>
                  <a:lnTo>
                    <a:pt x="1058" y="1678"/>
                  </a:lnTo>
                  <a:lnTo>
                    <a:pt x="1002" y="1661"/>
                  </a:lnTo>
                  <a:lnTo>
                    <a:pt x="957" y="1650"/>
                  </a:lnTo>
                  <a:lnTo>
                    <a:pt x="923" y="1639"/>
                  </a:lnTo>
                  <a:lnTo>
                    <a:pt x="878" y="1622"/>
                  </a:lnTo>
                  <a:lnTo>
                    <a:pt x="850" y="1611"/>
                  </a:lnTo>
                  <a:lnTo>
                    <a:pt x="817" y="1594"/>
                  </a:lnTo>
                  <a:lnTo>
                    <a:pt x="778" y="1577"/>
                  </a:lnTo>
                  <a:lnTo>
                    <a:pt x="750" y="1560"/>
                  </a:lnTo>
                  <a:lnTo>
                    <a:pt x="733" y="1544"/>
                  </a:lnTo>
                  <a:lnTo>
                    <a:pt x="711" y="1527"/>
                  </a:lnTo>
                  <a:lnTo>
                    <a:pt x="689" y="1504"/>
                  </a:lnTo>
                  <a:lnTo>
                    <a:pt x="672" y="1482"/>
                  </a:lnTo>
                  <a:lnTo>
                    <a:pt x="666" y="1476"/>
                  </a:lnTo>
                  <a:lnTo>
                    <a:pt x="655" y="1460"/>
                  </a:lnTo>
                  <a:lnTo>
                    <a:pt x="627" y="1415"/>
                  </a:lnTo>
                  <a:lnTo>
                    <a:pt x="605" y="1370"/>
                  </a:lnTo>
                  <a:lnTo>
                    <a:pt x="582" y="1331"/>
                  </a:lnTo>
                  <a:lnTo>
                    <a:pt x="560" y="1281"/>
                  </a:lnTo>
                  <a:lnTo>
                    <a:pt x="537" y="1231"/>
                  </a:lnTo>
                  <a:lnTo>
                    <a:pt x="515" y="1175"/>
                  </a:lnTo>
                  <a:lnTo>
                    <a:pt x="492" y="1124"/>
                  </a:lnTo>
                  <a:lnTo>
                    <a:pt x="481" y="1091"/>
                  </a:lnTo>
                  <a:lnTo>
                    <a:pt x="442" y="979"/>
                  </a:lnTo>
                  <a:lnTo>
                    <a:pt x="364" y="744"/>
                  </a:lnTo>
                  <a:lnTo>
                    <a:pt x="324" y="626"/>
                  </a:lnTo>
                  <a:lnTo>
                    <a:pt x="313" y="592"/>
                  </a:lnTo>
                  <a:lnTo>
                    <a:pt x="296" y="542"/>
                  </a:lnTo>
                  <a:lnTo>
                    <a:pt x="280" y="486"/>
                  </a:lnTo>
                  <a:lnTo>
                    <a:pt x="257" y="430"/>
                  </a:lnTo>
                  <a:lnTo>
                    <a:pt x="240" y="380"/>
                  </a:lnTo>
                  <a:lnTo>
                    <a:pt x="224" y="335"/>
                  </a:lnTo>
                  <a:lnTo>
                    <a:pt x="207" y="291"/>
                  </a:lnTo>
                  <a:lnTo>
                    <a:pt x="190" y="251"/>
                  </a:lnTo>
                  <a:lnTo>
                    <a:pt x="184" y="235"/>
                  </a:lnTo>
                  <a:lnTo>
                    <a:pt x="179" y="218"/>
                  </a:lnTo>
                  <a:lnTo>
                    <a:pt x="162" y="184"/>
                  </a:lnTo>
                  <a:lnTo>
                    <a:pt x="145" y="151"/>
                  </a:lnTo>
                  <a:lnTo>
                    <a:pt x="128" y="117"/>
                  </a:lnTo>
                  <a:lnTo>
                    <a:pt x="117" y="95"/>
                  </a:lnTo>
                  <a:lnTo>
                    <a:pt x="106" y="78"/>
                  </a:lnTo>
                  <a:lnTo>
                    <a:pt x="95" y="61"/>
                  </a:lnTo>
                  <a:lnTo>
                    <a:pt x="84" y="44"/>
                  </a:lnTo>
                  <a:lnTo>
                    <a:pt x="78" y="39"/>
                  </a:lnTo>
                  <a:lnTo>
                    <a:pt x="67" y="27"/>
                  </a:lnTo>
                  <a:lnTo>
                    <a:pt x="50" y="16"/>
                  </a:lnTo>
                  <a:lnTo>
                    <a:pt x="33" y="5"/>
                  </a:lnTo>
                  <a:lnTo>
                    <a:pt x="11" y="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Line 268"/>
          <p:cNvSpPr>
            <a:spLocks noChangeShapeType="1"/>
          </p:cNvSpPr>
          <p:nvPr/>
        </p:nvSpPr>
        <p:spPr bwMode="auto">
          <a:xfrm rot="5400000">
            <a:off x="8045733" y="4811125"/>
            <a:ext cx="0" cy="1295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" name="Oval 328"/>
          <p:cNvSpPr>
            <a:spLocks noChangeArrowheads="1"/>
          </p:cNvSpPr>
          <p:nvPr/>
        </p:nvSpPr>
        <p:spPr bwMode="auto">
          <a:xfrm>
            <a:off x="2413283" y="530166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1" name="Oval 329"/>
          <p:cNvSpPr>
            <a:spLocks noChangeArrowheads="1"/>
          </p:cNvSpPr>
          <p:nvPr/>
        </p:nvSpPr>
        <p:spPr bwMode="auto">
          <a:xfrm>
            <a:off x="2270408" y="515878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2" name="Oval 330"/>
          <p:cNvSpPr>
            <a:spLocks noChangeArrowheads="1"/>
          </p:cNvSpPr>
          <p:nvPr/>
        </p:nvSpPr>
        <p:spPr bwMode="auto">
          <a:xfrm>
            <a:off x="2991133" y="5157200"/>
            <a:ext cx="71437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3" name="Oval 331"/>
          <p:cNvSpPr>
            <a:spLocks noChangeArrowheads="1"/>
          </p:cNvSpPr>
          <p:nvPr/>
        </p:nvSpPr>
        <p:spPr bwMode="auto">
          <a:xfrm>
            <a:off x="2846670" y="5444538"/>
            <a:ext cx="71438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4" name="Oval 332"/>
          <p:cNvSpPr>
            <a:spLocks noChangeArrowheads="1"/>
          </p:cNvSpPr>
          <p:nvPr/>
        </p:nvSpPr>
        <p:spPr bwMode="auto">
          <a:xfrm>
            <a:off x="2702208" y="530166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5" name="Oval 333"/>
          <p:cNvSpPr>
            <a:spLocks noChangeArrowheads="1"/>
          </p:cNvSpPr>
          <p:nvPr/>
        </p:nvSpPr>
        <p:spPr bwMode="auto">
          <a:xfrm>
            <a:off x="3494370" y="5230225"/>
            <a:ext cx="74613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6" name="Oval 334"/>
          <p:cNvSpPr>
            <a:spLocks noChangeArrowheads="1"/>
          </p:cNvSpPr>
          <p:nvPr/>
        </p:nvSpPr>
        <p:spPr bwMode="auto">
          <a:xfrm>
            <a:off x="3926170" y="537468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7" name="Oval 335"/>
          <p:cNvSpPr>
            <a:spLocks noChangeArrowheads="1"/>
          </p:cNvSpPr>
          <p:nvPr/>
        </p:nvSpPr>
        <p:spPr bwMode="auto">
          <a:xfrm>
            <a:off x="3781708" y="56620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8" name="Oval 336"/>
          <p:cNvSpPr>
            <a:spLocks noChangeArrowheads="1"/>
          </p:cNvSpPr>
          <p:nvPr/>
        </p:nvSpPr>
        <p:spPr bwMode="auto">
          <a:xfrm>
            <a:off x="3638833" y="5519150"/>
            <a:ext cx="74612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9" name="Oval 337"/>
          <p:cNvSpPr>
            <a:spLocks noChangeArrowheads="1"/>
          </p:cNvSpPr>
          <p:nvPr/>
        </p:nvSpPr>
        <p:spPr bwMode="auto">
          <a:xfrm>
            <a:off x="4646895" y="56620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0" name="Oval 338"/>
          <p:cNvSpPr>
            <a:spLocks noChangeArrowheads="1"/>
          </p:cNvSpPr>
          <p:nvPr/>
        </p:nvSpPr>
        <p:spPr bwMode="auto">
          <a:xfrm>
            <a:off x="4500845" y="515720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1" name="Oval 339"/>
          <p:cNvSpPr>
            <a:spLocks noChangeArrowheads="1"/>
          </p:cNvSpPr>
          <p:nvPr/>
        </p:nvSpPr>
        <p:spPr bwMode="auto">
          <a:xfrm>
            <a:off x="4356383" y="544453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2" name="Oval 340"/>
          <p:cNvSpPr>
            <a:spLocks noChangeArrowheads="1"/>
          </p:cNvSpPr>
          <p:nvPr/>
        </p:nvSpPr>
        <p:spPr bwMode="auto">
          <a:xfrm>
            <a:off x="4213508" y="530166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3" name="Oval 341"/>
          <p:cNvSpPr>
            <a:spLocks noChangeArrowheads="1"/>
          </p:cNvSpPr>
          <p:nvPr/>
        </p:nvSpPr>
        <p:spPr bwMode="auto">
          <a:xfrm>
            <a:off x="5077108" y="522863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4" name="Oval 342"/>
          <p:cNvSpPr>
            <a:spLocks noChangeArrowheads="1"/>
          </p:cNvSpPr>
          <p:nvPr/>
        </p:nvSpPr>
        <p:spPr bwMode="auto">
          <a:xfrm>
            <a:off x="5223158" y="52302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5" name="Oval 343"/>
          <p:cNvSpPr>
            <a:spLocks noChangeArrowheads="1"/>
          </p:cNvSpPr>
          <p:nvPr/>
        </p:nvSpPr>
        <p:spPr bwMode="auto">
          <a:xfrm>
            <a:off x="5078695" y="558900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6" name="Oval 344"/>
          <p:cNvSpPr>
            <a:spLocks noChangeArrowheads="1"/>
          </p:cNvSpPr>
          <p:nvPr/>
        </p:nvSpPr>
        <p:spPr bwMode="auto">
          <a:xfrm>
            <a:off x="4935820" y="537468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7" name="Oval 345"/>
          <p:cNvSpPr>
            <a:spLocks noChangeArrowheads="1"/>
          </p:cNvSpPr>
          <p:nvPr/>
        </p:nvSpPr>
        <p:spPr bwMode="auto">
          <a:xfrm>
            <a:off x="5654958" y="530325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8" name="Oval 346"/>
          <p:cNvSpPr>
            <a:spLocks noChangeArrowheads="1"/>
          </p:cNvSpPr>
          <p:nvPr/>
        </p:nvSpPr>
        <p:spPr bwMode="auto">
          <a:xfrm>
            <a:off x="5510495" y="559058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9" name="Oval 347"/>
          <p:cNvSpPr>
            <a:spLocks noChangeArrowheads="1"/>
          </p:cNvSpPr>
          <p:nvPr/>
        </p:nvSpPr>
        <p:spPr bwMode="auto">
          <a:xfrm>
            <a:off x="5367620" y="544771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0" name="Oval 348"/>
          <p:cNvSpPr>
            <a:spLocks noChangeArrowheads="1"/>
          </p:cNvSpPr>
          <p:nvPr/>
        </p:nvSpPr>
        <p:spPr bwMode="auto">
          <a:xfrm>
            <a:off x="6158195" y="54461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1" name="Oval 349"/>
          <p:cNvSpPr>
            <a:spLocks noChangeArrowheads="1"/>
          </p:cNvSpPr>
          <p:nvPr/>
        </p:nvSpPr>
        <p:spPr bwMode="auto">
          <a:xfrm>
            <a:off x="6013733" y="573346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2" name="Oval 350"/>
          <p:cNvSpPr>
            <a:spLocks noChangeArrowheads="1"/>
          </p:cNvSpPr>
          <p:nvPr/>
        </p:nvSpPr>
        <p:spPr bwMode="auto">
          <a:xfrm>
            <a:off x="5870858" y="559058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3" name="Oval 351"/>
          <p:cNvSpPr>
            <a:spLocks noChangeArrowheads="1"/>
          </p:cNvSpPr>
          <p:nvPr/>
        </p:nvSpPr>
        <p:spPr bwMode="auto">
          <a:xfrm>
            <a:off x="6013733" y="537310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4" name="Oval 352"/>
          <p:cNvSpPr>
            <a:spLocks noChangeArrowheads="1"/>
          </p:cNvSpPr>
          <p:nvPr/>
        </p:nvSpPr>
        <p:spPr bwMode="auto">
          <a:xfrm>
            <a:off x="5870858" y="52302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5" name="Oval 353"/>
          <p:cNvSpPr>
            <a:spLocks noChangeArrowheads="1"/>
          </p:cNvSpPr>
          <p:nvPr/>
        </p:nvSpPr>
        <p:spPr bwMode="auto">
          <a:xfrm>
            <a:off x="6877333" y="54461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6" name="Oval 354"/>
          <p:cNvSpPr>
            <a:spLocks noChangeArrowheads="1"/>
          </p:cNvSpPr>
          <p:nvPr/>
        </p:nvSpPr>
        <p:spPr bwMode="auto">
          <a:xfrm>
            <a:off x="6732870" y="573346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7" name="Oval 355"/>
          <p:cNvSpPr>
            <a:spLocks noChangeArrowheads="1"/>
          </p:cNvSpPr>
          <p:nvPr/>
        </p:nvSpPr>
        <p:spPr bwMode="auto">
          <a:xfrm>
            <a:off x="6589995" y="5590588"/>
            <a:ext cx="74613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8" name="Oval 356"/>
          <p:cNvSpPr>
            <a:spLocks noChangeArrowheads="1"/>
          </p:cNvSpPr>
          <p:nvPr/>
        </p:nvSpPr>
        <p:spPr bwMode="auto">
          <a:xfrm>
            <a:off x="6732870" y="537310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9" name="Oval 357"/>
          <p:cNvSpPr>
            <a:spLocks noChangeArrowheads="1"/>
          </p:cNvSpPr>
          <p:nvPr/>
        </p:nvSpPr>
        <p:spPr bwMode="auto">
          <a:xfrm>
            <a:off x="6589995" y="5230225"/>
            <a:ext cx="74613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0" name="Oval 358"/>
          <p:cNvSpPr>
            <a:spLocks noChangeArrowheads="1"/>
          </p:cNvSpPr>
          <p:nvPr/>
        </p:nvSpPr>
        <p:spPr bwMode="auto">
          <a:xfrm>
            <a:off x="3416583" y="551915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1" name="Oval 359"/>
          <p:cNvSpPr>
            <a:spLocks noChangeArrowheads="1"/>
          </p:cNvSpPr>
          <p:nvPr/>
        </p:nvSpPr>
        <p:spPr bwMode="auto">
          <a:xfrm>
            <a:off x="3135595" y="5733463"/>
            <a:ext cx="71438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2" name="Oval 360"/>
          <p:cNvSpPr>
            <a:spLocks noChangeArrowheads="1"/>
          </p:cNvSpPr>
          <p:nvPr/>
        </p:nvSpPr>
        <p:spPr bwMode="auto">
          <a:xfrm>
            <a:off x="2991133" y="5590588"/>
            <a:ext cx="71437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3" name="Oval 361"/>
          <p:cNvSpPr>
            <a:spLocks noChangeArrowheads="1"/>
          </p:cNvSpPr>
          <p:nvPr/>
        </p:nvSpPr>
        <p:spPr bwMode="auto">
          <a:xfrm>
            <a:off x="2270408" y="551756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4" name="Oval 362"/>
          <p:cNvSpPr>
            <a:spLocks noChangeArrowheads="1"/>
          </p:cNvSpPr>
          <p:nvPr/>
        </p:nvSpPr>
        <p:spPr bwMode="auto">
          <a:xfrm>
            <a:off x="2486308" y="56620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5" name="Oval 363"/>
          <p:cNvSpPr>
            <a:spLocks noChangeArrowheads="1"/>
          </p:cNvSpPr>
          <p:nvPr/>
        </p:nvSpPr>
        <p:spPr bwMode="auto">
          <a:xfrm>
            <a:off x="4070633" y="56620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6" name="Oval 364"/>
          <p:cNvSpPr>
            <a:spLocks noChangeArrowheads="1"/>
          </p:cNvSpPr>
          <p:nvPr/>
        </p:nvSpPr>
        <p:spPr bwMode="auto">
          <a:xfrm>
            <a:off x="6375683" y="5662025"/>
            <a:ext cx="71437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7" name="Oval 365"/>
          <p:cNvSpPr>
            <a:spLocks noChangeArrowheads="1"/>
          </p:cNvSpPr>
          <p:nvPr/>
        </p:nvSpPr>
        <p:spPr bwMode="auto">
          <a:xfrm>
            <a:off x="7021795" y="573346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8" name="Oval 366"/>
          <p:cNvSpPr>
            <a:spLocks noChangeArrowheads="1"/>
          </p:cNvSpPr>
          <p:nvPr/>
        </p:nvSpPr>
        <p:spPr bwMode="auto">
          <a:xfrm>
            <a:off x="1910045" y="559058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9" name="Oval 367"/>
          <p:cNvSpPr>
            <a:spLocks noChangeArrowheads="1"/>
          </p:cNvSpPr>
          <p:nvPr/>
        </p:nvSpPr>
        <p:spPr bwMode="auto">
          <a:xfrm>
            <a:off x="2054508" y="530325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0" name="Oval 368"/>
          <p:cNvSpPr>
            <a:spLocks noChangeArrowheads="1"/>
          </p:cNvSpPr>
          <p:nvPr/>
        </p:nvSpPr>
        <p:spPr bwMode="auto">
          <a:xfrm>
            <a:off x="4573870" y="5374688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1" name="Oval 369"/>
          <p:cNvSpPr>
            <a:spLocks noChangeArrowheads="1"/>
          </p:cNvSpPr>
          <p:nvPr/>
        </p:nvSpPr>
        <p:spPr bwMode="auto">
          <a:xfrm>
            <a:off x="3710270" y="5303250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2" name="Oval 370"/>
          <p:cNvSpPr>
            <a:spLocks noChangeArrowheads="1"/>
          </p:cNvSpPr>
          <p:nvPr/>
        </p:nvSpPr>
        <p:spPr bwMode="auto">
          <a:xfrm>
            <a:off x="3135595" y="5374688"/>
            <a:ext cx="71438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3" name="Oval 371"/>
          <p:cNvSpPr>
            <a:spLocks noChangeArrowheads="1"/>
          </p:cNvSpPr>
          <p:nvPr/>
        </p:nvSpPr>
        <p:spPr bwMode="auto">
          <a:xfrm>
            <a:off x="6231220" y="5230225"/>
            <a:ext cx="71438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4" name="Oval 372"/>
          <p:cNvSpPr>
            <a:spLocks noChangeArrowheads="1"/>
          </p:cNvSpPr>
          <p:nvPr/>
        </p:nvSpPr>
        <p:spPr bwMode="auto">
          <a:xfrm>
            <a:off x="6447120" y="5446125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5" name="Oval 373"/>
          <p:cNvSpPr>
            <a:spLocks noChangeArrowheads="1"/>
          </p:cNvSpPr>
          <p:nvPr/>
        </p:nvSpPr>
        <p:spPr bwMode="auto">
          <a:xfrm>
            <a:off x="5366033" y="5663613"/>
            <a:ext cx="73025" cy="73025"/>
          </a:xfrm>
          <a:prstGeom prst="ellipse">
            <a:avLst/>
          </a:prstGeom>
          <a:solidFill>
            <a:srgbClr val="CC0000"/>
          </a:solidFill>
          <a:ln w="952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12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6" name="Freeform 465"/>
          <p:cNvSpPr>
            <a:spLocks/>
          </p:cNvSpPr>
          <p:nvPr/>
        </p:nvSpPr>
        <p:spPr bwMode="auto">
          <a:xfrm>
            <a:off x="1852895" y="4947650"/>
            <a:ext cx="5256213" cy="995363"/>
          </a:xfrm>
          <a:custGeom>
            <a:avLst/>
            <a:gdLst>
              <a:gd name="T0" fmla="*/ 0 w 3311"/>
              <a:gd name="T1" fmla="*/ 2147483647 h 627"/>
              <a:gd name="T2" fmla="*/ 2147483647 w 3311"/>
              <a:gd name="T3" fmla="*/ 2147483647 h 627"/>
              <a:gd name="T4" fmla="*/ 2147483647 w 3311"/>
              <a:gd name="T5" fmla="*/ 2147483647 h 627"/>
              <a:gd name="T6" fmla="*/ 2147483647 w 3311"/>
              <a:gd name="T7" fmla="*/ 2147483647 h 627"/>
              <a:gd name="T8" fmla="*/ 2147483647 w 3311"/>
              <a:gd name="T9" fmla="*/ 2147483647 h 627"/>
              <a:gd name="T10" fmla="*/ 2147483647 w 3311"/>
              <a:gd name="T11" fmla="*/ 2147483647 h 627"/>
              <a:gd name="T12" fmla="*/ 2147483647 w 3311"/>
              <a:gd name="T13" fmla="*/ 2147483647 h 627"/>
              <a:gd name="T14" fmla="*/ 2147483647 w 3311"/>
              <a:gd name="T15" fmla="*/ 2147483647 h 627"/>
              <a:gd name="T16" fmla="*/ 2147483647 w 3311"/>
              <a:gd name="T17" fmla="*/ 2147483647 h 627"/>
              <a:gd name="T18" fmla="*/ 2147483647 w 3311"/>
              <a:gd name="T19" fmla="*/ 2147483647 h 627"/>
              <a:gd name="T20" fmla="*/ 2147483647 w 3311"/>
              <a:gd name="T21" fmla="*/ 2147483647 h 627"/>
              <a:gd name="T22" fmla="*/ 2147483647 w 3311"/>
              <a:gd name="T23" fmla="*/ 2147483647 h 627"/>
              <a:gd name="T24" fmla="*/ 2147483647 w 3311"/>
              <a:gd name="T25" fmla="*/ 2147483647 h 627"/>
              <a:gd name="T26" fmla="*/ 2147483647 w 3311"/>
              <a:gd name="T27" fmla="*/ 2147483647 h 627"/>
              <a:gd name="T28" fmla="*/ 2147483647 w 3311"/>
              <a:gd name="T29" fmla="*/ 2147483647 h 627"/>
              <a:gd name="T30" fmla="*/ 2147483647 w 3311"/>
              <a:gd name="T31" fmla="*/ 2147483647 h 62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311"/>
              <a:gd name="T49" fmla="*/ 0 h 627"/>
              <a:gd name="T50" fmla="*/ 3311 w 3311"/>
              <a:gd name="T51" fmla="*/ 627 h 62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311" h="627">
                <a:moveTo>
                  <a:pt x="0" y="529"/>
                </a:moveTo>
                <a:cubicBezTo>
                  <a:pt x="0" y="525"/>
                  <a:pt x="0" y="521"/>
                  <a:pt x="45" y="438"/>
                </a:cubicBezTo>
                <a:cubicBezTo>
                  <a:pt x="90" y="355"/>
                  <a:pt x="189" y="0"/>
                  <a:pt x="272" y="30"/>
                </a:cubicBezTo>
                <a:cubicBezTo>
                  <a:pt x="355" y="60"/>
                  <a:pt x="453" y="619"/>
                  <a:pt x="544" y="619"/>
                </a:cubicBezTo>
                <a:cubicBezTo>
                  <a:pt x="635" y="619"/>
                  <a:pt x="725" y="30"/>
                  <a:pt x="816" y="30"/>
                </a:cubicBezTo>
                <a:cubicBezTo>
                  <a:pt x="907" y="30"/>
                  <a:pt x="997" y="611"/>
                  <a:pt x="1088" y="619"/>
                </a:cubicBezTo>
                <a:cubicBezTo>
                  <a:pt x="1179" y="627"/>
                  <a:pt x="1277" y="75"/>
                  <a:pt x="1360" y="75"/>
                </a:cubicBezTo>
                <a:cubicBezTo>
                  <a:pt x="1443" y="75"/>
                  <a:pt x="1511" y="619"/>
                  <a:pt x="1587" y="619"/>
                </a:cubicBezTo>
                <a:cubicBezTo>
                  <a:pt x="1663" y="619"/>
                  <a:pt x="1731" y="75"/>
                  <a:pt x="1814" y="75"/>
                </a:cubicBezTo>
                <a:cubicBezTo>
                  <a:pt x="1897" y="75"/>
                  <a:pt x="2003" y="612"/>
                  <a:pt x="2086" y="619"/>
                </a:cubicBezTo>
                <a:cubicBezTo>
                  <a:pt x="2169" y="626"/>
                  <a:pt x="2245" y="128"/>
                  <a:pt x="2313" y="120"/>
                </a:cubicBezTo>
                <a:cubicBezTo>
                  <a:pt x="2381" y="112"/>
                  <a:pt x="2434" y="574"/>
                  <a:pt x="2494" y="574"/>
                </a:cubicBezTo>
                <a:cubicBezTo>
                  <a:pt x="2554" y="574"/>
                  <a:pt x="2593" y="113"/>
                  <a:pt x="2676" y="120"/>
                </a:cubicBezTo>
                <a:cubicBezTo>
                  <a:pt x="2759" y="127"/>
                  <a:pt x="2918" y="611"/>
                  <a:pt x="2993" y="619"/>
                </a:cubicBezTo>
                <a:cubicBezTo>
                  <a:pt x="3068" y="627"/>
                  <a:pt x="3076" y="181"/>
                  <a:pt x="3129" y="166"/>
                </a:cubicBezTo>
                <a:cubicBezTo>
                  <a:pt x="3182" y="151"/>
                  <a:pt x="3303" y="469"/>
                  <a:pt x="3311" y="529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7" name="Line 469"/>
          <p:cNvSpPr>
            <a:spLocks noChangeShapeType="1"/>
          </p:cNvSpPr>
          <p:nvPr/>
        </p:nvSpPr>
        <p:spPr bwMode="auto">
          <a:xfrm flipV="1">
            <a:off x="1621120" y="4561888"/>
            <a:ext cx="0" cy="1766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8" name="Line 470"/>
          <p:cNvSpPr>
            <a:spLocks noChangeShapeType="1"/>
          </p:cNvSpPr>
          <p:nvPr/>
        </p:nvSpPr>
        <p:spPr bwMode="auto">
          <a:xfrm flipH="1">
            <a:off x="1636995" y="6016038"/>
            <a:ext cx="59769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9" name="Line 471"/>
          <p:cNvSpPr>
            <a:spLocks noChangeShapeType="1"/>
          </p:cNvSpPr>
          <p:nvPr/>
        </p:nvSpPr>
        <p:spPr bwMode="auto">
          <a:xfrm flipH="1">
            <a:off x="1636995" y="4863513"/>
            <a:ext cx="59769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69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317500" y="674601"/>
            <a:ext cx="3025187" cy="380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102870" tIns="51435" rIns="102870" bIns="51435">
            <a:spAutoFit/>
          </a:bodyPr>
          <a:lstStyle>
            <a:lvl1pPr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5143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02870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5430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0" latinLnBrk="0" hangingPunct="0">
              <a:defRPr/>
            </a:pPr>
            <a:r>
              <a:rPr kumimoji="0" lang="en-US" altLang="ko-KR" sz="1800" b="1" dirty="0" err="1">
                <a:solidFill>
                  <a:srgbClr val="000000"/>
                </a:solidFill>
                <a:latin typeface="arial" pitchFamily="34" charset="0"/>
                <a:ea typeface="+mn-ea"/>
              </a:rPr>
              <a:t>Nguyên</a:t>
            </a:r>
            <a:r>
              <a:rPr kumimoji="0" lang="en-US" altLang="ko-KR" sz="1800" b="1" dirty="0">
                <a:solidFill>
                  <a:srgbClr val="000000"/>
                </a:solidFill>
                <a:latin typeface="arial" pitchFamily="34" charset="0"/>
                <a:ea typeface="+mn-ea"/>
              </a:rPr>
              <a:t> </a:t>
            </a:r>
            <a:r>
              <a:rPr kumimoji="0" lang="en-US" altLang="ko-KR" sz="1800" b="1" dirty="0" err="1">
                <a:solidFill>
                  <a:srgbClr val="000000"/>
                </a:solidFill>
                <a:latin typeface="arial" pitchFamily="34" charset="0"/>
                <a:ea typeface="+mn-ea"/>
              </a:rPr>
              <a:t>nhân</a:t>
            </a:r>
            <a:r>
              <a:rPr kumimoji="0" lang="en-US" altLang="ko-KR" sz="1800" b="1" dirty="0">
                <a:solidFill>
                  <a:srgbClr val="000000"/>
                </a:solidFill>
                <a:latin typeface="arial" pitchFamily="34" charset="0"/>
                <a:ea typeface="+mn-ea"/>
              </a:rPr>
              <a:t> </a:t>
            </a:r>
            <a:r>
              <a:rPr kumimoji="0" lang="en-US" altLang="ko-KR" sz="1800" b="1" dirty="0" err="1">
                <a:solidFill>
                  <a:srgbClr val="000000"/>
                </a:solidFill>
                <a:latin typeface="arial" pitchFamily="34" charset="0"/>
                <a:ea typeface="+mn-ea"/>
              </a:rPr>
              <a:t>ngẫu</a:t>
            </a:r>
            <a:r>
              <a:rPr kumimoji="0" lang="en-US" altLang="ko-KR" sz="1800" b="1" dirty="0">
                <a:solidFill>
                  <a:srgbClr val="000000"/>
                </a:solidFill>
                <a:latin typeface="arial" pitchFamily="34" charset="0"/>
                <a:ea typeface="+mn-ea"/>
              </a:rPr>
              <a:t> </a:t>
            </a:r>
            <a:r>
              <a:rPr kumimoji="0" lang="en-US" altLang="ko-KR" sz="1800" b="1" dirty="0" err="1">
                <a:solidFill>
                  <a:srgbClr val="000000"/>
                </a:solidFill>
                <a:latin typeface="arial" pitchFamily="34" charset="0"/>
                <a:ea typeface="+mn-ea"/>
              </a:rPr>
              <a:t>nhiên</a:t>
            </a:r>
            <a:endParaRPr kumimoji="0" lang="en-US" altLang="ko-KR" sz="1800" b="1" dirty="0">
              <a:solidFill>
                <a:srgbClr val="000000"/>
              </a:solidFill>
              <a:latin typeface="arial" pitchFamily="34" charset="0"/>
              <a:ea typeface="+mn-ea"/>
            </a:endParaRPr>
          </a:p>
        </p:txBody>
      </p:sp>
      <p:sp>
        <p:nvSpPr>
          <p:cNvPr id="61" name="Rectangle 4"/>
          <p:cNvSpPr>
            <a:spLocks noChangeArrowheads="1"/>
          </p:cNvSpPr>
          <p:nvPr/>
        </p:nvSpPr>
        <p:spPr bwMode="auto">
          <a:xfrm>
            <a:off x="328612" y="1211176"/>
            <a:ext cx="9577388" cy="3261662"/>
          </a:xfrm>
          <a:prstGeom prst="rect">
            <a:avLst/>
          </a:prstGeom>
          <a:noFill/>
          <a:ln>
            <a:noFill/>
          </a:ln>
          <a:effectLst/>
        </p:spPr>
        <p:txBody>
          <a:bodyPr lIns="102870" tIns="51435" rIns="102870" bIns="51435">
            <a:spAutoFit/>
          </a:bodyPr>
          <a:lstStyle>
            <a:lvl1pPr marL="211138" indent="-211138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1271588" indent="-5143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2000250" indent="-5143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2728913" indent="-5143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3457575" indent="-5143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3914775" indent="-51435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4371975" indent="-51435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4829175" indent="-51435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5286375" indent="-51435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marL="0" indent="228600" eaLnBrk="0" latinLnBrk="0" hangingPunct="0">
              <a:defRPr/>
            </a:pPr>
            <a:r>
              <a:rPr kumimoji="0" lang="en-US" altLang="ko-KR" sz="1400" b="1" dirty="0">
                <a:latin typeface="arial" pitchFamily="34" charset="0"/>
                <a:ea typeface="+mn-ea"/>
              </a:rPr>
              <a:t>N</a:t>
            </a:r>
            <a:r>
              <a:rPr kumimoji="0" lang="vi-VN" altLang="ko-KR" sz="1400" b="1" dirty="0">
                <a:latin typeface="arial" pitchFamily="34" charset="0"/>
                <a:ea typeface="+mn-ea"/>
              </a:rPr>
              <a:t>guyên nhân ngẫu nhiên 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(Chance Causes) </a:t>
            </a:r>
            <a:r>
              <a:rPr kumimoji="0" lang="vi-VN" altLang="ko-KR" sz="1400" dirty="0">
                <a:latin typeface="arial" pitchFamily="34" charset="0"/>
                <a:ea typeface="+mn-ea"/>
              </a:rPr>
              <a:t>là nguyên nhân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tạo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ra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những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sự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biến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động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không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thể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tránh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khỏi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trong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quá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trình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sản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xuất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dù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có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được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kiểm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soát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chặt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chẽ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 hay </a:t>
            </a:r>
            <a:r>
              <a:rPr kumimoji="0" lang="en-US" altLang="ko-KR" sz="1400" dirty="0" err="1">
                <a:latin typeface="arial" pitchFamily="34" charset="0"/>
                <a:ea typeface="+mn-ea"/>
              </a:rPr>
              <a:t>không</a:t>
            </a:r>
            <a:r>
              <a:rPr kumimoji="0" lang="en-US" altLang="ko-KR" sz="1400" dirty="0">
                <a:latin typeface="arial" pitchFamily="34" charset="0"/>
                <a:ea typeface="+mn-ea"/>
              </a:rPr>
              <a:t>.</a:t>
            </a:r>
          </a:p>
          <a:p>
            <a:pPr marL="0" indent="228600" eaLnBrk="0" latinLnBrk="0" hangingPunct="0">
              <a:defRPr/>
            </a:pPr>
            <a:endParaRPr kumimoji="0" lang="en-US" altLang="ko-KR" sz="1400" b="1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defRPr/>
            </a:pPr>
            <a:endParaRPr kumimoji="0" lang="en-US" altLang="ko-KR" sz="1400" b="1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defRPr/>
            </a:pPr>
            <a:r>
              <a:rPr kumimoji="0" lang="en-US" altLang="ko-KR" sz="1400" b="1" dirty="0" err="1">
                <a:latin typeface="arial" pitchFamily="34" charset="0"/>
                <a:ea typeface="+mn-ea"/>
              </a:rPr>
              <a:t>Nguyên</a:t>
            </a:r>
            <a:r>
              <a:rPr kumimoji="0" lang="en-US" altLang="ko-KR" sz="1400" b="1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b="1" dirty="0" err="1">
                <a:latin typeface="arial" pitchFamily="34" charset="0"/>
                <a:ea typeface="+mn-ea"/>
              </a:rPr>
              <a:t>nhân</a:t>
            </a:r>
            <a:r>
              <a:rPr kumimoji="0" lang="en-US" altLang="ko-KR" sz="1400" b="1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b="1" dirty="0" err="1">
                <a:latin typeface="arial" pitchFamily="34" charset="0"/>
                <a:ea typeface="+mn-ea"/>
              </a:rPr>
              <a:t>ngẫu</a:t>
            </a:r>
            <a:r>
              <a:rPr kumimoji="0" lang="en-US" altLang="ko-KR" sz="1400" b="1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b="1" dirty="0" err="1">
                <a:latin typeface="arial" pitchFamily="34" charset="0"/>
                <a:ea typeface="+mn-ea"/>
              </a:rPr>
              <a:t>nhiên</a:t>
            </a:r>
            <a:r>
              <a:rPr kumimoji="0" lang="en-US" altLang="ko-KR" sz="1400" b="1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b="1" dirty="0" err="1">
                <a:latin typeface="arial" pitchFamily="34" charset="0"/>
                <a:ea typeface="+mn-ea"/>
              </a:rPr>
              <a:t>có</a:t>
            </a:r>
            <a:r>
              <a:rPr kumimoji="0" lang="en-US" altLang="ko-KR" sz="1400" b="1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b="1" dirty="0" err="1">
                <a:latin typeface="arial" pitchFamily="34" charset="0"/>
                <a:ea typeface="+mn-ea"/>
              </a:rPr>
              <a:t>thể</a:t>
            </a:r>
            <a:r>
              <a:rPr kumimoji="0" lang="en-US" altLang="ko-KR" sz="1400" b="1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400" b="1" dirty="0" err="1">
                <a:latin typeface="arial" pitchFamily="34" charset="0"/>
                <a:ea typeface="+mn-ea"/>
              </a:rPr>
              <a:t>là</a:t>
            </a:r>
            <a:r>
              <a:rPr kumimoji="0" lang="en-US" altLang="ko-KR" sz="1400" b="1" dirty="0">
                <a:latin typeface="arial" pitchFamily="34" charset="0"/>
                <a:ea typeface="+mn-ea"/>
              </a:rPr>
              <a:t>:</a:t>
            </a:r>
          </a:p>
          <a:p>
            <a:pPr marL="0" indent="228600" eaLnBrk="0" latinLnBrk="0" hangingPunct="0">
              <a:defRPr/>
            </a:pPr>
            <a:endParaRPr kumimoji="0" lang="ko-KR" altLang="en-US" sz="1400" b="1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Sự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khác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biệt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giữa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tay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nghê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của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mỗi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công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nhân</a:t>
            </a:r>
            <a:endParaRPr kumimoji="0" lang="ko-KR" altLang="en-US" sz="1200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Khác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biệt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trong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môi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trường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làm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việc</a:t>
            </a:r>
            <a:endParaRPr kumimoji="0" lang="ko-KR" altLang="en-US" sz="1200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Sự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sai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khác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nhỏ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giữa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linh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kiện</a:t>
            </a:r>
            <a:endParaRPr kumimoji="0" lang="en-US" altLang="ko-KR" sz="1200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Khác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biệt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trong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sản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xuất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những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thiết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bị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cùng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loại</a:t>
            </a:r>
            <a:endParaRPr kumimoji="0" lang="en-US" altLang="ko-KR" sz="1200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Khác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biệt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về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khí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hậu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,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độ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ẩm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,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nhiệt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độ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,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và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thời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gian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làm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việc</a:t>
            </a:r>
            <a:endParaRPr kumimoji="0" lang="en-US" altLang="ko-KR" sz="1200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Khác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biệt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do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thay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đổi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môi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trường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làm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việc</a:t>
            </a:r>
            <a:endParaRPr kumimoji="0" lang="en-US" altLang="ko-KR" sz="1200" dirty="0">
              <a:latin typeface="arial" pitchFamily="34" charset="0"/>
              <a:ea typeface="+mn-ea"/>
            </a:endParaRPr>
          </a:p>
          <a:p>
            <a:pPr marL="0" indent="228600" eaLnBrk="0" latinLnBrk="0" hangingPunct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Khác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biệt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do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sai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số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trong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quá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trình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sản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xuất</a:t>
            </a:r>
            <a:endParaRPr kumimoji="0" lang="en-US" altLang="ko-KR" sz="1200" dirty="0">
              <a:latin typeface="arial" pitchFamily="34" charset="0"/>
              <a:ea typeface="+mn-ea"/>
            </a:endParaRPr>
          </a:p>
          <a:p>
            <a:pPr marL="0" indent="0" eaLnBrk="0" latinLnBrk="0" hangingPunct="0">
              <a:lnSpc>
                <a:spcPct val="130000"/>
              </a:lnSpc>
              <a:defRPr/>
            </a:pPr>
            <a:endParaRPr kumimoji="0" lang="en-US" altLang="ko-KR" sz="1200" dirty="0">
              <a:latin typeface="arial" pitchFamily="34" charset="0"/>
              <a:ea typeface="+mn-ea"/>
            </a:endParaRPr>
          </a:p>
        </p:txBody>
      </p:sp>
      <p:sp>
        <p:nvSpPr>
          <p:cNvPr id="62" name="Text Box 7"/>
          <p:cNvSpPr txBox="1">
            <a:spLocks noChangeArrowheads="1"/>
          </p:cNvSpPr>
          <p:nvPr/>
        </p:nvSpPr>
        <p:spPr bwMode="auto">
          <a:xfrm>
            <a:off x="292770" y="5358867"/>
            <a:ext cx="4824536" cy="74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2870" tIns="51435" rIns="102870" bIns="51435">
            <a:spAutoFit/>
          </a:bodyPr>
          <a:lstStyle>
            <a:lvl1pPr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5143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02870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5430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eaLnBrk="0" latinLnBrk="0" hangingPunct="0">
              <a:lnSpc>
                <a:spcPct val="110000"/>
              </a:lnSpc>
              <a:defRPr/>
            </a:pP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Quá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trình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bị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tác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động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bởi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nhóm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nguyên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nhân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ngẫu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nhiên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do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đó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quá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trình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được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coi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là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khá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ổn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định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và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có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thể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được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dự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báo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trước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.</a:t>
            </a:r>
          </a:p>
        </p:txBody>
      </p:sp>
      <p:pic>
        <p:nvPicPr>
          <p:cNvPr id="63" name="Picture 5" descr="우연원인"/>
          <p:cNvPicPr>
            <a:picLocks noChangeAspect="1" noChangeArrowheads="1"/>
          </p:cNvPicPr>
          <p:nvPr/>
        </p:nvPicPr>
        <p:blipFill>
          <a:blip r:embed="rId2" cstate="print">
            <a:lum bright="-1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" t="7355"/>
          <a:stretch>
            <a:fillRect/>
          </a:stretch>
        </p:blipFill>
        <p:spPr bwMode="auto">
          <a:xfrm>
            <a:off x="5051925" y="4259524"/>
            <a:ext cx="4230687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3284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92113" y="661348"/>
            <a:ext cx="3802644" cy="380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102870" tIns="51435" rIns="102870" bIns="51435">
            <a:spAutoFit/>
          </a:bodyPr>
          <a:lstStyle>
            <a:defPPr>
              <a:defRPr lang="ko-KR"/>
            </a:defPPr>
            <a:lvl1pPr defTabSz="1028700" eaLnBrk="0" latinLnBrk="0" hangingPunct="0">
              <a:defRPr kumimoji="0" sz="1800" b="1">
                <a:solidFill>
                  <a:srgbClr val="000000"/>
                </a:solidFill>
                <a:latin typeface="+mn-ea"/>
                <a:ea typeface="+mn-ea"/>
              </a:defRPr>
            </a:lvl1pPr>
            <a:lvl2pPr marL="514350" defTabSz="1028700">
              <a:defRPr sz="2400">
                <a:latin typeface="Times New Roman" pitchFamily="18" charset="0"/>
              </a:defRPr>
            </a:lvl2pPr>
            <a:lvl3pPr marL="1028700" defTabSz="1028700">
              <a:defRPr sz="2400">
                <a:latin typeface="Times New Roman" pitchFamily="18" charset="0"/>
              </a:defRPr>
            </a:lvl3pPr>
            <a:lvl4pPr marL="1543050" defTabSz="1028700">
              <a:defRPr sz="2400">
                <a:latin typeface="Times New Roman" pitchFamily="18" charset="0"/>
              </a:defRPr>
            </a:lvl4pPr>
            <a:lvl5pPr marL="2057400" defTabSz="1028700">
              <a:defRPr sz="2400">
                <a:latin typeface="Times New Roman" pitchFamily="18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 sz="2400"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ko-KR" dirty="0" err="1">
                <a:latin typeface="arial" pitchFamily="34" charset="0"/>
              </a:rPr>
              <a:t>Nguyên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nhân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không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ngẫu</a:t>
            </a:r>
            <a:r>
              <a:rPr lang="en-US" altLang="ko-KR" dirty="0">
                <a:latin typeface="arial" pitchFamily="34" charset="0"/>
              </a:rPr>
              <a:t> </a:t>
            </a:r>
            <a:r>
              <a:rPr lang="en-US" altLang="ko-KR" dirty="0" err="1">
                <a:latin typeface="arial" pitchFamily="34" charset="0"/>
              </a:rPr>
              <a:t>nhiên</a:t>
            </a:r>
            <a:endParaRPr lang="en-US" altLang="ko-KR" dirty="0">
              <a:latin typeface="arial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2113" y="1365350"/>
            <a:ext cx="9169399" cy="211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2870" tIns="51435" rIns="102870" bIns="51435">
            <a:spAutoFit/>
          </a:bodyPr>
          <a:lstStyle>
            <a:lvl1pPr marL="211138" indent="-211138" defTabSz="10287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0287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0287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0287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0287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228600" latinLnBrk="0"/>
            <a:r>
              <a:rPr kumimoji="0" lang="en-US" altLang="ko-KR" sz="1400" b="1" dirty="0" err="1">
                <a:latin typeface="arial" pitchFamily="34" charset="0"/>
              </a:rPr>
              <a:t>Nguyên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nhân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không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ngẫu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nhiên</a:t>
            </a:r>
            <a:r>
              <a:rPr kumimoji="0" lang="en-US" altLang="ko-KR" sz="1400" b="1" dirty="0">
                <a:latin typeface="arial" pitchFamily="34" charset="0"/>
              </a:rPr>
              <a:t> (Assignable Causes) </a:t>
            </a:r>
            <a:r>
              <a:rPr kumimoji="0" lang="en-US" altLang="ko-KR" sz="1400" b="1" dirty="0" err="1">
                <a:latin typeface="arial" pitchFamily="34" charset="0"/>
              </a:rPr>
              <a:t>còn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gọi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là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nguyên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nhân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không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thể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tránh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được</a:t>
            </a:r>
            <a:r>
              <a:rPr kumimoji="0" lang="en-US" altLang="ko-KR" sz="1400" b="1" dirty="0">
                <a:latin typeface="arial" pitchFamily="34" charset="0"/>
              </a:rPr>
              <a:t> (Avoidable Causes). </a:t>
            </a:r>
            <a:r>
              <a:rPr kumimoji="0" lang="en-US" altLang="ko-KR" sz="1400" b="1" dirty="0" err="1">
                <a:latin typeface="arial" pitchFamily="34" charset="0"/>
              </a:rPr>
              <a:t>Những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nguyên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nhân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này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thường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không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kéo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dài</a:t>
            </a:r>
            <a:r>
              <a:rPr kumimoji="0" lang="en-US" altLang="ko-KR" sz="1400" b="1" dirty="0">
                <a:latin typeface="arial" pitchFamily="34" charset="0"/>
              </a:rPr>
              <a:t>, </a:t>
            </a:r>
            <a:r>
              <a:rPr kumimoji="0" lang="en-US" altLang="ko-KR" sz="1400" b="1" dirty="0" err="1">
                <a:latin typeface="arial" pitchFamily="34" charset="0"/>
              </a:rPr>
              <a:t>nhưng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chúng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xảy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ra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không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thường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xuyên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và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khá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bất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ngờ</a:t>
            </a:r>
            <a:r>
              <a:rPr kumimoji="0" lang="en-US" altLang="ko-KR" sz="1400" b="1" dirty="0">
                <a:latin typeface="arial" pitchFamily="34" charset="0"/>
              </a:rPr>
              <a:t>, </a:t>
            </a:r>
            <a:r>
              <a:rPr kumimoji="0" lang="en-US" altLang="ko-KR" sz="1400" b="1" dirty="0" err="1">
                <a:latin typeface="arial" pitchFamily="34" charset="0"/>
              </a:rPr>
              <a:t>làm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tăng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chênh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lệch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về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chất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lượng</a:t>
            </a:r>
            <a:r>
              <a:rPr kumimoji="0" lang="en-US" altLang="ko-KR" sz="1400" b="1" dirty="0">
                <a:latin typeface="arial" pitchFamily="34" charset="0"/>
              </a:rPr>
              <a:t>.</a:t>
            </a:r>
          </a:p>
          <a:p>
            <a:pPr marL="0" indent="228600" latinLnBrk="0">
              <a:lnSpc>
                <a:spcPct val="120000"/>
              </a:lnSpc>
            </a:pPr>
            <a:r>
              <a:rPr kumimoji="0" lang="en-US" altLang="ko-KR" sz="1400" b="1" dirty="0" err="1">
                <a:latin typeface="arial" pitchFamily="34" charset="0"/>
              </a:rPr>
              <a:t>Nguyên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nhân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không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ngẫu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nhiên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có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thể</a:t>
            </a:r>
            <a:r>
              <a:rPr kumimoji="0" lang="en-US" altLang="ko-KR" sz="1400" b="1" dirty="0">
                <a:latin typeface="arial" pitchFamily="34" charset="0"/>
              </a:rPr>
              <a:t> </a:t>
            </a:r>
            <a:r>
              <a:rPr kumimoji="0" lang="en-US" altLang="ko-KR" sz="1400" b="1" dirty="0" err="1">
                <a:latin typeface="arial" pitchFamily="34" charset="0"/>
              </a:rPr>
              <a:t>là</a:t>
            </a:r>
            <a:r>
              <a:rPr kumimoji="0" lang="en-US" altLang="ko-KR" sz="1400" b="1" dirty="0">
                <a:latin typeface="arial" pitchFamily="34" charset="0"/>
              </a:rPr>
              <a:t>:</a:t>
            </a:r>
          </a:p>
          <a:p>
            <a:pPr marL="0" indent="228600" latinLnBrk="0">
              <a:lnSpc>
                <a:spcPct val="120000"/>
              </a:lnSpc>
            </a:pPr>
            <a:endParaRPr kumimoji="0" lang="ko-KR" altLang="en-US" sz="800" dirty="0">
              <a:latin typeface="arial" pitchFamily="34" charset="0"/>
              <a:ea typeface="맑은 고딕" pitchFamily="50" charset="-127"/>
            </a:endParaRPr>
          </a:p>
          <a:p>
            <a:pPr marL="0" indent="228600" latinLnBrk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Sự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bất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cẩn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của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công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nhân</a:t>
            </a:r>
            <a:endParaRPr kumimoji="0" lang="ko-KR" altLang="en-US" sz="1200" dirty="0">
              <a:latin typeface="arial" pitchFamily="34" charset="0"/>
              <a:ea typeface="+mn-ea"/>
            </a:endParaRPr>
          </a:p>
          <a:p>
            <a:pPr marL="0" indent="228600" latinLnBrk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Sử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dụng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linh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phụ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kiện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bị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lỗi</a:t>
            </a:r>
            <a:endParaRPr kumimoji="0" lang="ko-KR" altLang="en-US" sz="1200" dirty="0">
              <a:latin typeface="arial" pitchFamily="34" charset="0"/>
              <a:ea typeface="+mn-ea"/>
            </a:endParaRPr>
          </a:p>
          <a:p>
            <a:pPr marL="0" indent="228600" latinLnBrk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Vấn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đề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nằm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ở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các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thiết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bị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sản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xuất</a:t>
            </a:r>
            <a:endParaRPr kumimoji="0" lang="en-US" altLang="ko-KR" sz="1200" dirty="0">
              <a:latin typeface="arial" pitchFamily="34" charset="0"/>
              <a:ea typeface="+mn-ea"/>
            </a:endParaRPr>
          </a:p>
          <a:p>
            <a:pPr marL="0" indent="228600" latinLnBrk="0">
              <a:lnSpc>
                <a:spcPct val="130000"/>
              </a:lnSpc>
              <a:buFontTx/>
              <a:buChar char="•"/>
              <a:defRPr/>
            </a:pPr>
            <a:r>
              <a:rPr kumimoji="0" lang="en-US" altLang="ko-KR" sz="1200" dirty="0" err="1">
                <a:latin typeface="arial" pitchFamily="34" charset="0"/>
                <a:ea typeface="+mn-ea"/>
              </a:rPr>
              <a:t>Không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đảm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bảo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được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những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nguyên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tắc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cơ</a:t>
            </a:r>
            <a:r>
              <a:rPr kumimoji="0" lang="en-US" altLang="ko-KR" sz="1200" dirty="0">
                <a:latin typeface="arial" pitchFamily="34" charset="0"/>
                <a:ea typeface="+mn-ea"/>
              </a:rPr>
              <a:t> </a:t>
            </a:r>
            <a:r>
              <a:rPr kumimoji="0" lang="en-US" altLang="ko-KR" sz="1200" dirty="0" err="1">
                <a:latin typeface="arial" pitchFamily="34" charset="0"/>
                <a:ea typeface="+mn-ea"/>
              </a:rPr>
              <a:t>bản</a:t>
            </a:r>
            <a:endParaRPr kumimoji="0" lang="en-US" altLang="ko-KR" sz="800" dirty="0">
              <a:latin typeface="arial" pitchFamily="34" charset="0"/>
              <a:ea typeface="맑은 고딕" pitchFamily="50" charset="-127"/>
            </a:endParaRPr>
          </a:p>
        </p:txBody>
      </p:sp>
      <p:pic>
        <p:nvPicPr>
          <p:cNvPr id="6" name="Picture 31" descr="1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0" y="4516160"/>
            <a:ext cx="4333875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972050" y="3364545"/>
            <a:ext cx="4589462" cy="1204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2870" tIns="51435" rIns="102870" bIns="51435">
            <a:spAutoFit/>
          </a:bodyPr>
          <a:lstStyle>
            <a:lvl1pPr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5143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02870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54305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algn="l" defTabSz="102870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just" eaLnBrk="0" latinLnBrk="0" hangingPunct="0">
              <a:lnSpc>
                <a:spcPct val="110000"/>
              </a:lnSpc>
              <a:defRPr/>
            </a:pP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Quá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trình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bị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tác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động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bởi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nhóm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nguyên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nhân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không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ngẫu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nhiên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sẽ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đặc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trưng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bởi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dữ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liệu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sẽ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không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biến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động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một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cách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ngẫu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nhiên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,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nhưng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nó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tạo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ra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một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tình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trạng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bất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thường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làm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cho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quá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trình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này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trở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nên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không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thể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đoán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trước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ko-KR" sz="1300" dirty="0" err="1">
                <a:latin typeface="Arial" pitchFamily="34" charset="0"/>
                <a:ea typeface="+mn-ea"/>
                <a:cs typeface="Arial" pitchFamily="34" charset="0"/>
              </a:rPr>
              <a:t>được</a:t>
            </a:r>
            <a:r>
              <a:rPr kumimoji="0" lang="en-US" altLang="ko-KR" sz="1300" dirty="0">
                <a:latin typeface="Arial" pitchFamily="34" charset="0"/>
                <a:ea typeface="+mn-ea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33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17"/>
          <p:cNvSpPr txBox="1">
            <a:spLocks noChangeArrowheads="1"/>
          </p:cNvSpPr>
          <p:nvPr/>
        </p:nvSpPr>
        <p:spPr bwMode="auto">
          <a:xfrm>
            <a:off x="1266066" y="2552960"/>
            <a:ext cx="6046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dirty="0">
                <a:latin typeface="arial" pitchFamily="34" charset="0"/>
                <a:ea typeface="맑은 고딕" pitchFamily="50" charset="-127"/>
              </a:rPr>
              <a:t>UCL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958091" y="2206885"/>
            <a:ext cx="8013700" cy="23050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ko-KR" altLang="ko-KR" sz="1400" b="1" dirty="0">
              <a:solidFill>
                <a:schemeClr val="bg1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35" name="Line 11"/>
          <p:cNvSpPr>
            <a:spLocks noChangeShapeType="1"/>
          </p:cNvSpPr>
          <p:nvPr/>
        </p:nvSpPr>
        <p:spPr bwMode="auto">
          <a:xfrm>
            <a:off x="2274129" y="2398972"/>
            <a:ext cx="0" cy="18510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" name="Rectangle 22"/>
          <p:cNvSpPr>
            <a:spLocks noChangeArrowheads="1"/>
          </p:cNvSpPr>
          <p:nvPr/>
        </p:nvSpPr>
        <p:spPr bwMode="auto">
          <a:xfrm>
            <a:off x="2805941" y="2325947"/>
            <a:ext cx="5000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가는으뜸체"/>
                <a:sym typeface="Wingdings 2" pitchFamily="18" charset="2"/>
              </a:rPr>
              <a:t>“a”</a:t>
            </a: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2666241" y="4099185"/>
            <a:ext cx="5148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가는으뜸체"/>
                <a:sym typeface="Wingdings 2" pitchFamily="18" charset="2"/>
              </a:rPr>
              <a:t>“b”</a:t>
            </a:r>
          </a:p>
        </p:txBody>
      </p:sp>
      <p:sp>
        <p:nvSpPr>
          <p:cNvPr id="38" name="Rectangle 27"/>
          <p:cNvSpPr>
            <a:spLocks noChangeArrowheads="1"/>
          </p:cNvSpPr>
          <p:nvPr/>
        </p:nvSpPr>
        <p:spPr bwMode="auto">
          <a:xfrm>
            <a:off x="7349366" y="2524385"/>
            <a:ext cx="3048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가는으뜸체"/>
              </a:rPr>
              <a:t>+</a:t>
            </a:r>
          </a:p>
        </p:txBody>
      </p:sp>
      <p:sp>
        <p:nvSpPr>
          <p:cNvPr id="39" name="Rectangle 28"/>
          <p:cNvSpPr>
            <a:spLocks noChangeArrowheads="1"/>
          </p:cNvSpPr>
          <p:nvPr/>
        </p:nvSpPr>
        <p:spPr bwMode="auto">
          <a:xfrm>
            <a:off x="4108397" y="3679528"/>
            <a:ext cx="5143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가는으뜸체"/>
              </a:rPr>
              <a:t>-3σ</a:t>
            </a:r>
          </a:p>
        </p:txBody>
      </p:sp>
      <p:sp>
        <p:nvSpPr>
          <p:cNvPr id="40" name="Line 17"/>
          <p:cNvSpPr>
            <a:spLocks noChangeShapeType="1"/>
          </p:cNvSpPr>
          <p:nvPr/>
        </p:nvSpPr>
        <p:spPr bwMode="auto">
          <a:xfrm>
            <a:off x="1816929" y="2714885"/>
            <a:ext cx="6435725" cy="0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41" name="Line 18"/>
          <p:cNvSpPr>
            <a:spLocks noChangeShapeType="1"/>
          </p:cNvSpPr>
          <p:nvPr/>
        </p:nvSpPr>
        <p:spPr bwMode="auto">
          <a:xfrm>
            <a:off x="1816929" y="3934085"/>
            <a:ext cx="6435725" cy="0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" name="Line 31"/>
          <p:cNvSpPr>
            <a:spLocks noChangeShapeType="1"/>
          </p:cNvSpPr>
          <p:nvPr/>
        </p:nvSpPr>
        <p:spPr bwMode="auto">
          <a:xfrm>
            <a:off x="1793116" y="3326072"/>
            <a:ext cx="6434138" cy="0"/>
          </a:xfrm>
          <a:prstGeom prst="line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dirty="0"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1278766" y="3756285"/>
            <a:ext cx="5822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dirty="0">
                <a:latin typeface="arial" pitchFamily="34" charset="0"/>
                <a:ea typeface="맑은 고딕" pitchFamily="50" charset="-127"/>
              </a:rPr>
              <a:t>LCL</a:t>
            </a: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1348616" y="3180022"/>
            <a:ext cx="4571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dirty="0">
                <a:latin typeface="arial" pitchFamily="34" charset="0"/>
                <a:ea typeface="맑은 고딕" pitchFamily="50" charset="-127"/>
              </a:rPr>
              <a:t>CL</a:t>
            </a:r>
          </a:p>
        </p:txBody>
      </p:sp>
      <p:grpSp>
        <p:nvGrpSpPr>
          <p:cNvPr id="46" name="Group 23"/>
          <p:cNvGrpSpPr>
            <a:grpSpLocks/>
          </p:cNvGrpSpPr>
          <p:nvPr/>
        </p:nvGrpSpPr>
        <p:grpSpPr bwMode="auto">
          <a:xfrm rot="5400000">
            <a:off x="2025685" y="2772829"/>
            <a:ext cx="1612900" cy="1084262"/>
            <a:chOff x="826" y="1347"/>
            <a:chExt cx="2492" cy="1713"/>
          </a:xfrm>
        </p:grpSpPr>
        <p:sp>
          <p:nvSpPr>
            <p:cNvPr id="47" name="Freeform 24"/>
            <p:cNvSpPr>
              <a:spLocks/>
            </p:cNvSpPr>
            <p:nvPr/>
          </p:nvSpPr>
          <p:spPr bwMode="auto">
            <a:xfrm>
              <a:off x="826" y="1347"/>
              <a:ext cx="1249" cy="1713"/>
            </a:xfrm>
            <a:custGeom>
              <a:avLst/>
              <a:gdLst>
                <a:gd name="T0" fmla="*/ 0 w 1249"/>
                <a:gd name="T1" fmla="*/ 1712 h 1713"/>
                <a:gd name="T2" fmla="*/ 33 w 1249"/>
                <a:gd name="T3" fmla="*/ 1706 h 1713"/>
                <a:gd name="T4" fmla="*/ 89 w 1249"/>
                <a:gd name="T5" fmla="*/ 1695 h 1713"/>
                <a:gd name="T6" fmla="*/ 134 w 1249"/>
                <a:gd name="T7" fmla="*/ 1689 h 1713"/>
                <a:gd name="T8" fmla="*/ 184 w 1249"/>
                <a:gd name="T9" fmla="*/ 1678 h 1713"/>
                <a:gd name="T10" fmla="*/ 240 w 1249"/>
                <a:gd name="T11" fmla="*/ 1661 h 1713"/>
                <a:gd name="T12" fmla="*/ 285 w 1249"/>
                <a:gd name="T13" fmla="*/ 1650 h 1713"/>
                <a:gd name="T14" fmla="*/ 319 w 1249"/>
                <a:gd name="T15" fmla="*/ 1639 h 1713"/>
                <a:gd name="T16" fmla="*/ 363 w 1249"/>
                <a:gd name="T17" fmla="*/ 1622 h 1713"/>
                <a:gd name="T18" fmla="*/ 391 w 1249"/>
                <a:gd name="T19" fmla="*/ 1611 h 1713"/>
                <a:gd name="T20" fmla="*/ 425 w 1249"/>
                <a:gd name="T21" fmla="*/ 1594 h 1713"/>
                <a:gd name="T22" fmla="*/ 464 w 1249"/>
                <a:gd name="T23" fmla="*/ 1577 h 1713"/>
                <a:gd name="T24" fmla="*/ 492 w 1249"/>
                <a:gd name="T25" fmla="*/ 1560 h 1713"/>
                <a:gd name="T26" fmla="*/ 509 w 1249"/>
                <a:gd name="T27" fmla="*/ 1544 h 1713"/>
                <a:gd name="T28" fmla="*/ 531 w 1249"/>
                <a:gd name="T29" fmla="*/ 1527 h 1713"/>
                <a:gd name="T30" fmla="*/ 553 w 1249"/>
                <a:gd name="T31" fmla="*/ 1504 h 1713"/>
                <a:gd name="T32" fmla="*/ 570 w 1249"/>
                <a:gd name="T33" fmla="*/ 1482 h 1713"/>
                <a:gd name="T34" fmla="*/ 576 w 1249"/>
                <a:gd name="T35" fmla="*/ 1476 h 1713"/>
                <a:gd name="T36" fmla="*/ 587 w 1249"/>
                <a:gd name="T37" fmla="*/ 1460 h 1713"/>
                <a:gd name="T38" fmla="*/ 615 w 1249"/>
                <a:gd name="T39" fmla="*/ 1415 h 1713"/>
                <a:gd name="T40" fmla="*/ 637 w 1249"/>
                <a:gd name="T41" fmla="*/ 1370 h 1713"/>
                <a:gd name="T42" fmla="*/ 660 w 1249"/>
                <a:gd name="T43" fmla="*/ 1326 h 1713"/>
                <a:gd name="T44" fmla="*/ 682 w 1249"/>
                <a:gd name="T45" fmla="*/ 1275 h 1713"/>
                <a:gd name="T46" fmla="*/ 704 w 1249"/>
                <a:gd name="T47" fmla="*/ 1225 h 1713"/>
                <a:gd name="T48" fmla="*/ 727 w 1249"/>
                <a:gd name="T49" fmla="*/ 1169 h 1713"/>
                <a:gd name="T50" fmla="*/ 744 w 1249"/>
                <a:gd name="T51" fmla="*/ 1124 h 1713"/>
                <a:gd name="T52" fmla="*/ 755 w 1249"/>
                <a:gd name="T53" fmla="*/ 1091 h 1713"/>
                <a:gd name="T54" fmla="*/ 794 w 1249"/>
                <a:gd name="T55" fmla="*/ 979 h 1713"/>
                <a:gd name="T56" fmla="*/ 872 w 1249"/>
                <a:gd name="T57" fmla="*/ 744 h 1713"/>
                <a:gd name="T58" fmla="*/ 912 w 1249"/>
                <a:gd name="T59" fmla="*/ 626 h 1713"/>
                <a:gd name="T60" fmla="*/ 923 w 1249"/>
                <a:gd name="T61" fmla="*/ 592 h 1713"/>
                <a:gd name="T62" fmla="*/ 945 w 1249"/>
                <a:gd name="T63" fmla="*/ 536 h 1713"/>
                <a:gd name="T64" fmla="*/ 962 w 1249"/>
                <a:gd name="T65" fmla="*/ 486 h 1713"/>
                <a:gd name="T66" fmla="*/ 979 w 1249"/>
                <a:gd name="T67" fmla="*/ 436 h 1713"/>
                <a:gd name="T68" fmla="*/ 1001 w 1249"/>
                <a:gd name="T69" fmla="*/ 380 h 1713"/>
                <a:gd name="T70" fmla="*/ 1018 w 1249"/>
                <a:gd name="T71" fmla="*/ 335 h 1713"/>
                <a:gd name="T72" fmla="*/ 1035 w 1249"/>
                <a:gd name="T73" fmla="*/ 291 h 1713"/>
                <a:gd name="T74" fmla="*/ 1052 w 1249"/>
                <a:gd name="T75" fmla="*/ 251 h 1713"/>
                <a:gd name="T76" fmla="*/ 1057 w 1249"/>
                <a:gd name="T77" fmla="*/ 235 h 1713"/>
                <a:gd name="T78" fmla="*/ 1063 w 1249"/>
                <a:gd name="T79" fmla="*/ 218 h 1713"/>
                <a:gd name="T80" fmla="*/ 1080 w 1249"/>
                <a:gd name="T81" fmla="*/ 179 h 1713"/>
                <a:gd name="T82" fmla="*/ 1091 w 1249"/>
                <a:gd name="T83" fmla="*/ 151 h 1713"/>
                <a:gd name="T84" fmla="*/ 1102 w 1249"/>
                <a:gd name="T85" fmla="*/ 123 h 1713"/>
                <a:gd name="T86" fmla="*/ 1119 w 1249"/>
                <a:gd name="T87" fmla="*/ 95 h 1713"/>
                <a:gd name="T88" fmla="*/ 1130 w 1249"/>
                <a:gd name="T89" fmla="*/ 72 h 1713"/>
                <a:gd name="T90" fmla="*/ 1141 w 1249"/>
                <a:gd name="T91" fmla="*/ 55 h 1713"/>
                <a:gd name="T92" fmla="*/ 1152 w 1249"/>
                <a:gd name="T93" fmla="*/ 44 h 1713"/>
                <a:gd name="T94" fmla="*/ 1158 w 1249"/>
                <a:gd name="T95" fmla="*/ 39 h 1713"/>
                <a:gd name="T96" fmla="*/ 1169 w 1249"/>
                <a:gd name="T97" fmla="*/ 27 h 1713"/>
                <a:gd name="T98" fmla="*/ 1192 w 1249"/>
                <a:gd name="T99" fmla="*/ 16 h 1713"/>
                <a:gd name="T100" fmla="*/ 1214 w 1249"/>
                <a:gd name="T101" fmla="*/ 5 h 1713"/>
                <a:gd name="T102" fmla="*/ 1236 w 1249"/>
                <a:gd name="T103" fmla="*/ 0 h 1713"/>
                <a:gd name="T104" fmla="*/ 1248 w 1249"/>
                <a:gd name="T105" fmla="*/ 0 h 171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49"/>
                <a:gd name="T160" fmla="*/ 0 h 1713"/>
                <a:gd name="T161" fmla="*/ 1249 w 1249"/>
                <a:gd name="T162" fmla="*/ 1713 h 171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49" h="1713">
                  <a:moveTo>
                    <a:pt x="0" y="1712"/>
                  </a:moveTo>
                  <a:lnTo>
                    <a:pt x="33" y="1706"/>
                  </a:lnTo>
                  <a:lnTo>
                    <a:pt x="89" y="1695"/>
                  </a:lnTo>
                  <a:lnTo>
                    <a:pt x="134" y="1689"/>
                  </a:lnTo>
                  <a:lnTo>
                    <a:pt x="184" y="1678"/>
                  </a:lnTo>
                  <a:lnTo>
                    <a:pt x="240" y="1661"/>
                  </a:lnTo>
                  <a:lnTo>
                    <a:pt x="285" y="1650"/>
                  </a:lnTo>
                  <a:lnTo>
                    <a:pt x="319" y="1639"/>
                  </a:lnTo>
                  <a:lnTo>
                    <a:pt x="363" y="1622"/>
                  </a:lnTo>
                  <a:lnTo>
                    <a:pt x="391" y="1611"/>
                  </a:lnTo>
                  <a:lnTo>
                    <a:pt x="425" y="1594"/>
                  </a:lnTo>
                  <a:lnTo>
                    <a:pt x="464" y="1577"/>
                  </a:lnTo>
                  <a:lnTo>
                    <a:pt x="492" y="1560"/>
                  </a:lnTo>
                  <a:lnTo>
                    <a:pt x="509" y="1544"/>
                  </a:lnTo>
                  <a:lnTo>
                    <a:pt x="531" y="1527"/>
                  </a:lnTo>
                  <a:lnTo>
                    <a:pt x="553" y="1504"/>
                  </a:lnTo>
                  <a:lnTo>
                    <a:pt x="570" y="1482"/>
                  </a:lnTo>
                  <a:lnTo>
                    <a:pt x="576" y="1476"/>
                  </a:lnTo>
                  <a:lnTo>
                    <a:pt x="587" y="1460"/>
                  </a:lnTo>
                  <a:lnTo>
                    <a:pt x="615" y="1415"/>
                  </a:lnTo>
                  <a:lnTo>
                    <a:pt x="637" y="1370"/>
                  </a:lnTo>
                  <a:lnTo>
                    <a:pt x="660" y="1326"/>
                  </a:lnTo>
                  <a:lnTo>
                    <a:pt x="682" y="1275"/>
                  </a:lnTo>
                  <a:lnTo>
                    <a:pt x="704" y="1225"/>
                  </a:lnTo>
                  <a:lnTo>
                    <a:pt x="727" y="1169"/>
                  </a:lnTo>
                  <a:lnTo>
                    <a:pt x="744" y="1124"/>
                  </a:lnTo>
                  <a:lnTo>
                    <a:pt x="755" y="1091"/>
                  </a:lnTo>
                  <a:lnTo>
                    <a:pt x="794" y="979"/>
                  </a:lnTo>
                  <a:lnTo>
                    <a:pt x="872" y="744"/>
                  </a:lnTo>
                  <a:lnTo>
                    <a:pt x="912" y="626"/>
                  </a:lnTo>
                  <a:lnTo>
                    <a:pt x="923" y="592"/>
                  </a:lnTo>
                  <a:lnTo>
                    <a:pt x="945" y="536"/>
                  </a:lnTo>
                  <a:lnTo>
                    <a:pt x="962" y="486"/>
                  </a:lnTo>
                  <a:lnTo>
                    <a:pt x="979" y="436"/>
                  </a:lnTo>
                  <a:lnTo>
                    <a:pt x="1001" y="380"/>
                  </a:lnTo>
                  <a:lnTo>
                    <a:pt x="1018" y="335"/>
                  </a:lnTo>
                  <a:lnTo>
                    <a:pt x="1035" y="291"/>
                  </a:lnTo>
                  <a:lnTo>
                    <a:pt x="1052" y="251"/>
                  </a:lnTo>
                  <a:lnTo>
                    <a:pt x="1057" y="235"/>
                  </a:lnTo>
                  <a:lnTo>
                    <a:pt x="1063" y="218"/>
                  </a:lnTo>
                  <a:lnTo>
                    <a:pt x="1080" y="179"/>
                  </a:lnTo>
                  <a:lnTo>
                    <a:pt x="1091" y="151"/>
                  </a:lnTo>
                  <a:lnTo>
                    <a:pt x="1102" y="123"/>
                  </a:lnTo>
                  <a:lnTo>
                    <a:pt x="1119" y="95"/>
                  </a:lnTo>
                  <a:lnTo>
                    <a:pt x="1130" y="72"/>
                  </a:lnTo>
                  <a:lnTo>
                    <a:pt x="1141" y="55"/>
                  </a:lnTo>
                  <a:lnTo>
                    <a:pt x="1152" y="44"/>
                  </a:lnTo>
                  <a:lnTo>
                    <a:pt x="1158" y="39"/>
                  </a:lnTo>
                  <a:lnTo>
                    <a:pt x="1169" y="27"/>
                  </a:lnTo>
                  <a:lnTo>
                    <a:pt x="1192" y="16"/>
                  </a:lnTo>
                  <a:lnTo>
                    <a:pt x="1214" y="5"/>
                  </a:lnTo>
                  <a:lnTo>
                    <a:pt x="1236" y="0"/>
                  </a:lnTo>
                  <a:lnTo>
                    <a:pt x="1248" y="0"/>
                  </a:lnTo>
                </a:path>
              </a:pathLst>
            </a:custGeom>
            <a:noFill/>
            <a:ln w="25400" cap="rnd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Freeform 25"/>
            <p:cNvSpPr>
              <a:spLocks/>
            </p:cNvSpPr>
            <p:nvPr/>
          </p:nvSpPr>
          <p:spPr bwMode="auto">
            <a:xfrm>
              <a:off x="2074" y="1347"/>
              <a:ext cx="1244" cy="1713"/>
            </a:xfrm>
            <a:custGeom>
              <a:avLst/>
              <a:gdLst>
                <a:gd name="T0" fmla="*/ 1243 w 1244"/>
                <a:gd name="T1" fmla="*/ 1712 h 1713"/>
                <a:gd name="T2" fmla="*/ 1209 w 1244"/>
                <a:gd name="T3" fmla="*/ 1706 h 1713"/>
                <a:gd name="T4" fmla="*/ 1153 w 1244"/>
                <a:gd name="T5" fmla="*/ 1695 h 1713"/>
                <a:gd name="T6" fmla="*/ 1108 w 1244"/>
                <a:gd name="T7" fmla="*/ 1689 h 1713"/>
                <a:gd name="T8" fmla="*/ 1058 w 1244"/>
                <a:gd name="T9" fmla="*/ 1678 h 1713"/>
                <a:gd name="T10" fmla="*/ 1002 w 1244"/>
                <a:gd name="T11" fmla="*/ 1661 h 1713"/>
                <a:gd name="T12" fmla="*/ 957 w 1244"/>
                <a:gd name="T13" fmla="*/ 1650 h 1713"/>
                <a:gd name="T14" fmla="*/ 923 w 1244"/>
                <a:gd name="T15" fmla="*/ 1639 h 1713"/>
                <a:gd name="T16" fmla="*/ 878 w 1244"/>
                <a:gd name="T17" fmla="*/ 1622 h 1713"/>
                <a:gd name="T18" fmla="*/ 850 w 1244"/>
                <a:gd name="T19" fmla="*/ 1611 h 1713"/>
                <a:gd name="T20" fmla="*/ 817 w 1244"/>
                <a:gd name="T21" fmla="*/ 1594 h 1713"/>
                <a:gd name="T22" fmla="*/ 778 w 1244"/>
                <a:gd name="T23" fmla="*/ 1577 h 1713"/>
                <a:gd name="T24" fmla="*/ 750 w 1244"/>
                <a:gd name="T25" fmla="*/ 1560 h 1713"/>
                <a:gd name="T26" fmla="*/ 733 w 1244"/>
                <a:gd name="T27" fmla="*/ 1544 h 1713"/>
                <a:gd name="T28" fmla="*/ 711 w 1244"/>
                <a:gd name="T29" fmla="*/ 1527 h 1713"/>
                <a:gd name="T30" fmla="*/ 689 w 1244"/>
                <a:gd name="T31" fmla="*/ 1504 h 1713"/>
                <a:gd name="T32" fmla="*/ 672 w 1244"/>
                <a:gd name="T33" fmla="*/ 1482 h 1713"/>
                <a:gd name="T34" fmla="*/ 666 w 1244"/>
                <a:gd name="T35" fmla="*/ 1476 h 1713"/>
                <a:gd name="T36" fmla="*/ 655 w 1244"/>
                <a:gd name="T37" fmla="*/ 1460 h 1713"/>
                <a:gd name="T38" fmla="*/ 627 w 1244"/>
                <a:gd name="T39" fmla="*/ 1415 h 1713"/>
                <a:gd name="T40" fmla="*/ 605 w 1244"/>
                <a:gd name="T41" fmla="*/ 1370 h 1713"/>
                <a:gd name="T42" fmla="*/ 582 w 1244"/>
                <a:gd name="T43" fmla="*/ 1331 h 1713"/>
                <a:gd name="T44" fmla="*/ 560 w 1244"/>
                <a:gd name="T45" fmla="*/ 1281 h 1713"/>
                <a:gd name="T46" fmla="*/ 537 w 1244"/>
                <a:gd name="T47" fmla="*/ 1231 h 1713"/>
                <a:gd name="T48" fmla="*/ 515 w 1244"/>
                <a:gd name="T49" fmla="*/ 1175 h 1713"/>
                <a:gd name="T50" fmla="*/ 492 w 1244"/>
                <a:gd name="T51" fmla="*/ 1124 h 1713"/>
                <a:gd name="T52" fmla="*/ 481 w 1244"/>
                <a:gd name="T53" fmla="*/ 1091 h 1713"/>
                <a:gd name="T54" fmla="*/ 442 w 1244"/>
                <a:gd name="T55" fmla="*/ 979 h 1713"/>
                <a:gd name="T56" fmla="*/ 364 w 1244"/>
                <a:gd name="T57" fmla="*/ 744 h 1713"/>
                <a:gd name="T58" fmla="*/ 324 w 1244"/>
                <a:gd name="T59" fmla="*/ 626 h 1713"/>
                <a:gd name="T60" fmla="*/ 313 w 1244"/>
                <a:gd name="T61" fmla="*/ 592 h 1713"/>
                <a:gd name="T62" fmla="*/ 296 w 1244"/>
                <a:gd name="T63" fmla="*/ 542 h 1713"/>
                <a:gd name="T64" fmla="*/ 280 w 1244"/>
                <a:gd name="T65" fmla="*/ 486 h 1713"/>
                <a:gd name="T66" fmla="*/ 257 w 1244"/>
                <a:gd name="T67" fmla="*/ 430 h 1713"/>
                <a:gd name="T68" fmla="*/ 240 w 1244"/>
                <a:gd name="T69" fmla="*/ 380 h 1713"/>
                <a:gd name="T70" fmla="*/ 224 w 1244"/>
                <a:gd name="T71" fmla="*/ 335 h 1713"/>
                <a:gd name="T72" fmla="*/ 207 w 1244"/>
                <a:gd name="T73" fmla="*/ 291 h 1713"/>
                <a:gd name="T74" fmla="*/ 190 w 1244"/>
                <a:gd name="T75" fmla="*/ 251 h 1713"/>
                <a:gd name="T76" fmla="*/ 184 w 1244"/>
                <a:gd name="T77" fmla="*/ 235 h 1713"/>
                <a:gd name="T78" fmla="*/ 179 w 1244"/>
                <a:gd name="T79" fmla="*/ 218 h 1713"/>
                <a:gd name="T80" fmla="*/ 162 w 1244"/>
                <a:gd name="T81" fmla="*/ 184 h 1713"/>
                <a:gd name="T82" fmla="*/ 145 w 1244"/>
                <a:gd name="T83" fmla="*/ 151 h 1713"/>
                <a:gd name="T84" fmla="*/ 128 w 1244"/>
                <a:gd name="T85" fmla="*/ 117 h 1713"/>
                <a:gd name="T86" fmla="*/ 117 w 1244"/>
                <a:gd name="T87" fmla="*/ 95 h 1713"/>
                <a:gd name="T88" fmla="*/ 106 w 1244"/>
                <a:gd name="T89" fmla="*/ 78 h 1713"/>
                <a:gd name="T90" fmla="*/ 95 w 1244"/>
                <a:gd name="T91" fmla="*/ 61 h 1713"/>
                <a:gd name="T92" fmla="*/ 84 w 1244"/>
                <a:gd name="T93" fmla="*/ 44 h 1713"/>
                <a:gd name="T94" fmla="*/ 78 w 1244"/>
                <a:gd name="T95" fmla="*/ 39 h 1713"/>
                <a:gd name="T96" fmla="*/ 67 w 1244"/>
                <a:gd name="T97" fmla="*/ 27 h 1713"/>
                <a:gd name="T98" fmla="*/ 50 w 1244"/>
                <a:gd name="T99" fmla="*/ 16 h 1713"/>
                <a:gd name="T100" fmla="*/ 33 w 1244"/>
                <a:gd name="T101" fmla="*/ 5 h 1713"/>
                <a:gd name="T102" fmla="*/ 11 w 1244"/>
                <a:gd name="T103" fmla="*/ 0 h 1713"/>
                <a:gd name="T104" fmla="*/ 0 w 1244"/>
                <a:gd name="T105" fmla="*/ 0 h 171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44"/>
                <a:gd name="T160" fmla="*/ 0 h 1713"/>
                <a:gd name="T161" fmla="*/ 1244 w 1244"/>
                <a:gd name="T162" fmla="*/ 1713 h 171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44" h="1713">
                  <a:moveTo>
                    <a:pt x="1243" y="1712"/>
                  </a:moveTo>
                  <a:lnTo>
                    <a:pt x="1209" y="1706"/>
                  </a:lnTo>
                  <a:lnTo>
                    <a:pt x="1153" y="1695"/>
                  </a:lnTo>
                  <a:lnTo>
                    <a:pt x="1108" y="1689"/>
                  </a:lnTo>
                  <a:lnTo>
                    <a:pt x="1058" y="1678"/>
                  </a:lnTo>
                  <a:lnTo>
                    <a:pt x="1002" y="1661"/>
                  </a:lnTo>
                  <a:lnTo>
                    <a:pt x="957" y="1650"/>
                  </a:lnTo>
                  <a:lnTo>
                    <a:pt x="923" y="1639"/>
                  </a:lnTo>
                  <a:lnTo>
                    <a:pt x="878" y="1622"/>
                  </a:lnTo>
                  <a:lnTo>
                    <a:pt x="850" y="1611"/>
                  </a:lnTo>
                  <a:lnTo>
                    <a:pt x="817" y="1594"/>
                  </a:lnTo>
                  <a:lnTo>
                    <a:pt x="778" y="1577"/>
                  </a:lnTo>
                  <a:lnTo>
                    <a:pt x="750" y="1560"/>
                  </a:lnTo>
                  <a:lnTo>
                    <a:pt x="733" y="1544"/>
                  </a:lnTo>
                  <a:lnTo>
                    <a:pt x="711" y="1527"/>
                  </a:lnTo>
                  <a:lnTo>
                    <a:pt x="689" y="1504"/>
                  </a:lnTo>
                  <a:lnTo>
                    <a:pt x="672" y="1482"/>
                  </a:lnTo>
                  <a:lnTo>
                    <a:pt x="666" y="1476"/>
                  </a:lnTo>
                  <a:lnTo>
                    <a:pt x="655" y="1460"/>
                  </a:lnTo>
                  <a:lnTo>
                    <a:pt x="627" y="1415"/>
                  </a:lnTo>
                  <a:lnTo>
                    <a:pt x="605" y="1370"/>
                  </a:lnTo>
                  <a:lnTo>
                    <a:pt x="582" y="1331"/>
                  </a:lnTo>
                  <a:lnTo>
                    <a:pt x="560" y="1281"/>
                  </a:lnTo>
                  <a:lnTo>
                    <a:pt x="537" y="1231"/>
                  </a:lnTo>
                  <a:lnTo>
                    <a:pt x="515" y="1175"/>
                  </a:lnTo>
                  <a:lnTo>
                    <a:pt x="492" y="1124"/>
                  </a:lnTo>
                  <a:lnTo>
                    <a:pt x="481" y="1091"/>
                  </a:lnTo>
                  <a:lnTo>
                    <a:pt x="442" y="979"/>
                  </a:lnTo>
                  <a:lnTo>
                    <a:pt x="364" y="744"/>
                  </a:lnTo>
                  <a:lnTo>
                    <a:pt x="324" y="626"/>
                  </a:lnTo>
                  <a:lnTo>
                    <a:pt x="313" y="592"/>
                  </a:lnTo>
                  <a:lnTo>
                    <a:pt x="296" y="542"/>
                  </a:lnTo>
                  <a:lnTo>
                    <a:pt x="280" y="486"/>
                  </a:lnTo>
                  <a:lnTo>
                    <a:pt x="257" y="430"/>
                  </a:lnTo>
                  <a:lnTo>
                    <a:pt x="240" y="380"/>
                  </a:lnTo>
                  <a:lnTo>
                    <a:pt x="224" y="335"/>
                  </a:lnTo>
                  <a:lnTo>
                    <a:pt x="207" y="291"/>
                  </a:lnTo>
                  <a:lnTo>
                    <a:pt x="190" y="251"/>
                  </a:lnTo>
                  <a:lnTo>
                    <a:pt x="184" y="235"/>
                  </a:lnTo>
                  <a:lnTo>
                    <a:pt x="179" y="218"/>
                  </a:lnTo>
                  <a:lnTo>
                    <a:pt x="162" y="184"/>
                  </a:lnTo>
                  <a:lnTo>
                    <a:pt x="145" y="151"/>
                  </a:lnTo>
                  <a:lnTo>
                    <a:pt x="128" y="117"/>
                  </a:lnTo>
                  <a:lnTo>
                    <a:pt x="117" y="95"/>
                  </a:lnTo>
                  <a:lnTo>
                    <a:pt x="106" y="78"/>
                  </a:lnTo>
                  <a:lnTo>
                    <a:pt x="95" y="61"/>
                  </a:lnTo>
                  <a:lnTo>
                    <a:pt x="84" y="44"/>
                  </a:lnTo>
                  <a:lnTo>
                    <a:pt x="78" y="39"/>
                  </a:lnTo>
                  <a:lnTo>
                    <a:pt x="67" y="27"/>
                  </a:lnTo>
                  <a:lnTo>
                    <a:pt x="50" y="16"/>
                  </a:lnTo>
                  <a:lnTo>
                    <a:pt x="33" y="5"/>
                  </a:lnTo>
                  <a:lnTo>
                    <a:pt x="11" y="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9" name="Freeform 26"/>
          <p:cNvSpPr>
            <a:spLocks/>
          </p:cNvSpPr>
          <p:nvPr/>
        </p:nvSpPr>
        <p:spPr bwMode="auto">
          <a:xfrm>
            <a:off x="2274129" y="2498985"/>
            <a:ext cx="69850" cy="215900"/>
          </a:xfrm>
          <a:custGeom>
            <a:avLst/>
            <a:gdLst>
              <a:gd name="T0" fmla="*/ 0 w 45"/>
              <a:gd name="T1" fmla="*/ 0 h 136"/>
              <a:gd name="T2" fmla="*/ 0 w 45"/>
              <a:gd name="T3" fmla="*/ 2147483647 h 136"/>
              <a:gd name="T4" fmla="*/ 2147483647 w 45"/>
              <a:gd name="T5" fmla="*/ 2147483647 h 136"/>
              <a:gd name="T6" fmla="*/ 0 w 45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45"/>
              <a:gd name="T13" fmla="*/ 0 h 136"/>
              <a:gd name="T14" fmla="*/ 45 w 45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" h="136">
                <a:moveTo>
                  <a:pt x="0" y="0"/>
                </a:moveTo>
                <a:lnTo>
                  <a:pt x="0" y="136"/>
                </a:lnTo>
                <a:lnTo>
                  <a:pt x="45" y="13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" name="Line 20"/>
          <p:cNvSpPr>
            <a:spLocks noChangeShapeType="1"/>
          </p:cNvSpPr>
          <p:nvPr/>
        </p:nvSpPr>
        <p:spPr bwMode="auto">
          <a:xfrm flipV="1">
            <a:off x="2315404" y="2479935"/>
            <a:ext cx="541337" cy="166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" name="Freeform 28"/>
          <p:cNvSpPr>
            <a:spLocks/>
          </p:cNvSpPr>
          <p:nvPr/>
        </p:nvSpPr>
        <p:spPr bwMode="auto">
          <a:xfrm flipV="1">
            <a:off x="2274129" y="3924560"/>
            <a:ext cx="69850" cy="215900"/>
          </a:xfrm>
          <a:custGeom>
            <a:avLst/>
            <a:gdLst>
              <a:gd name="T0" fmla="*/ 0 w 45"/>
              <a:gd name="T1" fmla="*/ 0 h 136"/>
              <a:gd name="T2" fmla="*/ 0 w 45"/>
              <a:gd name="T3" fmla="*/ 2147483647 h 136"/>
              <a:gd name="T4" fmla="*/ 2147483647 w 45"/>
              <a:gd name="T5" fmla="*/ 2147483647 h 136"/>
              <a:gd name="T6" fmla="*/ 0 w 45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45"/>
              <a:gd name="T13" fmla="*/ 0 h 136"/>
              <a:gd name="T14" fmla="*/ 45 w 45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" h="136">
                <a:moveTo>
                  <a:pt x="0" y="0"/>
                </a:moveTo>
                <a:lnTo>
                  <a:pt x="0" y="136"/>
                </a:lnTo>
                <a:lnTo>
                  <a:pt x="45" y="136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2" name="Line 21"/>
          <p:cNvSpPr>
            <a:spLocks noChangeShapeType="1"/>
          </p:cNvSpPr>
          <p:nvPr/>
        </p:nvSpPr>
        <p:spPr bwMode="auto">
          <a:xfrm>
            <a:off x="2307466" y="4021397"/>
            <a:ext cx="455613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3" name="Text Box 33"/>
          <p:cNvSpPr txBox="1">
            <a:spLocks noChangeArrowheads="1"/>
          </p:cNvSpPr>
          <p:nvPr/>
        </p:nvSpPr>
        <p:spPr bwMode="auto">
          <a:xfrm>
            <a:off x="5358641" y="2375160"/>
            <a:ext cx="33630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Nguyên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nhân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không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ngẫy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nhiên</a:t>
            </a:r>
            <a:endParaRPr lang="ko-KR" altLang="en-US" sz="1600" b="1" dirty="0">
              <a:solidFill>
                <a:srgbClr val="CC0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4" name="Text Box 34"/>
          <p:cNvSpPr txBox="1">
            <a:spLocks noChangeArrowheads="1"/>
          </p:cNvSpPr>
          <p:nvPr/>
        </p:nvSpPr>
        <p:spPr bwMode="auto">
          <a:xfrm>
            <a:off x="5358641" y="3154622"/>
            <a:ext cx="26865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dirty="0" err="1">
                <a:solidFill>
                  <a:srgbClr val="008000"/>
                </a:solidFill>
                <a:latin typeface="arial" pitchFamily="34" charset="0"/>
                <a:ea typeface="맑은 고딕" pitchFamily="50" charset="-127"/>
              </a:rPr>
              <a:t>Nguyên</a:t>
            </a:r>
            <a:r>
              <a:rPr lang="en-US" altLang="ko-KR" sz="1600" b="1" dirty="0">
                <a:solidFill>
                  <a:srgbClr val="008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008000"/>
                </a:solidFill>
                <a:latin typeface="arial" pitchFamily="34" charset="0"/>
                <a:ea typeface="맑은 고딕" pitchFamily="50" charset="-127"/>
              </a:rPr>
              <a:t>nhân</a:t>
            </a:r>
            <a:r>
              <a:rPr lang="en-US" altLang="ko-KR" sz="1600" b="1" dirty="0">
                <a:solidFill>
                  <a:srgbClr val="008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008000"/>
                </a:solidFill>
                <a:latin typeface="arial" pitchFamily="34" charset="0"/>
                <a:ea typeface="맑은 고딕" pitchFamily="50" charset="-127"/>
              </a:rPr>
              <a:t>ngẫu</a:t>
            </a:r>
            <a:r>
              <a:rPr lang="en-US" altLang="ko-KR" sz="1600" b="1" dirty="0">
                <a:solidFill>
                  <a:srgbClr val="008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008000"/>
                </a:solidFill>
                <a:latin typeface="arial" pitchFamily="34" charset="0"/>
                <a:ea typeface="맑은 고딕" pitchFamily="50" charset="-127"/>
              </a:rPr>
              <a:t>nhiên</a:t>
            </a:r>
            <a:endParaRPr lang="ko-KR" altLang="en-US" sz="1600" b="1" dirty="0">
              <a:solidFill>
                <a:srgbClr val="008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5" name="Text Box 35"/>
          <p:cNvSpPr txBox="1">
            <a:spLocks noChangeArrowheads="1"/>
          </p:cNvSpPr>
          <p:nvPr/>
        </p:nvSpPr>
        <p:spPr bwMode="auto">
          <a:xfrm>
            <a:off x="5358641" y="3937260"/>
            <a:ext cx="33630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Nguyên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nhân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không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ngẫy</a:t>
            </a:r>
            <a:r>
              <a:rPr lang="en-US" altLang="ko-KR" sz="1600" b="1" dirty="0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600" b="1" dirty="0" err="1">
                <a:solidFill>
                  <a:srgbClr val="CC0000"/>
                </a:solidFill>
                <a:latin typeface="arial" pitchFamily="34" charset="0"/>
                <a:ea typeface="맑은 고딕" pitchFamily="50" charset="-127"/>
              </a:rPr>
              <a:t>nhiên</a:t>
            </a:r>
            <a:endParaRPr lang="ko-KR" altLang="en-US" sz="1600" b="1" dirty="0">
              <a:solidFill>
                <a:srgbClr val="CC0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6" name="Rectangle 36"/>
          <p:cNvSpPr>
            <a:spLocks noChangeArrowheads="1"/>
          </p:cNvSpPr>
          <p:nvPr/>
        </p:nvSpPr>
        <p:spPr bwMode="auto">
          <a:xfrm>
            <a:off x="849313" y="1052513"/>
            <a:ext cx="2672526" cy="380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102870" tIns="51435" rIns="102870" bIns="51435">
            <a:spAutoFit/>
          </a:bodyPr>
          <a:lstStyle/>
          <a:p>
            <a:pPr defTabSz="1028700" eaLnBrk="0" latinLnBrk="0" hangingPunct="0">
              <a:defRPr/>
            </a:pPr>
            <a:r>
              <a:rPr kumimoji="0" lang="en-US" altLang="ko-KR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Giới</a:t>
            </a:r>
            <a:r>
              <a:rPr kumimoji="0" lang="en-US" altLang="ko-KR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kumimoji="0" lang="en-US" altLang="ko-KR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hạn</a:t>
            </a:r>
            <a:r>
              <a:rPr kumimoji="0" lang="en-US" altLang="ko-KR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kumimoji="0" lang="en-US" altLang="ko-KR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kiểm</a:t>
            </a:r>
            <a:r>
              <a:rPr kumimoji="0" lang="en-US" altLang="ko-KR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kumimoji="0" lang="en-US" altLang="ko-KR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soát</a:t>
            </a:r>
            <a:r>
              <a:rPr kumimoji="0" lang="en-US" altLang="ko-KR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3σ</a:t>
            </a:r>
            <a:endParaRPr kumimoji="0" lang="ko-KR" altLang="en-US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57" name="Text Box 40"/>
          <p:cNvSpPr txBox="1">
            <a:spLocks noChangeArrowheads="1"/>
          </p:cNvSpPr>
          <p:nvPr/>
        </p:nvSpPr>
        <p:spPr bwMode="auto">
          <a:xfrm>
            <a:off x="6196841" y="3864235"/>
            <a:ext cx="2714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arial" pitchFamily="34" charset="0"/>
                <a:ea typeface="맑은 고딕" pitchFamily="50" charset="-127"/>
              </a:rPr>
              <a:t>*</a:t>
            </a:r>
          </a:p>
        </p:txBody>
      </p:sp>
      <p:sp>
        <p:nvSpPr>
          <p:cNvPr id="58" name="Text Box 41"/>
          <p:cNvSpPr txBox="1">
            <a:spLocks noChangeArrowheads="1"/>
          </p:cNvSpPr>
          <p:nvPr/>
        </p:nvSpPr>
        <p:spPr bwMode="auto">
          <a:xfrm>
            <a:off x="6196841" y="3029210"/>
            <a:ext cx="2714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arial" pitchFamily="34" charset="0"/>
                <a:ea typeface="맑은 고딕" pitchFamily="50" charset="-127"/>
              </a:rPr>
              <a:t>*</a:t>
            </a:r>
          </a:p>
        </p:txBody>
      </p:sp>
      <p:sp>
        <p:nvSpPr>
          <p:cNvPr id="59" name="제목 8"/>
          <p:cNvSpPr txBox="1">
            <a:spLocks/>
          </p:cNvSpPr>
          <p:nvPr/>
        </p:nvSpPr>
        <p:spPr bwMode="auto">
          <a:xfrm>
            <a:off x="388938" y="215900"/>
            <a:ext cx="8813800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Định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nghĩa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và</a:t>
            </a:r>
            <a:r>
              <a:rPr kumimoji="0" lang="en-US" altLang="ko-KR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cách</a:t>
            </a:r>
            <a:r>
              <a:rPr kumimoji="0" lang="en-US" altLang="ko-KR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xây</a:t>
            </a:r>
            <a:r>
              <a:rPr kumimoji="0" lang="en-US" altLang="ko-KR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dựng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biểu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đồ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kiểm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+mj-cs"/>
              </a:rPr>
              <a:t>soát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+mj-cs"/>
            </a:endParaRPr>
          </a:p>
        </p:txBody>
      </p:sp>
      <p:sp>
        <p:nvSpPr>
          <p:cNvPr id="60" name="Rectangle 28"/>
          <p:cNvSpPr>
            <a:spLocks noChangeArrowheads="1"/>
          </p:cNvSpPr>
          <p:nvPr/>
        </p:nvSpPr>
        <p:spPr bwMode="auto">
          <a:xfrm>
            <a:off x="4108397" y="2455579"/>
            <a:ext cx="5597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가는으뜸체"/>
              </a:rPr>
              <a:t>+3σ</a:t>
            </a:r>
          </a:p>
        </p:txBody>
      </p:sp>
      <p:sp>
        <p:nvSpPr>
          <p:cNvPr id="61" name="Text Box 8"/>
          <p:cNvSpPr txBox="1">
            <a:spLocks noChangeArrowheads="1"/>
          </p:cNvSpPr>
          <p:nvPr/>
        </p:nvSpPr>
        <p:spPr bwMode="auto">
          <a:xfrm>
            <a:off x="918754" y="4954932"/>
            <a:ext cx="489339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>
              <a:lnSpc>
                <a:spcPct val="200000"/>
              </a:lnSpc>
            </a:pPr>
            <a:r>
              <a:rPr lang="ko-KR" altLang="en-US" sz="1200" dirty="0">
                <a:latin typeface="arial" pitchFamily="34" charset="0"/>
                <a:ea typeface="맑은 고딕" pitchFamily="50" charset="-127"/>
              </a:rPr>
              <a:t>▶ 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CL (Center Line) :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Đường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trung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tâm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,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Giá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trị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trung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bình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tổng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thể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(X)</a:t>
            </a:r>
          </a:p>
          <a:p>
            <a:pPr eaLnBrk="1" latinLnBrk="0" hangingPunct="1">
              <a:lnSpc>
                <a:spcPct val="200000"/>
              </a:lnSpc>
            </a:pP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▶ UCL (Upper Control Limit) :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Giới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hạn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trên</a:t>
            </a:r>
            <a:r>
              <a:rPr lang="ko-KR" altLang="en-US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(X + 3σ)</a:t>
            </a:r>
          </a:p>
          <a:p>
            <a:pPr eaLnBrk="1" latinLnBrk="0" hangingPunct="1">
              <a:lnSpc>
                <a:spcPct val="200000"/>
              </a:lnSpc>
            </a:pP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▶ LCL (Lower Control Limit) :</a:t>
            </a:r>
            <a:r>
              <a:rPr lang="ko-KR" altLang="en-US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Giới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hạn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arial" pitchFamily="34" charset="0"/>
                <a:ea typeface="맑은 고딕" pitchFamily="50" charset="-127"/>
              </a:rPr>
              <a:t>dưới</a:t>
            </a:r>
            <a:r>
              <a:rPr lang="en-US" altLang="ko-KR" sz="1200" dirty="0">
                <a:latin typeface="arial" pitchFamily="34" charset="0"/>
                <a:ea typeface="맑은 고딕" pitchFamily="50" charset="-127"/>
              </a:rPr>
              <a:t> (X - 3σ)</a:t>
            </a:r>
          </a:p>
        </p:txBody>
      </p:sp>
    </p:spTree>
    <p:extLst>
      <p:ext uri="{BB962C8B-B14F-4D97-AF65-F5344CB8AC3E}">
        <p14:creationId xmlns:p14="http://schemas.microsoft.com/office/powerpoint/2010/main" val="221774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제목 8"/>
          <p:cNvSpPr txBox="1">
            <a:spLocks/>
          </p:cNvSpPr>
          <p:nvPr/>
        </p:nvSpPr>
        <p:spPr bwMode="auto">
          <a:xfrm>
            <a:off x="195263" y="188913"/>
            <a:ext cx="8813800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 err="1">
                <a:latin typeface="Arial Narrow" panose="020B0606020202030204" pitchFamily="34" charset="0"/>
              </a:rPr>
              <a:t>Loại</a:t>
            </a:r>
            <a:r>
              <a:rPr lang="en-US" altLang="ko-KR" sz="2000" b="1" dirty="0">
                <a:latin typeface="Arial Narrow" panose="020B0606020202030204" pitchFamily="34" charset="0"/>
              </a:rPr>
              <a:t> </a:t>
            </a:r>
            <a:r>
              <a:rPr lang="en-US" altLang="ko-KR" sz="2000" b="1" dirty="0" err="1">
                <a:latin typeface="Arial Narrow" panose="020B0606020202030204" pitchFamily="34" charset="0"/>
              </a:rPr>
              <a:t>biểu</a:t>
            </a:r>
            <a:r>
              <a:rPr lang="en-US" altLang="ko-KR" sz="2000" b="1" dirty="0">
                <a:latin typeface="Arial Narrow" panose="020B0606020202030204" pitchFamily="34" charset="0"/>
              </a:rPr>
              <a:t> </a:t>
            </a:r>
            <a:r>
              <a:rPr lang="en-US" altLang="ko-KR" sz="2000" b="1" dirty="0" err="1">
                <a:latin typeface="Arial Narrow" panose="020B0606020202030204" pitchFamily="34" charset="0"/>
              </a:rPr>
              <a:t>đồ</a:t>
            </a:r>
            <a:r>
              <a:rPr lang="en-US" altLang="ko-KR" sz="2000" b="1" dirty="0">
                <a:latin typeface="Arial Narrow" panose="020B0606020202030204" pitchFamily="34" charset="0"/>
              </a:rPr>
              <a:t> </a:t>
            </a:r>
            <a:r>
              <a:rPr lang="en-US" altLang="ko-KR" sz="2000" b="1" dirty="0" err="1">
                <a:latin typeface="Arial Narrow" panose="020B0606020202030204" pitchFamily="34" charset="0"/>
              </a:rPr>
              <a:t>kiểm</a:t>
            </a:r>
            <a:r>
              <a:rPr lang="en-US" altLang="ko-KR" sz="2000" b="1" dirty="0">
                <a:latin typeface="Arial Narrow" panose="020B0606020202030204" pitchFamily="34" charset="0"/>
              </a:rPr>
              <a:t> </a:t>
            </a:r>
            <a:r>
              <a:rPr lang="en-US" altLang="ko-KR" sz="2000" b="1" dirty="0" err="1">
                <a:latin typeface="Arial Narrow" panose="020B0606020202030204" pitchFamily="34" charset="0"/>
              </a:rPr>
              <a:t>soát</a:t>
            </a:r>
            <a:endParaRPr lang="ko-KR" altLang="en-US" sz="2000" b="1" dirty="0">
              <a:latin typeface="Arial Narrow" panose="020B0606020202030204" pitchFamily="34" charset="0"/>
            </a:endParaRP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151063" y="2097088"/>
            <a:ext cx="2016125" cy="4318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 err="1">
                <a:solidFill>
                  <a:srgbClr val="FFFFFF"/>
                </a:solidFill>
                <a:latin typeface="arial" pitchFamily="34" charset="0"/>
                <a:ea typeface="맑은 고딕" panose="020B0503020000020004" pitchFamily="50" charset="-127"/>
              </a:rPr>
              <a:t>Liên</a:t>
            </a: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arial" pitchFamily="34" charset="0"/>
                <a:ea typeface="맑은 고딕" panose="020B0503020000020004" pitchFamily="50" charset="-127"/>
              </a:rPr>
              <a:t>tục</a:t>
            </a:r>
            <a:endParaRPr lang="en-US" altLang="ko-KR" sz="1200" b="1" dirty="0">
              <a:solidFill>
                <a:srgbClr val="FFFFFF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32" name="AutoShape 4"/>
          <p:cNvSpPr>
            <a:spLocks noChangeArrowheads="1"/>
          </p:cNvSpPr>
          <p:nvPr/>
        </p:nvSpPr>
        <p:spPr bwMode="auto">
          <a:xfrm>
            <a:off x="1731690" y="3570288"/>
            <a:ext cx="1079500" cy="504825"/>
          </a:xfrm>
          <a:prstGeom prst="diamond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Kích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thước</a:t>
            </a:r>
            <a:b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</a:b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nhóm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33" name="AutoShape 5"/>
          <p:cNvCxnSpPr>
            <a:cxnSpLocks noChangeShapeType="1"/>
            <a:stCxn id="31" idx="2"/>
            <a:endCxn id="93" idx="0"/>
          </p:cNvCxnSpPr>
          <p:nvPr/>
        </p:nvCxnSpPr>
        <p:spPr bwMode="auto">
          <a:xfrm rot="5400000">
            <a:off x="2532857" y="2262981"/>
            <a:ext cx="360362" cy="892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892175" y="4540250"/>
            <a:ext cx="865188" cy="4318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ea typeface="맑은 고딕" panose="020B0503020000020004" pitchFamily="50" charset="-127"/>
              </a:rPr>
              <a:t>I-MR</a:t>
            </a:r>
            <a:r>
              <a:rPr lang="en-US" altLang="ko-KR" sz="1200" b="1" baseline="30000" dirty="0">
                <a:solidFill>
                  <a:schemeClr val="bg1"/>
                </a:solidFill>
                <a:latin typeface="arial" pitchFamily="34" charset="0"/>
                <a:ea typeface="맑은 고딕" panose="020B0503020000020004" pitchFamily="50" charset="-127"/>
              </a:rPr>
              <a:t>1)</a:t>
            </a:r>
          </a:p>
        </p:txBody>
      </p:sp>
      <p:sp>
        <p:nvSpPr>
          <p:cNvPr id="63" name="Rectangle 7"/>
          <p:cNvSpPr>
            <a:spLocks noChangeArrowheads="1"/>
          </p:cNvSpPr>
          <p:nvPr/>
        </p:nvSpPr>
        <p:spPr bwMode="auto">
          <a:xfrm>
            <a:off x="1827213" y="4540250"/>
            <a:ext cx="865187" cy="4318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ea typeface="맑은 고딕" panose="020B0503020000020004" pitchFamily="50" charset="-127"/>
              </a:rPr>
              <a:t>Xbar-R</a:t>
            </a:r>
          </a:p>
        </p:txBody>
      </p:sp>
      <p:sp>
        <p:nvSpPr>
          <p:cNvPr id="64" name="Rectangle 8"/>
          <p:cNvSpPr>
            <a:spLocks noChangeArrowheads="1"/>
          </p:cNvSpPr>
          <p:nvPr/>
        </p:nvSpPr>
        <p:spPr bwMode="auto">
          <a:xfrm>
            <a:off x="2763838" y="4540250"/>
            <a:ext cx="865187" cy="431800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</a:rPr>
              <a:t>Xbar-S</a:t>
            </a:r>
          </a:p>
        </p:txBody>
      </p:sp>
      <p:cxnSp>
        <p:nvCxnSpPr>
          <p:cNvPr id="65" name="AutoShape 9"/>
          <p:cNvCxnSpPr>
            <a:cxnSpLocks noChangeShapeType="1"/>
            <a:stCxn id="32" idx="2"/>
            <a:endCxn id="63" idx="0"/>
          </p:cNvCxnSpPr>
          <p:nvPr/>
        </p:nvCxnSpPr>
        <p:spPr bwMode="auto">
          <a:xfrm rot="5400000">
            <a:off x="2033056" y="4301865"/>
            <a:ext cx="465137" cy="1163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66" name="AutoShape 10"/>
          <p:cNvCxnSpPr>
            <a:cxnSpLocks noChangeShapeType="1"/>
            <a:stCxn id="32" idx="2"/>
            <a:endCxn id="62" idx="0"/>
          </p:cNvCxnSpPr>
          <p:nvPr/>
        </p:nvCxnSpPr>
        <p:spPr bwMode="auto">
          <a:xfrm rot="5400000">
            <a:off x="1565537" y="3834346"/>
            <a:ext cx="465137" cy="9466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67" name="AutoShape 11"/>
          <p:cNvCxnSpPr>
            <a:cxnSpLocks noChangeShapeType="1"/>
            <a:stCxn id="32" idx="2"/>
            <a:endCxn id="64" idx="0"/>
          </p:cNvCxnSpPr>
          <p:nvPr/>
        </p:nvCxnSpPr>
        <p:spPr bwMode="auto">
          <a:xfrm rot="16200000" flipH="1">
            <a:off x="2501368" y="3845185"/>
            <a:ext cx="465137" cy="9249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68" name="Text Box 12"/>
          <p:cNvSpPr txBox="1">
            <a:spLocks noChangeArrowheads="1"/>
          </p:cNvSpPr>
          <p:nvPr/>
        </p:nvSpPr>
        <p:spPr bwMode="auto">
          <a:xfrm>
            <a:off x="881063" y="4979988"/>
            <a:ext cx="86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>
                <a:latin typeface="arial" pitchFamily="34" charset="0"/>
                <a:ea typeface="맑은 고딕" pitchFamily="50" charset="-127"/>
              </a:rPr>
              <a:t>n = 1</a:t>
            </a:r>
          </a:p>
        </p:txBody>
      </p:sp>
      <p:sp>
        <p:nvSpPr>
          <p:cNvPr id="69" name="Text Box 13"/>
          <p:cNvSpPr txBox="1">
            <a:spLocks noChangeArrowheads="1"/>
          </p:cNvSpPr>
          <p:nvPr/>
        </p:nvSpPr>
        <p:spPr bwMode="auto">
          <a:xfrm>
            <a:off x="1817688" y="4979988"/>
            <a:ext cx="86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>
                <a:latin typeface="arial" pitchFamily="34" charset="0"/>
                <a:ea typeface="맑은 고딕" pitchFamily="50" charset="-127"/>
              </a:rPr>
              <a:t>n = 2~5</a:t>
            </a:r>
          </a:p>
        </p:txBody>
      </p:sp>
      <p:sp>
        <p:nvSpPr>
          <p:cNvPr id="70" name="Text Box 14"/>
          <p:cNvSpPr txBox="1">
            <a:spLocks noChangeArrowheads="1"/>
          </p:cNvSpPr>
          <p:nvPr/>
        </p:nvSpPr>
        <p:spPr bwMode="auto">
          <a:xfrm>
            <a:off x="2754313" y="4979988"/>
            <a:ext cx="86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>
                <a:latin typeface="arial" pitchFamily="34" charset="0"/>
                <a:ea typeface="맑은 고딕" pitchFamily="50" charset="-127"/>
              </a:rPr>
              <a:t>n &gt; 6</a:t>
            </a:r>
          </a:p>
        </p:txBody>
      </p:sp>
      <p:sp>
        <p:nvSpPr>
          <p:cNvPr id="71" name="Rectangle 15"/>
          <p:cNvSpPr>
            <a:spLocks noChangeArrowheads="1"/>
          </p:cNvSpPr>
          <p:nvPr/>
        </p:nvSpPr>
        <p:spPr bwMode="auto">
          <a:xfrm>
            <a:off x="4079875" y="1306513"/>
            <a:ext cx="2016125" cy="431800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Loại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dữ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liệu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72" name="Rectangle 16"/>
          <p:cNvSpPr>
            <a:spLocks noChangeArrowheads="1"/>
          </p:cNvSpPr>
          <p:nvPr/>
        </p:nvSpPr>
        <p:spPr bwMode="auto">
          <a:xfrm>
            <a:off x="6018213" y="2025650"/>
            <a:ext cx="2016125" cy="431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Rời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rạc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73" name="AutoShape 17"/>
          <p:cNvCxnSpPr>
            <a:cxnSpLocks noChangeShapeType="1"/>
            <a:stCxn id="71" idx="1"/>
            <a:endCxn id="31" idx="0"/>
          </p:cNvCxnSpPr>
          <p:nvPr/>
        </p:nvCxnSpPr>
        <p:spPr bwMode="auto">
          <a:xfrm rot="10800000" flipV="1">
            <a:off x="3159125" y="1522413"/>
            <a:ext cx="920750" cy="574675"/>
          </a:xfrm>
          <a:prstGeom prst="bentConnector2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74" name="AutoShape 18"/>
          <p:cNvCxnSpPr>
            <a:cxnSpLocks noChangeShapeType="1"/>
            <a:stCxn id="71" idx="3"/>
            <a:endCxn id="72" idx="0"/>
          </p:cNvCxnSpPr>
          <p:nvPr/>
        </p:nvCxnSpPr>
        <p:spPr bwMode="auto">
          <a:xfrm>
            <a:off x="6096000" y="1522413"/>
            <a:ext cx="930275" cy="503237"/>
          </a:xfrm>
          <a:prstGeom prst="bentConnector2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75" name="Rectangle 19"/>
          <p:cNvSpPr>
            <a:spLocks noChangeArrowheads="1"/>
          </p:cNvSpPr>
          <p:nvPr/>
        </p:nvSpPr>
        <p:spPr bwMode="auto">
          <a:xfrm>
            <a:off x="5472113" y="2889250"/>
            <a:ext cx="1368425" cy="431800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Số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lượng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lỗi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/</a:t>
            </a:r>
          </a:p>
          <a:p>
            <a:pPr algn="ctr">
              <a:defRPr/>
            </a:pP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Tỷ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lệ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lỗi</a:t>
            </a:r>
            <a:endParaRPr lang="ko-KR" altLang="en-US" sz="10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76" name="Rectangle 20"/>
          <p:cNvSpPr>
            <a:spLocks noChangeArrowheads="1"/>
          </p:cNvSpPr>
          <p:nvPr/>
        </p:nvSpPr>
        <p:spPr bwMode="auto">
          <a:xfrm>
            <a:off x="7272338" y="2889250"/>
            <a:ext cx="1368425" cy="431800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Số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lượng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không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phù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hợp</a:t>
            </a:r>
            <a:endParaRPr lang="ko-KR" altLang="en-US" sz="10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77" name="AutoShape 21"/>
          <p:cNvSpPr>
            <a:spLocks noChangeArrowheads="1"/>
          </p:cNvSpPr>
          <p:nvPr/>
        </p:nvSpPr>
        <p:spPr bwMode="auto">
          <a:xfrm>
            <a:off x="5591175" y="3532188"/>
            <a:ext cx="1152525" cy="504825"/>
          </a:xfrm>
          <a:prstGeom prst="diamond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Kích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thước</a:t>
            </a:r>
            <a:b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</a:b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nhóm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78" name="AutoShape 22"/>
          <p:cNvSpPr>
            <a:spLocks noChangeArrowheads="1"/>
          </p:cNvSpPr>
          <p:nvPr/>
        </p:nvSpPr>
        <p:spPr bwMode="auto">
          <a:xfrm>
            <a:off x="7361238" y="3532188"/>
            <a:ext cx="1195387" cy="504825"/>
          </a:xfrm>
          <a:prstGeom prst="diamond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Kích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thước</a:t>
            </a:r>
            <a:b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</a:b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nhóm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79" name="AutoShape 23"/>
          <p:cNvCxnSpPr>
            <a:cxnSpLocks noChangeShapeType="1"/>
            <a:stCxn id="72" idx="2"/>
            <a:endCxn id="75" idx="0"/>
          </p:cNvCxnSpPr>
          <p:nvPr/>
        </p:nvCxnSpPr>
        <p:spPr bwMode="auto">
          <a:xfrm rot="5400000">
            <a:off x="6375400" y="2238375"/>
            <a:ext cx="431800" cy="8699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80" name="AutoShape 24"/>
          <p:cNvCxnSpPr>
            <a:cxnSpLocks noChangeShapeType="1"/>
            <a:stCxn id="72" idx="2"/>
            <a:endCxn id="76" idx="0"/>
          </p:cNvCxnSpPr>
          <p:nvPr/>
        </p:nvCxnSpPr>
        <p:spPr bwMode="auto">
          <a:xfrm rot="16200000" flipH="1">
            <a:off x="7275513" y="2208212"/>
            <a:ext cx="431800" cy="9302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81" name="AutoShape 25"/>
          <p:cNvCxnSpPr>
            <a:cxnSpLocks noChangeShapeType="1"/>
            <a:stCxn id="75" idx="2"/>
            <a:endCxn id="77" idx="0"/>
          </p:cNvCxnSpPr>
          <p:nvPr/>
        </p:nvCxnSpPr>
        <p:spPr bwMode="auto">
          <a:xfrm rot="16200000" flipH="1">
            <a:off x="6056313" y="3421062"/>
            <a:ext cx="211138" cy="11113"/>
          </a:xfrm>
          <a:prstGeom prst="bentConnector3">
            <a:avLst>
              <a:gd name="adj1" fmla="val 49625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82" name="AutoShape 26"/>
          <p:cNvCxnSpPr>
            <a:cxnSpLocks noChangeShapeType="1"/>
            <a:stCxn id="76" idx="2"/>
            <a:endCxn id="78" idx="0"/>
          </p:cNvCxnSpPr>
          <p:nvPr/>
        </p:nvCxnSpPr>
        <p:spPr bwMode="auto">
          <a:xfrm rot="16200000" flipH="1">
            <a:off x="7852569" y="3425031"/>
            <a:ext cx="211138" cy="3175"/>
          </a:xfrm>
          <a:prstGeom prst="bentConnector3">
            <a:avLst>
              <a:gd name="adj1" fmla="val 49625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83" name="Rectangle 27"/>
          <p:cNvSpPr>
            <a:spLocks noChangeArrowheads="1"/>
          </p:cNvSpPr>
          <p:nvPr/>
        </p:nvSpPr>
        <p:spPr bwMode="auto">
          <a:xfrm>
            <a:off x="5235575" y="4543425"/>
            <a:ext cx="865188" cy="431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</a:rPr>
              <a:t>NP</a:t>
            </a:r>
          </a:p>
        </p:txBody>
      </p:sp>
      <p:sp>
        <p:nvSpPr>
          <p:cNvPr id="84" name="Rectangle 28"/>
          <p:cNvSpPr>
            <a:spLocks noChangeArrowheads="1"/>
          </p:cNvSpPr>
          <p:nvPr/>
        </p:nvSpPr>
        <p:spPr bwMode="auto">
          <a:xfrm>
            <a:off x="6172200" y="4543425"/>
            <a:ext cx="865188" cy="4318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</a:rPr>
              <a:t>P</a:t>
            </a:r>
          </a:p>
        </p:txBody>
      </p:sp>
      <p:sp>
        <p:nvSpPr>
          <p:cNvPr id="85" name="Rectangle 29"/>
          <p:cNvSpPr>
            <a:spLocks noChangeArrowheads="1"/>
          </p:cNvSpPr>
          <p:nvPr/>
        </p:nvSpPr>
        <p:spPr bwMode="auto">
          <a:xfrm>
            <a:off x="7127875" y="4548188"/>
            <a:ext cx="865188" cy="431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</a:rPr>
              <a:t>C</a:t>
            </a:r>
          </a:p>
        </p:txBody>
      </p:sp>
      <p:sp>
        <p:nvSpPr>
          <p:cNvPr id="86" name="Rectangle 30"/>
          <p:cNvSpPr>
            <a:spLocks noChangeArrowheads="1"/>
          </p:cNvSpPr>
          <p:nvPr/>
        </p:nvSpPr>
        <p:spPr bwMode="auto">
          <a:xfrm>
            <a:off x="8064500" y="4548188"/>
            <a:ext cx="865188" cy="431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</a:rPr>
              <a:t>U</a:t>
            </a:r>
          </a:p>
        </p:txBody>
      </p:sp>
      <p:cxnSp>
        <p:nvCxnSpPr>
          <p:cNvPr id="87" name="AutoShape 31"/>
          <p:cNvCxnSpPr>
            <a:cxnSpLocks noChangeShapeType="1"/>
            <a:stCxn id="77" idx="2"/>
            <a:endCxn id="83" idx="0"/>
          </p:cNvCxnSpPr>
          <p:nvPr/>
        </p:nvCxnSpPr>
        <p:spPr bwMode="auto">
          <a:xfrm rot="5400000">
            <a:off x="5664995" y="4040981"/>
            <a:ext cx="506412" cy="4984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88" name="AutoShape 32"/>
          <p:cNvCxnSpPr>
            <a:cxnSpLocks noChangeShapeType="1"/>
            <a:stCxn id="77" idx="2"/>
            <a:endCxn id="84" idx="0"/>
          </p:cNvCxnSpPr>
          <p:nvPr/>
        </p:nvCxnSpPr>
        <p:spPr bwMode="auto">
          <a:xfrm rot="16200000" flipH="1">
            <a:off x="6133307" y="4071144"/>
            <a:ext cx="506412" cy="4381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89" name="AutoShape 33"/>
          <p:cNvCxnSpPr>
            <a:cxnSpLocks noChangeShapeType="1"/>
            <a:stCxn id="78" idx="2"/>
            <a:endCxn id="85" idx="0"/>
          </p:cNvCxnSpPr>
          <p:nvPr/>
        </p:nvCxnSpPr>
        <p:spPr bwMode="auto">
          <a:xfrm rot="5400000">
            <a:off x="7504906" y="4093370"/>
            <a:ext cx="511175" cy="3984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90" name="AutoShape 34"/>
          <p:cNvCxnSpPr>
            <a:cxnSpLocks noChangeShapeType="1"/>
            <a:stCxn id="78" idx="2"/>
            <a:endCxn id="86" idx="0"/>
          </p:cNvCxnSpPr>
          <p:nvPr/>
        </p:nvCxnSpPr>
        <p:spPr bwMode="auto">
          <a:xfrm rot="16200000" flipH="1">
            <a:off x="7973219" y="4023519"/>
            <a:ext cx="511175" cy="5381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91" name="Text Box 35"/>
          <p:cNvSpPr txBox="1">
            <a:spLocks noChangeArrowheads="1"/>
          </p:cNvSpPr>
          <p:nvPr/>
        </p:nvSpPr>
        <p:spPr bwMode="auto">
          <a:xfrm>
            <a:off x="5270500" y="5008563"/>
            <a:ext cx="8636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latin typeface="arial" pitchFamily="34" charset="0"/>
                <a:ea typeface="맑은 고딕" pitchFamily="50" charset="-127"/>
              </a:rPr>
              <a:t>consistent</a:t>
            </a:r>
            <a:endParaRPr lang="ko-KR" altLang="en-US" sz="1000" b="1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92" name="Rectangle 19"/>
          <p:cNvSpPr>
            <a:spLocks noChangeArrowheads="1"/>
          </p:cNvSpPr>
          <p:nvPr/>
        </p:nvSpPr>
        <p:spPr bwMode="auto">
          <a:xfrm>
            <a:off x="3570288" y="2889250"/>
            <a:ext cx="1368425" cy="431800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Quy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mô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sản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xuất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lớn</a:t>
            </a:r>
            <a:endParaRPr lang="en-US" altLang="ko-KR" sz="10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  <a:p>
            <a:pPr algn="ctr">
              <a:defRPr/>
            </a:pP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Sản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xuất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nhỏ</a:t>
            </a:r>
            <a:endParaRPr lang="ko-KR" altLang="en-US" sz="10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sp>
        <p:nvSpPr>
          <p:cNvPr id="93" name="Rectangle 20"/>
          <p:cNvSpPr>
            <a:spLocks noChangeArrowheads="1"/>
          </p:cNvSpPr>
          <p:nvPr/>
        </p:nvSpPr>
        <p:spPr bwMode="auto">
          <a:xfrm>
            <a:off x="1582738" y="2889250"/>
            <a:ext cx="1368425" cy="431800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Quy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mô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sản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xuất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nhỏ</a:t>
            </a:r>
            <a:endParaRPr lang="en-US" altLang="ko-KR" sz="10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  <a:p>
            <a:pPr algn="ctr">
              <a:defRPr/>
            </a:pP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Sản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xuất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hàng</a:t>
            </a:r>
            <a:r>
              <a:rPr lang="en-US" altLang="ko-KR" sz="1000" b="1" dirty="0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 err="1">
                <a:solidFill>
                  <a:srgbClr val="000000"/>
                </a:solidFill>
                <a:latin typeface="arial" pitchFamily="34" charset="0"/>
                <a:ea typeface="맑은 고딕" panose="020B0503020000020004" pitchFamily="50" charset="-127"/>
              </a:rPr>
              <a:t>loạt</a:t>
            </a:r>
            <a:endParaRPr lang="ko-KR" altLang="en-US" sz="1000" b="1" dirty="0">
              <a:solidFill>
                <a:srgbClr val="000000"/>
              </a:solidFill>
              <a:latin typeface="arial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94" name="AutoShape 11"/>
          <p:cNvCxnSpPr>
            <a:cxnSpLocks noChangeShapeType="1"/>
            <a:stCxn id="93" idx="2"/>
            <a:endCxn id="32" idx="0"/>
          </p:cNvCxnSpPr>
          <p:nvPr/>
        </p:nvCxnSpPr>
        <p:spPr bwMode="auto">
          <a:xfrm rot="16200000" flipH="1">
            <a:off x="2144576" y="3443424"/>
            <a:ext cx="249238" cy="448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95" name="AutoShape 5"/>
          <p:cNvCxnSpPr>
            <a:cxnSpLocks noChangeShapeType="1"/>
            <a:stCxn id="31" idx="2"/>
            <a:endCxn id="92" idx="0"/>
          </p:cNvCxnSpPr>
          <p:nvPr/>
        </p:nvCxnSpPr>
        <p:spPr bwMode="auto">
          <a:xfrm rot="16200000" flipH="1">
            <a:off x="3526632" y="2161381"/>
            <a:ext cx="360362" cy="10953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96" name="Rectangle 6"/>
          <p:cNvSpPr>
            <a:spLocks noChangeArrowheads="1"/>
          </p:cNvSpPr>
          <p:nvPr/>
        </p:nvSpPr>
        <p:spPr bwMode="auto">
          <a:xfrm>
            <a:off x="3824288" y="4540250"/>
            <a:ext cx="865187" cy="431800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</a:rPr>
              <a:t>Xd - Rs</a:t>
            </a:r>
          </a:p>
        </p:txBody>
      </p:sp>
      <p:cxnSp>
        <p:nvCxnSpPr>
          <p:cNvPr id="97" name="AutoShape 11"/>
          <p:cNvCxnSpPr>
            <a:cxnSpLocks noChangeShapeType="1"/>
            <a:stCxn id="92" idx="2"/>
            <a:endCxn id="96" idx="0"/>
          </p:cNvCxnSpPr>
          <p:nvPr/>
        </p:nvCxnSpPr>
        <p:spPr bwMode="auto">
          <a:xfrm rot="16200000" flipH="1">
            <a:off x="3646488" y="3929062"/>
            <a:ext cx="1219200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98" name="직사각형 1"/>
          <p:cNvSpPr>
            <a:spLocks noChangeArrowheads="1"/>
          </p:cNvSpPr>
          <p:nvPr/>
        </p:nvSpPr>
        <p:spPr bwMode="auto">
          <a:xfrm>
            <a:off x="560388" y="6165850"/>
            <a:ext cx="247054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1) I-MR : Individuals - Moving Range</a:t>
            </a:r>
            <a:endParaRPr lang="ko-KR" altLang="en-US" sz="11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99" name="Line 2198"/>
          <p:cNvSpPr>
            <a:spLocks noChangeShapeType="1"/>
          </p:cNvSpPr>
          <p:nvPr/>
        </p:nvSpPr>
        <p:spPr bwMode="auto">
          <a:xfrm>
            <a:off x="493713" y="609282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Box 35"/>
          <p:cNvSpPr txBox="1">
            <a:spLocks noChangeArrowheads="1"/>
          </p:cNvSpPr>
          <p:nvPr/>
        </p:nvSpPr>
        <p:spPr bwMode="auto">
          <a:xfrm>
            <a:off x="6134100" y="5008404"/>
            <a:ext cx="9702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latin typeface="arial" pitchFamily="34" charset="0"/>
                <a:ea typeface="맑은 고딕" pitchFamily="50" charset="-127"/>
              </a:rPr>
              <a:t>inconsistent</a:t>
            </a:r>
            <a:endParaRPr lang="ko-KR" altLang="en-US" sz="1000" b="1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01" name="Text Box 35"/>
          <p:cNvSpPr txBox="1">
            <a:spLocks noChangeArrowheads="1"/>
          </p:cNvSpPr>
          <p:nvPr/>
        </p:nvSpPr>
        <p:spPr bwMode="auto">
          <a:xfrm>
            <a:off x="7127875" y="5008404"/>
            <a:ext cx="8636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latin typeface="arial" pitchFamily="34" charset="0"/>
                <a:ea typeface="맑은 고딕" pitchFamily="50" charset="-127"/>
              </a:rPr>
              <a:t>consistent</a:t>
            </a:r>
            <a:endParaRPr lang="ko-KR" altLang="en-US" sz="1000" b="1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102" name="Text Box 35"/>
          <p:cNvSpPr txBox="1">
            <a:spLocks noChangeArrowheads="1"/>
          </p:cNvSpPr>
          <p:nvPr/>
        </p:nvSpPr>
        <p:spPr bwMode="auto">
          <a:xfrm>
            <a:off x="7991475" y="5008245"/>
            <a:ext cx="9702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latin typeface="arial" pitchFamily="34" charset="0"/>
                <a:ea typeface="맑은 고딕" pitchFamily="50" charset="-127"/>
              </a:rPr>
              <a:t>inconsistent</a:t>
            </a:r>
            <a:endParaRPr lang="ko-KR" altLang="en-US" sz="1000" b="1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10BB18-4155-5500-8428-CD107B53F097}"/>
              </a:ext>
            </a:extLst>
          </p:cNvPr>
          <p:cNvSpPr/>
          <p:nvPr/>
        </p:nvSpPr>
        <p:spPr>
          <a:xfrm>
            <a:off x="750498" y="5008245"/>
            <a:ext cx="3260785" cy="4432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17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8"/>
          <p:cNvSpPr txBox="1">
            <a:spLocks/>
          </p:cNvSpPr>
          <p:nvPr/>
        </p:nvSpPr>
        <p:spPr bwMode="auto">
          <a:xfrm>
            <a:off x="195263" y="188913"/>
            <a:ext cx="8813800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I-MR Control Chart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직사각형 1"/>
          <p:cNvSpPr>
            <a:spLocks noChangeArrowheads="1"/>
          </p:cNvSpPr>
          <p:nvPr/>
        </p:nvSpPr>
        <p:spPr bwMode="auto">
          <a:xfrm>
            <a:off x="1639888" y="908050"/>
            <a:ext cx="77771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Biểu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đồ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giúp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quan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sát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và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quản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lý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liên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tục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mà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không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cần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phân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chia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thành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nhỏ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 </a:t>
            </a:r>
          </a:p>
          <a:p>
            <a:pPr eaLnBrk="1" hangingPunct="1"/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-  I (Individual Value) Control Chart</a:t>
            </a:r>
            <a:r>
              <a:rPr lang="ko-KR" altLang="en-US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: 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Giá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trị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biểu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thị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cho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nhân</a:t>
            </a:r>
            <a:endParaRPr lang="ko-KR" altLang="en-US" sz="1100" dirty="0">
              <a:latin typeface="arial" pitchFamily="34" charset="0"/>
              <a:ea typeface="맑은 고딕" pitchFamily="50" charset="-127"/>
            </a:endParaRPr>
          </a:p>
          <a:p>
            <a:pPr eaLnBrk="1" hangingPunct="1"/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-  MR (Moving Range) Control Chart</a:t>
            </a:r>
            <a:r>
              <a:rPr lang="ko-KR" altLang="en-US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: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Giá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trị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hiển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thị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độ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biến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động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giữa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liên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arial" pitchFamily="34" charset="0"/>
                <a:ea typeface="맑은 고딕" pitchFamily="50" charset="-127"/>
              </a:rPr>
              <a:t>tiếp</a:t>
            </a:r>
            <a:r>
              <a:rPr lang="en-US" altLang="ko-KR" sz="1100" dirty="0">
                <a:latin typeface="arial" pitchFamily="34" charset="0"/>
                <a:ea typeface="맑은 고딕" pitchFamily="50" charset="-127"/>
              </a:rPr>
              <a:t>.</a:t>
            </a:r>
            <a:endParaRPr lang="ko-KR" altLang="en-US" sz="1100" dirty="0"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49" name="직사각형 2"/>
          <p:cNvSpPr>
            <a:spLocks noChangeArrowheads="1"/>
          </p:cNvSpPr>
          <p:nvPr/>
        </p:nvSpPr>
        <p:spPr bwMode="auto">
          <a:xfrm>
            <a:off x="1712913" y="1844824"/>
            <a:ext cx="777659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Sử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dụng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những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tình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huống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mà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khoảng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cách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giữa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là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khá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dài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hoặc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không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thể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tách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ra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thành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(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n =1</a:t>
            </a:r>
          </a:p>
          <a:p>
            <a:pPr eaLnBrk="1" hangingPunct="1"/>
            <a:r>
              <a:rPr lang="en-US" altLang="ko-KR" sz="14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VD: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Năng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lượng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và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nhiên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tiêu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dùng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mỗ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ngày</a:t>
            </a:r>
            <a:endParaRPr lang="ko-KR" altLang="en-US" sz="11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0" name="직사각형 12"/>
          <p:cNvSpPr>
            <a:spLocks noChangeArrowheads="1"/>
          </p:cNvSpPr>
          <p:nvPr/>
        </p:nvSpPr>
        <p:spPr bwMode="auto">
          <a:xfrm>
            <a:off x="677689" y="2615336"/>
            <a:ext cx="78489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VD: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sau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đây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mô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tả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số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lượng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than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sản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xuất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cho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mỗi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container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tại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nhà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máy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than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1" name="직사각형 19"/>
          <p:cNvSpPr>
            <a:spLocks noChangeArrowheads="1"/>
          </p:cNvSpPr>
          <p:nvPr/>
        </p:nvSpPr>
        <p:spPr bwMode="auto">
          <a:xfrm>
            <a:off x="6445250" y="5084763"/>
            <a:ext cx="24765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khoảng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biến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động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đều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nằm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giới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hạn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kiếm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soát</a:t>
            </a:r>
            <a:endParaRPr lang="en-US" altLang="ko-KR" sz="11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52" name="직사각형 21"/>
          <p:cNvSpPr>
            <a:spLocks noChangeArrowheads="1"/>
          </p:cNvSpPr>
          <p:nvPr/>
        </p:nvSpPr>
        <p:spPr bwMode="auto">
          <a:xfrm>
            <a:off x="6411913" y="3429000"/>
            <a:ext cx="24765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giá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trị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riêng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được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đều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nằm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giới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hạn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</a:p>
        </p:txBody>
      </p:sp>
      <p:pic>
        <p:nvPicPr>
          <p:cNvPr id="53" name="Picture 1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2979738"/>
            <a:ext cx="54864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F4D71"/>
                  </a:outerShdw>
                </a:effectLst>
              </a14:hiddenEffects>
            </a:ext>
          </a:extLst>
        </p:spPr>
      </p:pic>
      <p:sp>
        <p:nvSpPr>
          <p:cNvPr id="54" name="오각형 14"/>
          <p:cNvSpPr/>
          <p:nvPr/>
        </p:nvSpPr>
        <p:spPr>
          <a:xfrm>
            <a:off x="338882" y="952500"/>
            <a:ext cx="1301750" cy="488950"/>
          </a:xfrm>
          <a:prstGeom prst="homePlate">
            <a:avLst>
              <a:gd name="adj" fmla="val 2619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Mô</a:t>
            </a:r>
            <a:r>
              <a:rPr lang="en-US" altLang="ko-KR" sz="1400" b="1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tả</a:t>
            </a:r>
            <a:endParaRPr lang="ko-KR" altLang="en-US" sz="1400" b="1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5" name="오각형 15"/>
          <p:cNvSpPr/>
          <p:nvPr/>
        </p:nvSpPr>
        <p:spPr>
          <a:xfrm>
            <a:off x="338882" y="1844675"/>
            <a:ext cx="1301750" cy="488950"/>
          </a:xfrm>
          <a:prstGeom prst="homePlate">
            <a:avLst>
              <a:gd name="adj" fmla="val 3016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Mục</a:t>
            </a:r>
            <a:r>
              <a:rPr lang="en-US" altLang="ko-KR" sz="1400" b="1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đích</a:t>
            </a:r>
            <a:endParaRPr lang="ko-KR" altLang="en-US" sz="1400" b="1" dirty="0">
              <a:solidFill>
                <a:schemeClr val="tx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530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8"/>
          <p:cNvSpPr txBox="1">
            <a:spLocks/>
          </p:cNvSpPr>
          <p:nvPr/>
        </p:nvSpPr>
        <p:spPr bwMode="auto">
          <a:xfrm>
            <a:off x="195263" y="188913"/>
            <a:ext cx="8813800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Xbar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-R Control Chart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1"/>
          <p:cNvSpPr>
            <a:spLocks noChangeArrowheads="1"/>
          </p:cNvSpPr>
          <p:nvPr/>
        </p:nvSpPr>
        <p:spPr bwMode="auto">
          <a:xfrm>
            <a:off x="1930372" y="873809"/>
            <a:ext cx="75882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Thường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được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sử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dụng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khi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giá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trị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đặc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trưng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của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mẫu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ở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dạng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liên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tục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</a:p>
          <a:p>
            <a:pPr eaLnBrk="1" hangingPunct="1"/>
            <a:r>
              <a:rPr lang="ko-KR" altLang="en-US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 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-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Xbar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Control Chart</a:t>
            </a:r>
            <a:r>
              <a:rPr lang="ko-KR" altLang="en-US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：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phát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hiện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những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thay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đổi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giữa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trung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bình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và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giữa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endParaRPr lang="ko-KR" altLang="en-US" sz="11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  <a:p>
            <a:pPr eaLnBrk="1" hangingPunct="1"/>
            <a:r>
              <a:rPr lang="ko-KR" altLang="en-US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 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- R Control Chart</a:t>
            </a:r>
            <a:r>
              <a:rPr lang="ko-KR" altLang="en-US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：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để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quản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lý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những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thay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đổi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phân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phối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một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  <a:endParaRPr lang="ko-KR" altLang="en-US" sz="1100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3011760"/>
            <a:ext cx="54864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F4D71"/>
                  </a:outerShdw>
                </a:effectLst>
              </a14:hiddenEffects>
            </a:ext>
          </a:extLst>
        </p:spPr>
      </p:pic>
      <p:sp>
        <p:nvSpPr>
          <p:cNvPr id="5" name="직사각형 3"/>
          <p:cNvSpPr>
            <a:spLocks noChangeArrowheads="1"/>
          </p:cNvSpPr>
          <p:nvPr/>
        </p:nvSpPr>
        <p:spPr bwMode="auto">
          <a:xfrm>
            <a:off x="6846888" y="3375297"/>
            <a:ext cx="228282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Tất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cả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được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được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thể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hiện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qua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biểu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đồ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Xbar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đều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giới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hạn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</a:p>
          <a:p>
            <a:pPr eaLnBrk="1" hangingPunct="1"/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-&gt;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Phương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sai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giữa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(’Between groups’ variances)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là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ổn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định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</a:p>
        </p:txBody>
      </p:sp>
      <p:sp>
        <p:nvSpPr>
          <p:cNvPr id="6" name="직사각형 4"/>
          <p:cNvSpPr>
            <a:spLocks noChangeArrowheads="1"/>
          </p:cNvSpPr>
          <p:nvPr/>
        </p:nvSpPr>
        <p:spPr bwMode="auto">
          <a:xfrm>
            <a:off x="6869113" y="5085184"/>
            <a:ext cx="228282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biểu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đồ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R,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phân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phối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của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các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riêng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biệt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đều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nằm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giới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hạn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kiểm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soát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</a:p>
          <a:p>
            <a:pPr eaLnBrk="1" hangingPunct="1"/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-&gt;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Phương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sai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nhóm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(‘Within group’ variances)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là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ổn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định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</a:p>
        </p:txBody>
      </p: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841375" y="2526481"/>
            <a:ext cx="635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VD: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dưới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đây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là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dữ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liệu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về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điện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trở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(Ω)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trên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chuyền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được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5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lần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/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ngày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,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trong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vòng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 10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ngày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</a:endParaRPr>
          </a:p>
        </p:txBody>
      </p:sp>
      <p:sp>
        <p:nvSpPr>
          <p:cNvPr id="8" name="오각형 12"/>
          <p:cNvSpPr/>
          <p:nvPr/>
        </p:nvSpPr>
        <p:spPr>
          <a:xfrm>
            <a:off x="338882" y="952500"/>
            <a:ext cx="1301750" cy="488950"/>
          </a:xfrm>
          <a:prstGeom prst="homePlate">
            <a:avLst>
              <a:gd name="adj" fmla="val 2619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Mô</a:t>
            </a:r>
            <a:r>
              <a:rPr lang="en-US" altLang="ko-KR" sz="1400" b="1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tả</a:t>
            </a:r>
            <a:endParaRPr lang="ko-KR" altLang="en-US" sz="1400" b="1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9" name="오각형 13"/>
          <p:cNvSpPr/>
          <p:nvPr/>
        </p:nvSpPr>
        <p:spPr>
          <a:xfrm>
            <a:off x="338882" y="1844675"/>
            <a:ext cx="1301750" cy="488950"/>
          </a:xfrm>
          <a:prstGeom prst="homePlate">
            <a:avLst>
              <a:gd name="adj" fmla="val 3016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Mục</a:t>
            </a:r>
            <a:r>
              <a:rPr lang="en-US" altLang="ko-KR" sz="1400" b="1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tx1"/>
                </a:solidFill>
                <a:latin typeface="arial" pitchFamily="34" charset="0"/>
              </a:rPr>
              <a:t>đích</a:t>
            </a:r>
            <a:endParaRPr lang="ko-KR" altLang="en-US" sz="1400" b="1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7191375" y="2504256"/>
            <a:ext cx="1800493" cy="30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ea typeface="맑은 고딕" pitchFamily="50" charset="-127"/>
              </a:rPr>
              <a:t>Excel) Control Chart</a:t>
            </a:r>
            <a:r>
              <a:rPr lang="ko-KR" altLang="en-US" sz="1200" b="1" dirty="0">
                <a:solidFill>
                  <a:srgbClr val="FF0000"/>
                </a:solidFill>
                <a:latin typeface="arial" pitchFamily="34" charset="0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ea typeface="맑은 고딕" pitchFamily="50" charset="-127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020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9166225" y="6475413"/>
            <a:ext cx="654050" cy="365125"/>
          </a:xfrm>
        </p:spPr>
        <p:txBody>
          <a:bodyPr/>
          <a:lstStyle/>
          <a:p>
            <a:pPr>
              <a:defRPr/>
            </a:pPr>
            <a:fld id="{336E293E-7793-468B-AB4C-49C46432963A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0CBCD-39D0-CACB-11DE-8CD9B6904494}"/>
              </a:ext>
            </a:extLst>
          </p:cNvPr>
          <p:cNvSpPr/>
          <p:nvPr/>
        </p:nvSpPr>
        <p:spPr>
          <a:xfrm>
            <a:off x="7910423" y="1268083"/>
            <a:ext cx="1664898" cy="1069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72DC22-7ECC-63C7-955F-0DB099817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79" y="406086"/>
            <a:ext cx="88582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7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B9CC-43C1-0972-7B2B-5A5305F6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E2BC47D-5590-9A2E-134F-111DDA14D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775"/>
            <a:ext cx="9906000" cy="6004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AD5926-F436-BC92-6FBC-15F8669B5F9E}"/>
              </a:ext>
            </a:extLst>
          </p:cNvPr>
          <p:cNvSpPr txBox="1"/>
          <p:nvPr/>
        </p:nvSpPr>
        <p:spPr>
          <a:xfrm>
            <a:off x="74761" y="60385"/>
            <a:ext cx="4657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68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0A89AD-18D4-0E76-92E3-C580002A4A37}"/>
              </a:ext>
            </a:extLst>
          </p:cNvPr>
          <p:cNvSpPr/>
          <p:nvPr/>
        </p:nvSpPr>
        <p:spPr>
          <a:xfrm>
            <a:off x="7763010" y="845389"/>
            <a:ext cx="1303351" cy="707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82CF2-2D70-0EDE-5972-4D9FC0B32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52412"/>
            <a:ext cx="95250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34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E7A536-8FA5-9F04-6327-81C42DC237E2}"/>
              </a:ext>
            </a:extLst>
          </p:cNvPr>
          <p:cNvSpPr/>
          <p:nvPr/>
        </p:nvSpPr>
        <p:spPr>
          <a:xfrm>
            <a:off x="8108067" y="301925"/>
            <a:ext cx="1589915" cy="11529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B9362-1E69-B0B7-69E6-12F7A1C6B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249" y="104775"/>
            <a:ext cx="772477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22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F85A20-F32E-4C19-47C9-0AC7E226C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"/>
            <a:ext cx="99060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21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A3EE9-2837-9EB8-0D86-3F066DDB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07" y="239505"/>
            <a:ext cx="6320106" cy="6378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96AB9B-C51E-6AE2-8068-BD2B529EAFA4}"/>
              </a:ext>
            </a:extLst>
          </p:cNvPr>
          <p:cNvSpPr txBox="1"/>
          <p:nvPr/>
        </p:nvSpPr>
        <p:spPr>
          <a:xfrm>
            <a:off x="454323" y="2828834"/>
            <a:ext cx="2133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BMW </a:t>
            </a:r>
          </a:p>
          <a:p>
            <a:pPr algn="ctr"/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GS98000</a:t>
            </a:r>
          </a:p>
        </p:txBody>
      </p:sp>
    </p:spTree>
    <p:extLst>
      <p:ext uri="{BB962C8B-B14F-4D97-AF65-F5344CB8AC3E}">
        <p14:creationId xmlns:p14="http://schemas.microsoft.com/office/powerpoint/2010/main" val="3543837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1077-C32D-8644-5CED-0EEDA7D7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125EF2-43DF-CB32-98CD-BE0084E55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1" y="239640"/>
            <a:ext cx="2824149" cy="3128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028EF6-5A1C-07C4-C878-0FCF5DF57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613" y="189780"/>
            <a:ext cx="3262168" cy="1869274"/>
          </a:xfrm>
          <a:prstGeom prst="rect">
            <a:avLst/>
          </a:prstGeom>
        </p:spPr>
      </p:pic>
      <p:pic>
        <p:nvPicPr>
          <p:cNvPr id="4" name="Picture 3" descr="A table with numbers and a number&#10;&#10;AI-generated content may be incorrect.">
            <a:extLst>
              <a:ext uri="{FF2B5EF4-FFF2-40B4-BE49-F238E27FC236}">
                <a16:creationId xmlns:a16="http://schemas.microsoft.com/office/drawing/2014/main" id="{B58D6EE2-A484-DB58-AA82-301847FED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444" y="2059054"/>
            <a:ext cx="3190337" cy="19987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9BD24A-4629-37DC-0BB4-131F319DC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1" y="3368619"/>
            <a:ext cx="2149768" cy="8447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C29082-4AE7-F93E-4F6C-2A65ACF1F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65" y="189779"/>
            <a:ext cx="3342640" cy="39684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9447FC-C858-0989-E499-98F6FC4A5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2281" y="4189424"/>
            <a:ext cx="3334162" cy="84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41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5C44E-27C3-6DBE-9750-2D16EB32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08C166-B3E3-6481-047E-B23222170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049"/>
          <a:stretch>
            <a:fillRect/>
          </a:stretch>
        </p:blipFill>
        <p:spPr>
          <a:xfrm>
            <a:off x="114902" y="3739914"/>
            <a:ext cx="3095865" cy="673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9418EE-01D7-B1F3-4F26-F2335AC947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191835" y="4413434"/>
            <a:ext cx="2618477" cy="639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A8930F-2F34-7561-2879-44A9EABCCF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324"/>
          <a:stretch>
            <a:fillRect/>
          </a:stretch>
        </p:blipFill>
        <p:spPr>
          <a:xfrm>
            <a:off x="3337935" y="1981005"/>
            <a:ext cx="3095865" cy="21855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C2F656-6957-9C8A-2592-8622E519E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312" y="186712"/>
            <a:ext cx="3095865" cy="2947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197980-52DB-8DAC-8110-5EE7E61EF5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226" y="3354583"/>
            <a:ext cx="2799022" cy="24425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BC911C6-B8AE-1E5D-8ED5-F64AF17F9E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02" y="186712"/>
            <a:ext cx="3095865" cy="34917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EED9E0-ADCA-0C6E-77EB-83FEF08993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204"/>
          <a:stretch>
            <a:fillRect/>
          </a:stretch>
        </p:blipFill>
        <p:spPr>
          <a:xfrm>
            <a:off x="3337934" y="186711"/>
            <a:ext cx="3095865" cy="171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2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5284C-B056-A4FA-4FEC-373C6F1FB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27" y="574475"/>
            <a:ext cx="9047345" cy="5709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155A58-4D3F-C56B-30FD-5E34C3534DB8}"/>
              </a:ext>
            </a:extLst>
          </p:cNvPr>
          <p:cNvSpPr txBox="1"/>
          <p:nvPr/>
        </p:nvSpPr>
        <p:spPr>
          <a:xfrm>
            <a:off x="74761" y="60385"/>
            <a:ext cx="5583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Normality test _ Thao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minitab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119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FF608-970C-4D5B-C716-C8753C72F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55" y="786555"/>
            <a:ext cx="9010290" cy="56157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7AC491-0BE9-59FF-C9BC-E9E6C7AAFF07}"/>
              </a:ext>
            </a:extLst>
          </p:cNvPr>
          <p:cNvSpPr txBox="1"/>
          <p:nvPr/>
        </p:nvSpPr>
        <p:spPr>
          <a:xfrm>
            <a:off x="74761" y="60385"/>
            <a:ext cx="6351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Capability Analysis _ Thao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minitab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115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98BE5D-E806-9F0C-3A03-6D3E56BF1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05" y="679157"/>
            <a:ext cx="8971472" cy="5661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323730-4A2C-AF0A-78F5-900DC8D70201}"/>
              </a:ext>
            </a:extLst>
          </p:cNvPr>
          <p:cNvSpPr txBox="1"/>
          <p:nvPr/>
        </p:nvSpPr>
        <p:spPr>
          <a:xfrm>
            <a:off x="74761" y="60385"/>
            <a:ext cx="5461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Control chart _ Thao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minitab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866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2BA084-444D-F590-F5CF-DD29A4308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804"/>
            <a:ext cx="9906000" cy="624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96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B5A931-C0F9-E399-AEE1-749808117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54"/>
            <a:ext cx="9906000" cy="596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40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2897</TotalTime>
  <Words>1153</Words>
  <Application>Microsoft Office PowerPoint</Application>
  <PresentationFormat>A4 Paper (210x297 mm)</PresentationFormat>
  <Paragraphs>121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HIEU DUC TRINH/LGEVH IVI SQD Part</cp:lastModifiedBy>
  <cp:revision>22</cp:revision>
  <dcterms:created xsi:type="dcterms:W3CDTF">2025-04-24T17:53:56Z</dcterms:created>
  <dcterms:modified xsi:type="dcterms:W3CDTF">2026-03-09T04:20:58Z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2026-03-07T05:00:10Z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5fac16dd-ca48-4643-b888-877c43a898c7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LGE Internal Use Only</vt:lpwstr>
  </property>
</Properties>
</file>