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57" r:id="rId3"/>
    <p:sldId id="256" r:id="rId4"/>
    <p:sldId id="258" r:id="rId5"/>
    <p:sldId id="259" r:id="rId6"/>
    <p:sldId id="260" r:id="rId7"/>
    <p:sldId id="262" r:id="rId8"/>
    <p:sldId id="265" r:id="rId9"/>
    <p:sldId id="261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17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6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0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3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1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1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60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4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2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7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FC834-EF19-46D5-9DBF-907D58D7BD3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2E682-2265-47D3-837D-0B1A52A52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5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B7B0-AA40-9BE9-1A34-50D94AFD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7C1F3C-1A10-6DC9-9297-18B8EF7CCD52}"/>
              </a:ext>
            </a:extLst>
          </p:cNvPr>
          <p:cNvSpPr/>
          <p:nvPr/>
        </p:nvSpPr>
        <p:spPr>
          <a:xfrm>
            <a:off x="785949" y="2583361"/>
            <a:ext cx="833410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Sigma</a:t>
            </a:r>
          </a:p>
        </p:txBody>
      </p:sp>
    </p:spTree>
    <p:extLst>
      <p:ext uri="{BB962C8B-B14F-4D97-AF65-F5344CB8AC3E}">
        <p14:creationId xmlns:p14="http://schemas.microsoft.com/office/powerpoint/2010/main" val="3119354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evron 7"/>
          <p:cNvSpPr/>
          <p:nvPr/>
        </p:nvSpPr>
        <p:spPr>
          <a:xfrm>
            <a:off x="108858" y="3474717"/>
            <a:ext cx="2069919" cy="496389"/>
          </a:xfrm>
          <a:prstGeom prst="chevro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C00000"/>
                </a:solidFill>
                <a:latin typeface=".VnArial Narrow" panose="020B7200000000000000"/>
              </a:rPr>
              <a:t>D</a:t>
            </a:r>
            <a:r>
              <a:rPr lang="en-US" sz="1400" dirty="0">
                <a:solidFill>
                  <a:schemeClr val="tx1"/>
                </a:solidFill>
                <a:latin typeface=".VnArial Narrow" panose="020B7200000000000000"/>
              </a:rPr>
              <a:t>efine</a:t>
            </a:r>
          </a:p>
        </p:txBody>
      </p:sp>
      <p:sp>
        <p:nvSpPr>
          <p:cNvPr id="9" name="Chevron 8"/>
          <p:cNvSpPr/>
          <p:nvPr/>
        </p:nvSpPr>
        <p:spPr>
          <a:xfrm>
            <a:off x="2098763" y="3474718"/>
            <a:ext cx="2195654" cy="496389"/>
          </a:xfrm>
          <a:prstGeom prst="chevro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C00000"/>
                </a:solidFill>
                <a:latin typeface=".VnArial Narrow" panose="020B7200000000000000"/>
              </a:rPr>
              <a:t>M</a:t>
            </a:r>
            <a:r>
              <a:rPr lang="en-US" sz="1400" dirty="0">
                <a:solidFill>
                  <a:schemeClr val="tx1"/>
                </a:solidFill>
                <a:latin typeface=".VnArial Narrow" panose="020B7200000000000000"/>
              </a:rPr>
              <a:t>easurement</a:t>
            </a:r>
          </a:p>
        </p:txBody>
      </p:sp>
      <p:sp>
        <p:nvSpPr>
          <p:cNvPr id="10" name="Chevron 9"/>
          <p:cNvSpPr/>
          <p:nvPr/>
        </p:nvSpPr>
        <p:spPr>
          <a:xfrm>
            <a:off x="4168682" y="3474717"/>
            <a:ext cx="1995626" cy="496389"/>
          </a:xfrm>
          <a:prstGeom prst="chevro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C00000"/>
                </a:solidFill>
                <a:latin typeface=".VnArial Narrow" panose="020B720000000000000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.VnArial Narrow" panose="020B7200000000000000"/>
              </a:rPr>
              <a:t>nalyze</a:t>
            </a:r>
          </a:p>
        </p:txBody>
      </p:sp>
      <p:sp>
        <p:nvSpPr>
          <p:cNvPr id="11" name="Chevron 10"/>
          <p:cNvSpPr/>
          <p:nvPr/>
        </p:nvSpPr>
        <p:spPr>
          <a:xfrm>
            <a:off x="6045382" y="3474717"/>
            <a:ext cx="2001338" cy="496389"/>
          </a:xfrm>
          <a:prstGeom prst="chevro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C00000"/>
                </a:solidFill>
                <a:latin typeface=".VnArial Narrow" panose="020B720000000000000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.VnArial Narrow" panose="020B7200000000000000"/>
              </a:rPr>
              <a:t>mprovement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7900308" y="3474717"/>
            <a:ext cx="1854926" cy="496389"/>
          </a:xfrm>
          <a:prstGeom prst="chevro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C00000"/>
                </a:solidFill>
                <a:latin typeface=".VnArial Narrow" panose="020B720000000000000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.VnArial Narrow" panose="020B7200000000000000"/>
              </a:rPr>
              <a:t>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20122" y="38466"/>
            <a:ext cx="2434046" cy="62701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.VnArial Narrow" panose="020B7200000000000000"/>
                <a:cs typeface="Arial" panose="020B0604020202020204" pitchFamily="34" charset="0"/>
              </a:rPr>
              <a:t>Tiến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.VnArial Narrow" panose="020B7200000000000000"/>
                <a:cs typeface="Arial" panose="020B0604020202020204" pitchFamily="34" charset="0"/>
              </a:rPr>
              <a:t>trình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.VnArial Narrow" panose="020B7200000000000000"/>
                <a:cs typeface="Arial" panose="020B0604020202020204" pitchFamily="34" charset="0"/>
              </a:rPr>
              <a:t>dự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.VnArial Narrow" panose="020B7200000000000000"/>
                <a:cs typeface="Arial" panose="020B0604020202020204" pitchFamily="34" charset="0"/>
              </a:rPr>
              <a:t>án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.VnArial Narrow" panose="020B7200000000000000"/>
                <a:cs typeface="Arial" panose="020B0604020202020204" pitchFamily="34" charset="0"/>
              </a:rPr>
              <a:t> 6 Sigma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025433" y="3122023"/>
            <a:ext cx="162538" cy="248195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6822" y="2767018"/>
            <a:ext cx="1421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Liệt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kê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Issue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1427659" y="2367094"/>
            <a:ext cx="283575" cy="399924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5433" y="2013244"/>
            <a:ext cx="1571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Xác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định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Issue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1895202" y="1659681"/>
            <a:ext cx="283575" cy="399924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451606" y="1154932"/>
            <a:ext cx="1571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Thông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qua NG rate &amp; PPM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52758" y="4075610"/>
            <a:ext cx="673008" cy="548640"/>
          </a:xfrm>
          <a:prstGeom prst="downArrow">
            <a:avLst/>
          </a:prstGeom>
          <a:solidFill>
            <a:srgbClr val="F7D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.VnArial Narrow" panose="020B720000000000000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6421" y="4728752"/>
            <a:ext cx="1846217" cy="20898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Thông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qua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các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con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số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để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chỉ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ra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issue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sẽ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được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phân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thích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và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giải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quyết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2841575" y="3167566"/>
            <a:ext cx="145870" cy="22206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Down Arrow 28"/>
          <p:cNvSpPr/>
          <p:nvPr/>
        </p:nvSpPr>
        <p:spPr>
          <a:xfrm>
            <a:off x="2841575" y="4075610"/>
            <a:ext cx="673008" cy="548640"/>
          </a:xfrm>
          <a:prstGeom prst="downArrow">
            <a:avLst/>
          </a:prstGeom>
          <a:solidFill>
            <a:srgbClr val="F7D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.VnArial Narrow" panose="020B720000000000000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149383" y="4728753"/>
            <a:ext cx="2145034" cy="2089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Thực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hiện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đo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đạc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để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chỉ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ra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tình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hình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hiện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tại</a:t>
            </a:r>
            <a:endParaRPr lang="en-US" sz="1400" b="1" dirty="0">
              <a:solidFill>
                <a:schemeClr val="bg2">
                  <a:lumMod val="50000"/>
                </a:schemeClr>
              </a:solidFill>
              <a:latin typeface=".VnArial Narrow" panose="020B7200000000000000"/>
            </a:endParaRPr>
          </a:p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  <a:latin typeface=".VnArial Narrow" panose="020B7200000000000000"/>
            </a:endParaRPr>
          </a:p>
          <a:p>
            <a:pPr algn="ctr"/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Để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đo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đạc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được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cần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đảm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bảo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hệ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thống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đo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đủ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tin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cậy</a:t>
            </a:r>
            <a:endParaRPr lang="en-US" sz="1400" b="1" dirty="0">
              <a:solidFill>
                <a:schemeClr val="bg2">
                  <a:lumMod val="50000"/>
                </a:schemeClr>
              </a:solidFill>
              <a:latin typeface=".VnArial Narrow" panose="020B720000000000000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37554" y="2559262"/>
            <a:ext cx="1760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Kiểm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định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hệ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thống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đo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lường</a:t>
            </a:r>
            <a:endParaRPr lang="en-US" sz="1400" b="1" dirty="0">
              <a:latin typeface=".VnArial Narrow" panose="020B720000000000000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/>
          <p:cNvCxnSpPr>
            <a:cxnSpLocks/>
          </p:cNvCxnSpPr>
          <p:nvPr/>
        </p:nvCxnSpPr>
        <p:spPr>
          <a:xfrm flipV="1">
            <a:off x="3238398" y="2240045"/>
            <a:ext cx="191353" cy="323196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652935" y="1859355"/>
            <a:ext cx="1760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Thực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hiện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đo</a:t>
            </a:r>
            <a:endParaRPr lang="en-US" sz="1400" b="1" dirty="0">
              <a:latin typeface=".VnArial Narrow" panose="020B7200000000000000"/>
              <a:cs typeface="Arial" panose="020B0604020202020204" pitchFamily="34" charset="0"/>
            </a:endParaRPr>
          </a:p>
        </p:txBody>
      </p:sp>
      <p:cxnSp>
        <p:nvCxnSpPr>
          <p:cNvPr id="35" name="Straight Arrow Connector 34"/>
          <p:cNvCxnSpPr>
            <a:cxnSpLocks/>
          </p:cNvCxnSpPr>
          <p:nvPr/>
        </p:nvCxnSpPr>
        <p:spPr>
          <a:xfrm flipV="1">
            <a:off x="3664218" y="1095745"/>
            <a:ext cx="495160" cy="791792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689028" y="185485"/>
            <a:ext cx="3272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Biểu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thị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quá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trình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bằng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biểu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đồ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kiểm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soát</a:t>
            </a:r>
            <a:endParaRPr lang="en-US" sz="1400" b="1" dirty="0">
              <a:latin typeface=".VnArial Narrow" panose="020B720000000000000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Ngoài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ra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sử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dụng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con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số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để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chỉ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ra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năng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lực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quá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tình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hiện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tại</a:t>
            </a:r>
            <a:endParaRPr lang="en-US" sz="1400" b="1" dirty="0">
              <a:latin typeface=".VnArial Narrow" panose="020B7200000000000000"/>
              <a:cs typeface="Arial" panose="020B0604020202020204" pitchFamily="34" charset="0"/>
            </a:endParaRPr>
          </a:p>
        </p:txBody>
      </p:sp>
      <p:sp>
        <p:nvSpPr>
          <p:cNvPr id="39" name="Down Arrow 38"/>
          <p:cNvSpPr/>
          <p:nvPr/>
        </p:nvSpPr>
        <p:spPr>
          <a:xfrm>
            <a:off x="5063354" y="4075609"/>
            <a:ext cx="673008" cy="548640"/>
          </a:xfrm>
          <a:prstGeom prst="downArrow">
            <a:avLst/>
          </a:prstGeom>
          <a:solidFill>
            <a:srgbClr val="F7D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.VnArial Narrow" panose="020B720000000000000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371161" y="4728752"/>
            <a:ext cx="2617467" cy="2089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Sau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khi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đã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nắm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được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tình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hình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hiện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tại</a:t>
            </a:r>
            <a:endParaRPr lang="en-US" sz="1400" b="1" dirty="0">
              <a:solidFill>
                <a:schemeClr val="bg2">
                  <a:lumMod val="50000"/>
                </a:schemeClr>
              </a:solidFill>
              <a:latin typeface=".VnArial Narrow" panose="020B7200000000000000"/>
            </a:endParaRPr>
          </a:p>
          <a:p>
            <a:pPr algn="ctr"/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Sử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dụng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các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công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cụ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như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Fishbone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để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khoanh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vùng</a:t>
            </a:r>
            <a:endParaRPr lang="en-US" sz="1400" b="1" dirty="0">
              <a:solidFill>
                <a:schemeClr val="bg2">
                  <a:lumMod val="50000"/>
                </a:schemeClr>
              </a:solidFill>
              <a:latin typeface=".VnArial Narrow" panose="020B7200000000000000"/>
            </a:endParaRP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1, 2 – sample test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Anova test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DOE (Design of experiments)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4866302" y="3173482"/>
            <a:ext cx="145870" cy="22206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159378" y="2657255"/>
            <a:ext cx="2036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Sử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dụng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Fishbore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Structure tree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0109" y="1960589"/>
            <a:ext cx="203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Kiểm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định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giả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thuyết</a:t>
            </a:r>
            <a:endParaRPr lang="en-US" sz="1400" b="1" dirty="0">
              <a:latin typeface=".VnArial Narrow" panose="020B7200000000000000"/>
              <a:cs typeface="Arial" panose="020B0604020202020204" pitchFamily="34" charset="0"/>
            </a:endParaRPr>
          </a:p>
        </p:txBody>
      </p:sp>
      <p:cxnSp>
        <p:nvCxnSpPr>
          <p:cNvPr id="44" name="Straight Arrow Connector 43"/>
          <p:cNvCxnSpPr>
            <a:cxnSpLocks/>
          </p:cNvCxnSpPr>
          <p:nvPr/>
        </p:nvCxnSpPr>
        <p:spPr>
          <a:xfrm flipV="1">
            <a:off x="5206469" y="2351798"/>
            <a:ext cx="193389" cy="328901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6839493" y="2984366"/>
            <a:ext cx="298270" cy="43810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262593" y="2455461"/>
            <a:ext cx="2036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Thiết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kế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thực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nghiệm</a:t>
            </a:r>
            <a:endParaRPr lang="en-US" sz="1400" b="1" dirty="0">
              <a:latin typeface=".VnArial Narrow" panose="020B720000000000000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(DOE)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7416906" y="2078148"/>
            <a:ext cx="298270" cy="43810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8709781" y="2984366"/>
            <a:ext cx="298270" cy="43810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207212" y="2680395"/>
            <a:ext cx="1757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SPC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8391567" y="4075609"/>
            <a:ext cx="673008" cy="548640"/>
          </a:xfrm>
          <a:prstGeom prst="downArrow">
            <a:avLst/>
          </a:prstGeom>
          <a:solidFill>
            <a:srgbClr val="F7D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.VnArial Narrow" panose="020B720000000000000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082833" y="4728752"/>
            <a:ext cx="2617467" cy="2089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Statistical process control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Failure mode and effect analysis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.VnArial Narrow" panose="020B7200000000000000"/>
              </a:rPr>
              <a:t>Control plan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F9E4DDD-C008-9613-B84D-D3F8AAE0194B}"/>
              </a:ext>
            </a:extLst>
          </p:cNvPr>
          <p:cNvCxnSpPr/>
          <p:nvPr/>
        </p:nvCxnSpPr>
        <p:spPr>
          <a:xfrm flipV="1">
            <a:off x="5590226" y="1437606"/>
            <a:ext cx="298270" cy="507275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882D3E3-E66E-C975-C239-4A7EECC46200}"/>
              </a:ext>
            </a:extLst>
          </p:cNvPr>
          <p:cNvSpPr txBox="1"/>
          <p:nvPr/>
        </p:nvSpPr>
        <p:spPr>
          <a:xfrm>
            <a:off x="4819939" y="1095745"/>
            <a:ext cx="2450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Thiết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kế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thực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nghiệm</a:t>
            </a:r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 (DOE)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A8981-B664-BBBE-48D0-F508A1368D0E}"/>
              </a:ext>
            </a:extLst>
          </p:cNvPr>
          <p:cNvSpPr txBox="1"/>
          <p:nvPr/>
        </p:nvSpPr>
        <p:spPr>
          <a:xfrm>
            <a:off x="6701928" y="1553418"/>
            <a:ext cx="2036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Contour plot</a:t>
            </a:r>
          </a:p>
          <a:p>
            <a:pPr algn="ctr"/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Response </a:t>
            </a:r>
            <a:r>
              <a:rPr lang="en-US" sz="1400" b="1" dirty="0" err="1">
                <a:latin typeface=".VnArial Narrow" panose="020B7200000000000000"/>
                <a:cs typeface="Arial" panose="020B0604020202020204" pitchFamily="34" charset="0"/>
              </a:rPr>
              <a:t>Optimiztion</a:t>
            </a:r>
            <a:endParaRPr lang="en-US" sz="1400" b="1" dirty="0">
              <a:latin typeface=".VnArial Narrow" panose="020B720000000000000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A3F20A-272F-6D08-8A0F-6690FDAFB61A}"/>
              </a:ext>
            </a:extLst>
          </p:cNvPr>
          <p:cNvSpPr txBox="1"/>
          <p:nvPr/>
        </p:nvSpPr>
        <p:spPr>
          <a:xfrm>
            <a:off x="8516181" y="1770565"/>
            <a:ext cx="1757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FMEA</a:t>
            </a:r>
          </a:p>
          <a:p>
            <a:pPr algn="ctr"/>
            <a:r>
              <a:rPr lang="en-US" sz="1400" b="1" dirty="0">
                <a:latin typeface=".VnArial Narrow" panose="020B7200000000000000"/>
                <a:cs typeface="Arial" panose="020B0604020202020204" pitchFamily="34" charset="0"/>
              </a:rPr>
              <a:t>Control plan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7BB6D3-CD52-CF92-91A0-3691A400A12C}"/>
              </a:ext>
            </a:extLst>
          </p:cNvPr>
          <p:cNvCxnSpPr/>
          <p:nvPr/>
        </p:nvCxnSpPr>
        <p:spPr>
          <a:xfrm flipV="1">
            <a:off x="9096702" y="2268366"/>
            <a:ext cx="298270" cy="43810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725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44732" y="2856411"/>
            <a:ext cx="833410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lường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</a:p>
          <a:p>
            <a:pPr algn="ctr"/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soát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339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89612" y="2847702"/>
            <a:ext cx="63485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15544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>
            <a:spLocks noChangeArrowheads="1"/>
          </p:cNvSpPr>
          <p:nvPr/>
        </p:nvSpPr>
        <p:spPr bwMode="auto">
          <a:xfrm>
            <a:off x="483925" y="429270"/>
            <a:ext cx="8749735" cy="73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tx1"/>
              </a:buClr>
              <a:buFont typeface="Arial" pitchFamily="34" charset="0"/>
              <a:buNone/>
            </a:pP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1.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nghĩa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: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Hệ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thống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tất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cả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nguồn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lực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từ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vật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liệu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thiết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bị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tới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con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người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dùng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trong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việc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thu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thập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dữ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liệu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endParaRPr lang="ko-KR" altLang="en-US" sz="16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Text Box 65"/>
          <p:cNvSpPr txBox="1">
            <a:spLocks noChangeArrowheads="1"/>
          </p:cNvSpPr>
          <p:nvPr/>
        </p:nvSpPr>
        <p:spPr bwMode="auto">
          <a:xfrm>
            <a:off x="5368663" y="1341393"/>
            <a:ext cx="2687637" cy="6286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600" b="1" dirty="0" err="1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Thiết</a:t>
            </a: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lập</a:t>
            </a: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hệ</a:t>
            </a: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thống</a:t>
            </a: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endParaRPr lang="en-US" altLang="ko-KR" sz="1600" b="1" dirty="0">
              <a:solidFill>
                <a:schemeClr val="bg1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" name="AutoShape 42"/>
          <p:cNvSpPr>
            <a:spLocks noChangeArrowheads="1"/>
          </p:cNvSpPr>
          <p:nvPr/>
        </p:nvSpPr>
        <p:spPr bwMode="auto">
          <a:xfrm>
            <a:off x="5535350" y="2228806"/>
            <a:ext cx="2305050" cy="433387"/>
          </a:xfrm>
          <a:prstGeom prst="homePlate">
            <a:avLst>
              <a:gd name="adj" fmla="val 0"/>
            </a:avLst>
          </a:prstGeom>
          <a:solidFill>
            <a:srgbClr val="E0E0E0"/>
          </a:solidFill>
          <a:ln>
            <a:noFill/>
          </a:ln>
          <a:effectLst>
            <a:prstShdw prst="shdw17" dist="17961" dir="2700000">
              <a:srgbClr val="6B6B6B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Tiêu</a:t>
            </a:r>
            <a:r>
              <a:rPr lang="en-US" altLang="ko-KR" sz="14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chuẩn</a:t>
            </a:r>
            <a:endParaRPr lang="en-US" altLang="ko-KR" sz="14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AutoShape 42"/>
          <p:cNvSpPr>
            <a:spLocks noChangeArrowheads="1"/>
          </p:cNvSpPr>
          <p:nvPr/>
        </p:nvSpPr>
        <p:spPr bwMode="auto">
          <a:xfrm>
            <a:off x="5535350" y="2876506"/>
            <a:ext cx="2305050" cy="433387"/>
          </a:xfrm>
          <a:prstGeom prst="homePlate">
            <a:avLst>
              <a:gd name="adj" fmla="val 0"/>
            </a:avLst>
          </a:prstGeom>
          <a:solidFill>
            <a:srgbClr val="E0E0E0"/>
          </a:solidFill>
          <a:ln>
            <a:noFill/>
          </a:ln>
          <a:effectLst>
            <a:prstShdw prst="shdw17" dist="17961" dir="2700000">
              <a:srgbClr val="6B6B6B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Đối</a:t>
            </a:r>
            <a:r>
              <a:rPr lang="en-US" altLang="ko-KR" sz="14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tượng</a:t>
            </a:r>
            <a:endParaRPr lang="en-US" altLang="ko-KR" sz="14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" name="AutoShape 42"/>
          <p:cNvSpPr>
            <a:spLocks noChangeArrowheads="1"/>
          </p:cNvSpPr>
          <p:nvPr/>
        </p:nvSpPr>
        <p:spPr bwMode="auto">
          <a:xfrm>
            <a:off x="5535350" y="3597231"/>
            <a:ext cx="2305050" cy="433387"/>
          </a:xfrm>
          <a:prstGeom prst="homePlate">
            <a:avLst>
              <a:gd name="adj" fmla="val 0"/>
            </a:avLst>
          </a:prstGeom>
          <a:solidFill>
            <a:srgbClr val="E0E0E0"/>
          </a:solidFill>
          <a:ln>
            <a:noFill/>
          </a:ln>
          <a:effectLst>
            <a:prstShdw prst="shdw17" dist="17961" dir="2700000">
              <a:srgbClr val="6B6B6B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Thiết</a:t>
            </a:r>
            <a:r>
              <a:rPr lang="en-US" altLang="ko-KR" sz="14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bị</a:t>
            </a:r>
            <a:endParaRPr lang="en-US" altLang="ko-KR" sz="14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9" name="AutoShape 42"/>
          <p:cNvSpPr>
            <a:spLocks noChangeArrowheads="1"/>
          </p:cNvSpPr>
          <p:nvPr/>
        </p:nvSpPr>
        <p:spPr bwMode="auto">
          <a:xfrm>
            <a:off x="5535350" y="4316368"/>
            <a:ext cx="2305050" cy="433388"/>
          </a:xfrm>
          <a:prstGeom prst="homePlate">
            <a:avLst>
              <a:gd name="adj" fmla="val 0"/>
            </a:avLst>
          </a:prstGeom>
          <a:solidFill>
            <a:srgbClr val="E0E0E0"/>
          </a:solidFill>
          <a:ln>
            <a:noFill/>
          </a:ln>
          <a:effectLst>
            <a:prstShdw prst="shdw17" dist="17961" dir="2700000">
              <a:srgbClr val="6B6B6B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Nhân</a:t>
            </a:r>
            <a:r>
              <a:rPr lang="en-US" altLang="ko-KR" sz="14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lực</a:t>
            </a:r>
            <a:endParaRPr lang="en-US" altLang="ko-KR" sz="14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AutoShape 42"/>
          <p:cNvSpPr>
            <a:spLocks noChangeArrowheads="1"/>
          </p:cNvSpPr>
          <p:nvPr/>
        </p:nvSpPr>
        <p:spPr bwMode="auto">
          <a:xfrm>
            <a:off x="5535350" y="5037093"/>
            <a:ext cx="2305050" cy="433388"/>
          </a:xfrm>
          <a:prstGeom prst="homePlate">
            <a:avLst>
              <a:gd name="adj" fmla="val 0"/>
            </a:avLst>
          </a:prstGeom>
          <a:solidFill>
            <a:srgbClr val="E0E0E0"/>
          </a:solidFill>
          <a:ln>
            <a:noFill/>
          </a:ln>
          <a:effectLst>
            <a:prstShdw prst="shdw17" dist="17961" dir="2700000">
              <a:srgbClr val="6B6B6B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lang="en-US" altLang="ko-KR" sz="14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tự</a:t>
            </a:r>
            <a:endParaRPr lang="en-US" altLang="ko-KR" sz="14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AutoShape 42"/>
          <p:cNvSpPr>
            <a:spLocks noChangeArrowheads="1"/>
          </p:cNvSpPr>
          <p:nvPr/>
        </p:nvSpPr>
        <p:spPr bwMode="auto">
          <a:xfrm>
            <a:off x="5535350" y="5684793"/>
            <a:ext cx="2305050" cy="433388"/>
          </a:xfrm>
          <a:prstGeom prst="homePlate">
            <a:avLst>
              <a:gd name="adj" fmla="val 0"/>
            </a:avLst>
          </a:prstGeom>
          <a:solidFill>
            <a:srgbClr val="E0E0E0"/>
          </a:solidFill>
          <a:ln>
            <a:noFill/>
          </a:ln>
          <a:effectLst>
            <a:prstShdw prst="shdw17" dist="17961" dir="2700000">
              <a:srgbClr val="6B6B6B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Môi</a:t>
            </a:r>
            <a:r>
              <a:rPr lang="en-US" altLang="ko-KR" sz="14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trường</a:t>
            </a:r>
            <a:endParaRPr lang="en-US" altLang="ko-KR" sz="14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pic>
        <p:nvPicPr>
          <p:cNvPr id="1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925" y="2473281"/>
            <a:ext cx="3948113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8073900" y="2039234"/>
            <a:ext cx="1272727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C5003D"/>
              </a:buClr>
            </a:pP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Spec,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thông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số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trong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bản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vẽ</a:t>
            </a:r>
            <a:endParaRPr lang="ko-KR" altLang="en-US" sz="12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8036106" y="2776556"/>
            <a:ext cx="1535998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C5003D"/>
              </a:buClr>
            </a:pP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tay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lái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xe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đạp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,</a:t>
            </a:r>
          </a:p>
          <a:p>
            <a:pPr eaLnBrk="1" hangingPunct="1">
              <a:lnSpc>
                <a:spcPct val="130000"/>
              </a:lnSpc>
              <a:buClr>
                <a:srgbClr val="C5003D"/>
              </a:buClr>
            </a:pP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các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part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endParaRPr lang="ko-KR" altLang="en-US" sz="12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5" name="TextBox 18"/>
          <p:cNvSpPr txBox="1">
            <a:spLocks noChangeArrowheads="1"/>
          </p:cNvSpPr>
          <p:nvPr/>
        </p:nvSpPr>
        <p:spPr bwMode="auto">
          <a:xfrm>
            <a:off x="8056300" y="3597231"/>
            <a:ext cx="1034257" cy="33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C5003D"/>
              </a:buClr>
            </a:pP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Dụng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cụ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endParaRPr lang="en-US" altLang="ko-KR" sz="12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8056300" y="4337006"/>
            <a:ext cx="981359" cy="33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C5003D"/>
              </a:buClr>
            </a:pP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: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Người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endParaRPr lang="ko-KR" altLang="en-US" sz="12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7" name="TextBox 20"/>
          <p:cNvSpPr txBox="1">
            <a:spLocks noChangeArrowheads="1"/>
          </p:cNvSpPr>
          <p:nvPr/>
        </p:nvSpPr>
        <p:spPr bwMode="auto">
          <a:xfrm>
            <a:off x="8056300" y="5037093"/>
            <a:ext cx="1601721" cy="547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C5003D"/>
              </a:buClr>
            </a:pP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: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tự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,</a:t>
            </a:r>
          </a:p>
          <a:p>
            <a:pPr eaLnBrk="1" hangingPunct="1">
              <a:lnSpc>
                <a:spcPct val="130000"/>
              </a:lnSpc>
              <a:buClr>
                <a:srgbClr val="C5003D"/>
              </a:buClr>
            </a:pP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Phương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pháp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endParaRPr lang="ko-KR" altLang="en-US" sz="12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8056300" y="5686381"/>
            <a:ext cx="12727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Clr>
                <a:srgbClr val="C5003D"/>
              </a:buClr>
            </a:pP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: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nơi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thực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hiện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endParaRPr lang="ko-KR" altLang="en-US" sz="1200" b="1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20" name="직선 연결선 20"/>
          <p:cNvCxnSpPr/>
          <p:nvPr/>
        </p:nvCxnSpPr>
        <p:spPr>
          <a:xfrm flipH="1">
            <a:off x="4432038" y="2228806"/>
            <a:ext cx="1103312" cy="24447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1"/>
          <p:cNvCxnSpPr/>
          <p:nvPr/>
        </p:nvCxnSpPr>
        <p:spPr>
          <a:xfrm flipH="1" flipV="1">
            <a:off x="4432038" y="5734006"/>
            <a:ext cx="1103312" cy="38417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83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7861" y="436027"/>
            <a:ext cx="88362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Mục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đích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kiểm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hệ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thống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độ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tin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cậy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hệ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thống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. </a:t>
            </a:r>
          </a:p>
          <a:p>
            <a:pPr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defRPr/>
            </a:pP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   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Việc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này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phải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được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thông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qua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quy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:</a:t>
            </a:r>
          </a:p>
          <a:p>
            <a:pPr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defRPr/>
            </a:pP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    </a:t>
            </a:r>
            <a:r>
              <a:rPr lang="en-US" altLang="ko-KR" sz="14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</a:t>
            </a:r>
            <a:r>
              <a:rPr kumimoji="0" lang="en-US" altLang="ko-KR" sz="14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ính</a:t>
            </a:r>
            <a:r>
              <a:rPr kumimoji="0" lang="en-US" altLang="ko-KR" sz="14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hợp</a:t>
            </a:r>
            <a:r>
              <a:rPr kumimoji="0" lang="en-US" altLang="ko-KR" sz="14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lệ</a:t>
            </a:r>
            <a:r>
              <a:rPr kumimoji="0" lang="en-US" altLang="ko-KR" sz="14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-&gt; </a:t>
            </a:r>
            <a:r>
              <a:rPr kumimoji="0" lang="en-US" altLang="ko-KR" sz="14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độ</a:t>
            </a:r>
            <a:r>
              <a:rPr kumimoji="0" lang="en-US" altLang="ko-KR" sz="14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đúng</a:t>
            </a:r>
            <a:r>
              <a:rPr kumimoji="0" lang="en-US" altLang="ko-KR" sz="14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-&gt; </a:t>
            </a:r>
            <a:r>
              <a:rPr kumimoji="0" lang="en-US" altLang="ko-KR" sz="14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độ</a:t>
            </a:r>
            <a:r>
              <a:rPr kumimoji="0" lang="en-US" altLang="ko-KR" sz="14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chính</a:t>
            </a:r>
            <a:r>
              <a:rPr kumimoji="0" lang="en-US" altLang="ko-KR" sz="14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4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kumimoji="0" lang="en-US" altLang="ko-KR" sz="14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</a:p>
          <a:p>
            <a:pPr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       </a:t>
            </a:r>
            <a:r>
              <a:rPr kumimoji="0" lang="en-US" altLang="ko-KR" sz="14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Validity    -&gt; Accuracy -&gt;     Precision</a:t>
            </a:r>
            <a:endParaRPr kumimoji="0" lang="ko-KR" altLang="en-US" sz="1400" kern="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4803248" y="2154068"/>
            <a:ext cx="4556760" cy="5316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72000" bIns="7200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Lựa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chọn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tiêu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chuẩn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và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phương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pháp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(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Vấn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đề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về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tài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liệu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Nền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tảng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cho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việc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xem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đối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tượng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,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khái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niệm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,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đặc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điểm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việc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phù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hợp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hay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không</a:t>
            </a:r>
            <a:endParaRPr lang="en-US" altLang="ko-KR" sz="1000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3" name="Rectangle 125"/>
          <p:cNvSpPr>
            <a:spLocks noChangeArrowheads="1"/>
          </p:cNvSpPr>
          <p:nvPr/>
        </p:nvSpPr>
        <p:spPr bwMode="auto">
          <a:xfrm>
            <a:off x="1676400" y="2276475"/>
            <a:ext cx="941388" cy="4318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30000"/>
              </a:lnSpc>
              <a:spcBef>
                <a:spcPct val="50000"/>
              </a:spcBef>
            </a:pPr>
            <a:r>
              <a:rPr lang="en-US" altLang="ko-KR" sz="1200" b="1" dirty="0">
                <a:solidFill>
                  <a:srgbClr val="FFFFFF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Validity</a:t>
            </a:r>
          </a:p>
        </p:txBody>
      </p:sp>
      <p:sp>
        <p:nvSpPr>
          <p:cNvPr id="24" name="Rectangle 126"/>
          <p:cNvSpPr>
            <a:spLocks noChangeArrowheads="1"/>
          </p:cNvSpPr>
          <p:nvPr/>
        </p:nvSpPr>
        <p:spPr bwMode="auto">
          <a:xfrm>
            <a:off x="1670050" y="3275013"/>
            <a:ext cx="941388" cy="4318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20000"/>
              </a:lnSpc>
              <a:spcBef>
                <a:spcPct val="50000"/>
              </a:spcBef>
            </a:pPr>
            <a:r>
              <a:rPr lang="en-US" altLang="ko-KR" sz="1200" b="1" dirty="0">
                <a:solidFill>
                  <a:srgbClr val="FFFFFF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Accuracy</a:t>
            </a:r>
          </a:p>
        </p:txBody>
      </p:sp>
      <p:sp>
        <p:nvSpPr>
          <p:cNvPr id="25" name="Rectangle 127"/>
          <p:cNvSpPr>
            <a:spLocks noChangeArrowheads="1"/>
          </p:cNvSpPr>
          <p:nvPr/>
        </p:nvSpPr>
        <p:spPr bwMode="auto">
          <a:xfrm>
            <a:off x="1679575" y="4283075"/>
            <a:ext cx="941388" cy="4318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30000"/>
              </a:lnSpc>
              <a:spcBef>
                <a:spcPct val="50000"/>
              </a:spcBef>
            </a:pPr>
            <a:r>
              <a:rPr lang="en-US" altLang="ko-KR" sz="1200" b="1" dirty="0">
                <a:solidFill>
                  <a:srgbClr val="FFFFFF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Precision</a:t>
            </a:r>
          </a:p>
        </p:txBody>
      </p:sp>
      <p:sp>
        <p:nvSpPr>
          <p:cNvPr id="26" name="Rectangle 128"/>
          <p:cNvSpPr>
            <a:spLocks noChangeArrowheads="1"/>
          </p:cNvSpPr>
          <p:nvPr/>
        </p:nvSpPr>
        <p:spPr bwMode="auto">
          <a:xfrm>
            <a:off x="630237" y="2264568"/>
            <a:ext cx="677863" cy="24479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vert270"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Kiểm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hệ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thống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endParaRPr lang="en-US" altLang="ko-KR" sz="14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" name="Rectangle 134"/>
          <p:cNvSpPr>
            <a:spLocks noChangeArrowheads="1"/>
          </p:cNvSpPr>
          <p:nvPr/>
        </p:nvSpPr>
        <p:spPr bwMode="auto">
          <a:xfrm>
            <a:off x="2973388" y="2876550"/>
            <a:ext cx="1716087" cy="360363"/>
          </a:xfrm>
          <a:prstGeom prst="rect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Độ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lệch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(Bias)</a:t>
            </a:r>
          </a:p>
        </p:txBody>
      </p:sp>
      <p:sp>
        <p:nvSpPr>
          <p:cNvPr id="28" name="Rectangle 135"/>
          <p:cNvSpPr>
            <a:spLocks noChangeArrowheads="1"/>
          </p:cNvSpPr>
          <p:nvPr/>
        </p:nvSpPr>
        <p:spPr bwMode="auto">
          <a:xfrm>
            <a:off x="2973388" y="3308350"/>
            <a:ext cx="1716087" cy="360363"/>
          </a:xfrm>
          <a:prstGeom prst="rect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Tuyến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tính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(Linearity)</a:t>
            </a:r>
          </a:p>
        </p:txBody>
      </p:sp>
      <p:sp>
        <p:nvSpPr>
          <p:cNvPr id="29" name="Rectangle 136"/>
          <p:cNvSpPr>
            <a:spLocks noChangeArrowheads="1"/>
          </p:cNvSpPr>
          <p:nvPr/>
        </p:nvSpPr>
        <p:spPr bwMode="auto">
          <a:xfrm>
            <a:off x="2973388" y="3729038"/>
            <a:ext cx="1716087" cy="360362"/>
          </a:xfrm>
          <a:prstGeom prst="rect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Độ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ổn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(Stability)</a:t>
            </a:r>
          </a:p>
        </p:txBody>
      </p:sp>
      <p:sp>
        <p:nvSpPr>
          <p:cNvPr id="30" name="Rectangle 137"/>
          <p:cNvSpPr>
            <a:spLocks noChangeArrowheads="1"/>
          </p:cNvSpPr>
          <p:nvPr/>
        </p:nvSpPr>
        <p:spPr bwMode="auto">
          <a:xfrm>
            <a:off x="2951163" y="4221089"/>
            <a:ext cx="1716087" cy="460450"/>
          </a:xfrm>
          <a:prstGeom prst="rect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Khả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năng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lặp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lại</a:t>
            </a:r>
            <a:endParaRPr lang="en-US" altLang="ko-KR" sz="1200" b="1" dirty="0">
              <a:solidFill>
                <a:srgbClr val="4D4D4D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(Repeatability)</a:t>
            </a:r>
          </a:p>
        </p:txBody>
      </p:sp>
      <p:sp>
        <p:nvSpPr>
          <p:cNvPr id="31" name="Rectangle 138"/>
          <p:cNvSpPr>
            <a:spLocks noChangeArrowheads="1"/>
          </p:cNvSpPr>
          <p:nvPr/>
        </p:nvSpPr>
        <p:spPr bwMode="auto">
          <a:xfrm>
            <a:off x="2951163" y="4724400"/>
            <a:ext cx="1716087" cy="504800"/>
          </a:xfrm>
          <a:prstGeom prst="rect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Khả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năng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tái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tạo</a:t>
            </a:r>
            <a:endParaRPr lang="en-US" altLang="ko-KR" sz="1200" b="1" dirty="0">
              <a:solidFill>
                <a:srgbClr val="4D4D4D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(Reproducibility)</a:t>
            </a:r>
          </a:p>
        </p:txBody>
      </p:sp>
      <p:sp>
        <p:nvSpPr>
          <p:cNvPr id="32" name="Rectangle 139"/>
          <p:cNvSpPr>
            <a:spLocks noChangeArrowheads="1"/>
          </p:cNvSpPr>
          <p:nvPr/>
        </p:nvSpPr>
        <p:spPr bwMode="auto">
          <a:xfrm>
            <a:off x="2946400" y="2132856"/>
            <a:ext cx="1716088" cy="542083"/>
          </a:xfrm>
          <a:prstGeom prst="rect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Xét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duyệt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kỹ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thuật</a:t>
            </a:r>
            <a:endParaRPr lang="en-US" altLang="ko-KR" sz="1200" b="1" dirty="0">
              <a:solidFill>
                <a:srgbClr val="4D4D4D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Xét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duyệt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thực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tế</a:t>
            </a:r>
            <a:endParaRPr lang="en-US" altLang="ko-KR" sz="1200" b="1" dirty="0">
              <a:solidFill>
                <a:srgbClr val="4D4D4D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33" name="AutoShape 140"/>
          <p:cNvCxnSpPr>
            <a:cxnSpLocks noChangeShapeType="1"/>
            <a:stCxn id="24" idx="3"/>
            <a:endCxn id="27" idx="1"/>
          </p:cNvCxnSpPr>
          <p:nvPr/>
        </p:nvCxnSpPr>
        <p:spPr bwMode="auto">
          <a:xfrm flipV="1">
            <a:off x="2611438" y="3057525"/>
            <a:ext cx="361950" cy="4333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141"/>
          <p:cNvCxnSpPr>
            <a:cxnSpLocks noChangeShapeType="1"/>
            <a:stCxn id="24" idx="3"/>
            <a:endCxn id="28" idx="1"/>
          </p:cNvCxnSpPr>
          <p:nvPr/>
        </p:nvCxnSpPr>
        <p:spPr bwMode="auto">
          <a:xfrm flipV="1">
            <a:off x="2611438" y="3489325"/>
            <a:ext cx="361950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AutoShape 142"/>
          <p:cNvCxnSpPr>
            <a:cxnSpLocks noChangeShapeType="1"/>
            <a:stCxn id="24" idx="3"/>
            <a:endCxn id="29" idx="1"/>
          </p:cNvCxnSpPr>
          <p:nvPr/>
        </p:nvCxnSpPr>
        <p:spPr bwMode="auto">
          <a:xfrm>
            <a:off x="2611438" y="3490913"/>
            <a:ext cx="361950" cy="4191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AutoShape 143"/>
          <p:cNvCxnSpPr>
            <a:cxnSpLocks noChangeShapeType="1"/>
            <a:stCxn id="25" idx="3"/>
            <a:endCxn id="30" idx="1"/>
          </p:cNvCxnSpPr>
          <p:nvPr/>
        </p:nvCxnSpPr>
        <p:spPr bwMode="auto">
          <a:xfrm flipV="1">
            <a:off x="2620963" y="4451314"/>
            <a:ext cx="330200" cy="4766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AutoShape 144"/>
          <p:cNvCxnSpPr>
            <a:cxnSpLocks noChangeShapeType="1"/>
            <a:stCxn id="25" idx="3"/>
            <a:endCxn id="31" idx="1"/>
          </p:cNvCxnSpPr>
          <p:nvPr/>
        </p:nvCxnSpPr>
        <p:spPr bwMode="auto">
          <a:xfrm>
            <a:off x="2620963" y="4498975"/>
            <a:ext cx="330200" cy="4778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AutoShape 87"/>
          <p:cNvCxnSpPr>
            <a:cxnSpLocks noChangeShapeType="1"/>
            <a:stCxn id="23" idx="3"/>
            <a:endCxn id="32" idx="1"/>
          </p:cNvCxnSpPr>
          <p:nvPr/>
        </p:nvCxnSpPr>
        <p:spPr bwMode="auto">
          <a:xfrm flipV="1">
            <a:off x="2617788" y="2403898"/>
            <a:ext cx="328612" cy="8847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아래쪽 화살표 5"/>
          <p:cNvSpPr/>
          <p:nvPr/>
        </p:nvSpPr>
        <p:spPr>
          <a:xfrm>
            <a:off x="2019300" y="2708275"/>
            <a:ext cx="242888" cy="566738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아래쪽 화살표 115"/>
          <p:cNvSpPr/>
          <p:nvPr/>
        </p:nvSpPr>
        <p:spPr>
          <a:xfrm>
            <a:off x="2019300" y="3711575"/>
            <a:ext cx="242888" cy="566738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4803248" y="2950283"/>
            <a:ext cx="4837141" cy="11539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72000" bIns="7200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Được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thực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hiện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trong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quá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Calibration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Calibration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thuê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1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bên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thứ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3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hiểu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tiêu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chuẩn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,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thông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số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tiêu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chuẩn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,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mẫu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tiêu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chuẩn</a:t>
            </a:r>
            <a:endParaRPr lang="en-US" altLang="ko-KR" sz="1000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Cũng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thực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hiện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các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phép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với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nhiều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giải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khác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nhau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để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thiết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bị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vẫn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khả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năng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thực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hiện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đúng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với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mục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đích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ban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đầu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khi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sản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xuất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thiết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bị</a:t>
            </a:r>
            <a:endParaRPr lang="en-US" altLang="ko-KR" sz="1000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4803248" y="4147446"/>
            <a:ext cx="4837141" cy="14042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72000" bIns="7200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Đây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chính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Gage R&amp;R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Sau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khi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nhận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thiết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bị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vẫn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hoạt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động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đúng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với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công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dụng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chính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nó</a:t>
            </a:r>
            <a:endParaRPr lang="en-US" altLang="ko-KR" sz="1000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Thì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khi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chúng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ta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issue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phải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đạc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chúng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ta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kiểm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chứng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lại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độ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chính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thông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qua 2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chỉ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số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để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đảm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bảo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rằng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thiết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bị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phù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hợp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với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kích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thước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chúng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ta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đang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endParaRPr lang="en-US" altLang="ko-KR" sz="1000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50126" y="4089400"/>
            <a:ext cx="7968344" cy="124895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6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27"/>
          <p:cNvSpPr>
            <a:spLocks noChangeArrowheads="1"/>
          </p:cNvSpPr>
          <p:nvPr/>
        </p:nvSpPr>
        <p:spPr bwMode="auto">
          <a:xfrm>
            <a:off x="1139644" y="634184"/>
            <a:ext cx="941388" cy="4318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30000"/>
              </a:lnSpc>
              <a:spcBef>
                <a:spcPct val="50000"/>
              </a:spcBef>
            </a:pPr>
            <a:r>
              <a:rPr lang="en-US" altLang="ko-KR" sz="1200" b="1" dirty="0">
                <a:solidFill>
                  <a:srgbClr val="FFFFFF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Precision</a:t>
            </a:r>
          </a:p>
        </p:txBody>
      </p:sp>
      <p:sp>
        <p:nvSpPr>
          <p:cNvPr id="30" name="Rectangle 137"/>
          <p:cNvSpPr>
            <a:spLocks noChangeArrowheads="1"/>
          </p:cNvSpPr>
          <p:nvPr/>
        </p:nvSpPr>
        <p:spPr bwMode="auto">
          <a:xfrm>
            <a:off x="2411232" y="572198"/>
            <a:ext cx="1716087" cy="460450"/>
          </a:xfrm>
          <a:prstGeom prst="rect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Khả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năng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lặp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lại</a:t>
            </a:r>
            <a:endParaRPr lang="en-US" altLang="ko-KR" sz="1200" b="1" dirty="0">
              <a:solidFill>
                <a:srgbClr val="4D4D4D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(Repeatability)</a:t>
            </a:r>
          </a:p>
        </p:txBody>
      </p:sp>
      <p:sp>
        <p:nvSpPr>
          <p:cNvPr id="31" name="Rectangle 138"/>
          <p:cNvSpPr>
            <a:spLocks noChangeArrowheads="1"/>
          </p:cNvSpPr>
          <p:nvPr/>
        </p:nvSpPr>
        <p:spPr bwMode="auto">
          <a:xfrm>
            <a:off x="2411232" y="1075509"/>
            <a:ext cx="1716087" cy="504800"/>
          </a:xfrm>
          <a:prstGeom prst="rect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Khả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năng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tái</a:t>
            </a: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tạo</a:t>
            </a:r>
            <a:endParaRPr lang="en-US" altLang="ko-KR" sz="1200" b="1" dirty="0">
              <a:solidFill>
                <a:srgbClr val="4D4D4D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(Reproducibility)</a:t>
            </a:r>
          </a:p>
        </p:txBody>
      </p:sp>
      <p:cxnSp>
        <p:nvCxnSpPr>
          <p:cNvPr id="36" name="AutoShape 143"/>
          <p:cNvCxnSpPr>
            <a:cxnSpLocks noChangeShapeType="1"/>
            <a:stCxn id="25" idx="3"/>
            <a:endCxn id="30" idx="1"/>
          </p:cNvCxnSpPr>
          <p:nvPr/>
        </p:nvCxnSpPr>
        <p:spPr bwMode="auto">
          <a:xfrm flipV="1">
            <a:off x="2081032" y="802423"/>
            <a:ext cx="330200" cy="4766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AutoShape 144"/>
          <p:cNvCxnSpPr>
            <a:cxnSpLocks noChangeShapeType="1"/>
            <a:stCxn id="25" idx="3"/>
            <a:endCxn id="31" idx="1"/>
          </p:cNvCxnSpPr>
          <p:nvPr/>
        </p:nvCxnSpPr>
        <p:spPr bwMode="auto">
          <a:xfrm>
            <a:off x="2081032" y="850084"/>
            <a:ext cx="330200" cy="4778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4263317" y="498555"/>
            <a:ext cx="4837141" cy="14042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72000" bIns="7200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Đây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chính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Gage R&amp;R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Sau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khi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nhận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thiết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bị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vẫn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hoạt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động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đúng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với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công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dụng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chính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nó</a:t>
            </a:r>
            <a:endParaRPr lang="en-US" altLang="ko-KR" sz="1000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Thì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khi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chúng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ta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issue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phải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đạc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chúng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ta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kiểm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chứng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lại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độ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chính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thông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qua 2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chỉ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số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để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đảm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bảo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rằng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thiết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bị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phù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hợp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với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kích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thước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chúng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ta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đang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0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endParaRPr lang="en-US" altLang="ko-KR" sz="1000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10195" y="440509"/>
            <a:ext cx="7968344" cy="124895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"/>
          <p:cNvSpPr txBox="1">
            <a:spLocks noChangeArrowheads="1"/>
          </p:cNvSpPr>
          <p:nvPr/>
        </p:nvSpPr>
        <p:spPr bwMode="auto">
          <a:xfrm>
            <a:off x="891540" y="2264737"/>
            <a:ext cx="36407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Khả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năng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lặp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lại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(Repeatability)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gì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?</a:t>
            </a:r>
            <a:endParaRPr lang="ko-KR" altLang="en-US" sz="14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TextBox 5"/>
          <p:cNvSpPr txBox="1">
            <a:spLocks noChangeArrowheads="1"/>
          </p:cNvSpPr>
          <p:nvPr/>
        </p:nvSpPr>
        <p:spPr bwMode="auto">
          <a:xfrm>
            <a:off x="891540" y="4552598"/>
            <a:ext cx="3898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Khả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năng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tái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tạo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(Reproducibility)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gì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?</a:t>
            </a:r>
            <a:endParaRPr lang="ko-KR" altLang="en-US" sz="14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7" name="TextBox 6"/>
          <p:cNvSpPr txBox="1">
            <a:spLocks noChangeArrowheads="1"/>
          </p:cNvSpPr>
          <p:nvPr/>
        </p:nvSpPr>
        <p:spPr bwMode="auto">
          <a:xfrm>
            <a:off x="1217771" y="2648911"/>
            <a:ext cx="4297680" cy="822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/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: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Lỗi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xảy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ra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khi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một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người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nhiều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lần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một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đối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tượng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sử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dụng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một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dụng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cụ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và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một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thang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duy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nhất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trong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một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khoảng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thời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gian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tương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đối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ngắn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.</a:t>
            </a:r>
            <a:endParaRPr lang="ko-KR" altLang="en-US" sz="120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8" name="TextBox 7"/>
          <p:cNvSpPr txBox="1">
            <a:spLocks noChangeArrowheads="1"/>
          </p:cNvSpPr>
          <p:nvPr/>
        </p:nvSpPr>
        <p:spPr bwMode="auto">
          <a:xfrm>
            <a:off x="1281271" y="3468062"/>
            <a:ext cx="23711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Sai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khác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do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thiết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bị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endParaRPr lang="ko-KR" altLang="en-US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1" name="TextBox 8"/>
          <p:cNvSpPr txBox="1">
            <a:spLocks noChangeArrowheads="1"/>
          </p:cNvSpPr>
          <p:nvPr/>
        </p:nvSpPr>
        <p:spPr bwMode="auto">
          <a:xfrm>
            <a:off x="1217771" y="4910181"/>
            <a:ext cx="4297680" cy="822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 eaLnBrk="1" hangingPunct="1"/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: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Lỗi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xảy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ra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khi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nhiều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người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cùng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một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đối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tượng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sử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dụng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cùng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một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thang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bởi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cùng</a:t>
            </a: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một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dụng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cụ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endParaRPr lang="ko-KR" altLang="en-US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2" name="TextBox 9"/>
          <p:cNvSpPr txBox="1">
            <a:spLocks noChangeArrowheads="1"/>
          </p:cNvSpPr>
          <p:nvPr/>
        </p:nvSpPr>
        <p:spPr bwMode="auto">
          <a:xfrm>
            <a:off x="1389221" y="5740048"/>
            <a:ext cx="17700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Sai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khác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do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người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endParaRPr lang="ko-KR" altLang="en-US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53" name="Group 9"/>
          <p:cNvGrpSpPr>
            <a:grpSpLocks/>
          </p:cNvGrpSpPr>
          <p:nvPr/>
        </p:nvGrpSpPr>
        <p:grpSpPr bwMode="auto">
          <a:xfrm>
            <a:off x="6166803" y="4549283"/>
            <a:ext cx="2746375" cy="1606151"/>
            <a:chOff x="172" y="2069"/>
            <a:chExt cx="1730" cy="873"/>
          </a:xfrm>
        </p:grpSpPr>
        <p:pic>
          <p:nvPicPr>
            <p:cNvPr id="54" name="Picture 10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" y="2348"/>
              <a:ext cx="730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" name="Picture 11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" y="2355"/>
              <a:ext cx="730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" name="Text Box 13"/>
            <p:cNvSpPr txBox="1">
              <a:spLocks noChangeArrowheads="1"/>
            </p:cNvSpPr>
            <p:nvPr/>
          </p:nvSpPr>
          <p:spPr bwMode="auto">
            <a:xfrm>
              <a:off x="1410" y="2725"/>
              <a:ext cx="492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itchFamily="34" charset="0"/>
                  <a:ea typeface="굴림체" pitchFamily="49" charset="-127"/>
                  <a:cs typeface="Arial" pitchFamily="34" charset="0"/>
                </a:rPr>
                <a:t>Measured value</a:t>
              </a:r>
              <a:endParaRPr lang="ko-KR" altLang="en-US" sz="1000" b="1" dirty="0">
                <a:solidFill>
                  <a:srgbClr val="000000"/>
                </a:solidFill>
                <a:latin typeface="Arial" pitchFamily="34" charset="0"/>
                <a:ea typeface="굴림체" pitchFamily="49" charset="-127"/>
                <a:cs typeface="Arial" pitchFamily="34" charset="0"/>
              </a:endParaRPr>
            </a:p>
          </p:txBody>
        </p:sp>
        <p:sp>
          <p:nvSpPr>
            <p:cNvPr id="57" name="Rectangle 14"/>
            <p:cNvSpPr>
              <a:spLocks noChangeArrowheads="1"/>
            </p:cNvSpPr>
            <p:nvPr/>
          </p:nvSpPr>
          <p:spPr bwMode="auto">
            <a:xfrm>
              <a:off x="172" y="2069"/>
              <a:ext cx="1678" cy="86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endParaRPr lang="ko-KR" altLang="en-US" sz="100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8" name="Picture 15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2355"/>
              <a:ext cx="730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" name="Text Box 16"/>
            <p:cNvSpPr txBox="1">
              <a:spLocks noChangeArrowheads="1"/>
            </p:cNvSpPr>
            <p:nvPr/>
          </p:nvSpPr>
          <p:spPr bwMode="auto">
            <a:xfrm>
              <a:off x="559" y="2233"/>
              <a:ext cx="13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b="1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</a:t>
              </a:r>
            </a:p>
          </p:txBody>
        </p:sp>
        <p:sp>
          <p:nvSpPr>
            <p:cNvPr id="60" name="Text Box 17"/>
            <p:cNvSpPr txBox="1">
              <a:spLocks noChangeArrowheads="1"/>
            </p:cNvSpPr>
            <p:nvPr/>
          </p:nvSpPr>
          <p:spPr bwMode="auto">
            <a:xfrm>
              <a:off x="1009" y="2233"/>
              <a:ext cx="13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b="1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C</a:t>
              </a:r>
            </a:p>
          </p:txBody>
        </p:sp>
        <p:sp>
          <p:nvSpPr>
            <p:cNvPr id="61" name="Text Box 18"/>
            <p:cNvSpPr txBox="1">
              <a:spLocks noChangeArrowheads="1"/>
            </p:cNvSpPr>
            <p:nvPr/>
          </p:nvSpPr>
          <p:spPr bwMode="auto">
            <a:xfrm>
              <a:off x="1257" y="2233"/>
              <a:ext cx="13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b="1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sp>
          <p:nvSpPr>
            <p:cNvPr id="62" name="Line 19"/>
            <p:cNvSpPr>
              <a:spLocks noChangeShapeType="1"/>
            </p:cNvSpPr>
            <p:nvPr/>
          </p:nvSpPr>
          <p:spPr bwMode="auto">
            <a:xfrm>
              <a:off x="671" y="2491"/>
              <a:ext cx="40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3" name="Line 20"/>
            <p:cNvSpPr>
              <a:spLocks noChangeShapeType="1"/>
            </p:cNvSpPr>
            <p:nvPr/>
          </p:nvSpPr>
          <p:spPr bwMode="auto">
            <a:xfrm>
              <a:off x="1093" y="2568"/>
              <a:ext cx="2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Line 21"/>
            <p:cNvSpPr>
              <a:spLocks noChangeShapeType="1"/>
            </p:cNvSpPr>
            <p:nvPr/>
          </p:nvSpPr>
          <p:spPr bwMode="auto">
            <a:xfrm>
              <a:off x="671" y="2673"/>
              <a:ext cx="635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5" name="그룹 1"/>
          <p:cNvGrpSpPr>
            <a:grpSpLocks/>
          </p:cNvGrpSpPr>
          <p:nvPr/>
        </p:nvGrpSpPr>
        <p:grpSpPr bwMode="auto">
          <a:xfrm>
            <a:off x="6162040" y="2318846"/>
            <a:ext cx="2663825" cy="1574860"/>
            <a:chOff x="6223446" y="2370138"/>
            <a:chExt cx="2663825" cy="1574860"/>
          </a:xfrm>
        </p:grpSpPr>
        <p:pic>
          <p:nvPicPr>
            <p:cNvPr id="66" name="Picture 4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3171" y="2681288"/>
              <a:ext cx="1655763" cy="927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Text Box 6"/>
            <p:cNvSpPr txBox="1">
              <a:spLocks noChangeArrowheads="1"/>
            </p:cNvSpPr>
            <p:nvPr/>
          </p:nvSpPr>
          <p:spPr bwMode="auto">
            <a:xfrm>
              <a:off x="7937946" y="3544888"/>
              <a:ext cx="83192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itchFamily="34" charset="0"/>
                  <a:ea typeface="굴림체" pitchFamily="49" charset="-127"/>
                  <a:cs typeface="Arial" pitchFamily="34" charset="0"/>
                </a:rPr>
                <a:t>Measured value</a:t>
              </a:r>
              <a:endParaRPr lang="ko-KR" altLang="en-US" sz="1000" b="1" dirty="0">
                <a:solidFill>
                  <a:srgbClr val="000000"/>
                </a:solidFill>
                <a:latin typeface="Arial" pitchFamily="34" charset="0"/>
                <a:ea typeface="굴림체" pitchFamily="49" charset="-127"/>
                <a:cs typeface="Arial" pitchFamily="34" charset="0"/>
              </a:endParaRPr>
            </a:p>
          </p:txBody>
        </p:sp>
        <p:sp>
          <p:nvSpPr>
            <p:cNvPr id="68" name="Rectangle 7"/>
            <p:cNvSpPr>
              <a:spLocks noChangeArrowheads="1"/>
            </p:cNvSpPr>
            <p:nvPr/>
          </p:nvSpPr>
          <p:spPr bwMode="auto">
            <a:xfrm>
              <a:off x="6223446" y="2370138"/>
              <a:ext cx="2663825" cy="156368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endParaRPr lang="ko-KR" altLang="en-US" sz="100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Line 8"/>
            <p:cNvSpPr>
              <a:spLocks noChangeShapeType="1"/>
            </p:cNvSpPr>
            <p:nvPr/>
          </p:nvSpPr>
          <p:spPr bwMode="auto">
            <a:xfrm>
              <a:off x="6837809" y="3678238"/>
              <a:ext cx="86518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0" name="Picture 4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5059" y="2681288"/>
              <a:ext cx="1655762" cy="927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TextBox 43"/>
            <p:cNvSpPr txBox="1">
              <a:spLocks noChangeArrowheads="1"/>
            </p:cNvSpPr>
            <p:nvPr/>
          </p:nvSpPr>
          <p:spPr bwMode="auto">
            <a:xfrm>
              <a:off x="6536184" y="2779713"/>
              <a:ext cx="4032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Arial" pitchFamily="34" charset="0"/>
                  <a:ea typeface="맑은 고딕" pitchFamily="50" charset="-127"/>
                  <a:cs typeface="Arial" pitchFamily="34" charset="0"/>
                </a:rPr>
                <a:t>1st</a:t>
              </a:r>
            </a:p>
          </p:txBody>
        </p:sp>
        <p:sp>
          <p:nvSpPr>
            <p:cNvPr id="72" name="TextBox 44"/>
            <p:cNvSpPr txBox="1">
              <a:spLocks noChangeArrowheads="1"/>
            </p:cNvSpPr>
            <p:nvPr/>
          </p:nvSpPr>
          <p:spPr bwMode="auto">
            <a:xfrm>
              <a:off x="7649021" y="2779713"/>
              <a:ext cx="46355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Arial" pitchFamily="34" charset="0"/>
                  <a:ea typeface="맑은 고딕" pitchFamily="50" charset="-127"/>
                  <a:cs typeface="Arial" pitchFamily="34" charset="0"/>
                </a:rPr>
                <a:t>2nd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0482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218281" y="678287"/>
            <a:ext cx="6611938" cy="171739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kumimoji="0" lang="ko-KR" altLang="en-US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đúng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cách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tiền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đề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cơ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bản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cho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tất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cả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các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loại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phân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tích</a:t>
            </a:r>
            <a:endParaRPr kumimoji="0" lang="en-US" altLang="ko-KR" sz="1200" b="1" kern="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fontAlgn="auto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Font typeface="Wingdings" pitchFamily="2" charset="2"/>
              <a:buChar char="§"/>
              <a:defRPr/>
            </a:pPr>
            <a:endParaRPr kumimoji="0" lang="en-US" altLang="ko-KR" sz="1200" b="1" kern="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fontAlgn="auto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Font typeface="Wingdings" pitchFamily="2" charset="2"/>
              <a:buChar char="§"/>
              <a:defRPr/>
            </a:pPr>
            <a:r>
              <a:rPr kumimoji="0" lang="ko-KR" altLang="en-US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Kiểm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hệ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thống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quá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kiểm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tra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xem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hệ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thống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chúng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ta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đáng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tin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cậy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đến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đâu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. </a:t>
            </a:r>
          </a:p>
          <a:p>
            <a:pPr marL="177800" indent="-177800" fontAlgn="auto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Tính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hợp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lệ</a:t>
            </a:r>
            <a:endParaRPr kumimoji="0" lang="en-US" altLang="ko-KR" sz="1200" b="1" kern="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fontAlgn="auto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defRPr/>
            </a:pP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anose="05000000000000000000" pitchFamily="2" charset="2"/>
              </a:rPr>
              <a:t>Độ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anose="05000000000000000000" pitchFamily="2" charset="2"/>
              </a:rPr>
              <a:t>đúng</a:t>
            </a:r>
            <a:endParaRPr kumimoji="0" lang="en-US" altLang="ko-KR" sz="1200" b="1" kern="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fontAlgn="auto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defRPr/>
            </a:pP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anose="05000000000000000000" pitchFamily="2" charset="2"/>
              </a:rPr>
              <a:t>Độ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anose="05000000000000000000" pitchFamily="2" charset="2"/>
              </a:rPr>
              <a:t>chính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anose="05000000000000000000" pitchFamily="2" charset="2"/>
              </a:rPr>
              <a:t>xác</a:t>
            </a:r>
            <a:endParaRPr kumimoji="0" lang="en-US" altLang="ko-KR" sz="1200" b="1" kern="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fontAlgn="auto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defRPr/>
            </a:pP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thứ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tự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quá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kiểm</a:t>
            </a:r>
            <a:r>
              <a:rPr kumimoji="0" lang="en-US" altLang="ko-KR" sz="1200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200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endParaRPr kumimoji="0" lang="ko-KR" altLang="en-US" sz="1200" b="1" kern="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5111750" y="1793875"/>
            <a:ext cx="2376488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292929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Chênh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lệch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quan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sát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trong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quá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trình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/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sản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phẩm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Text Box 6"/>
          <p:cNvSpPr txBox="1">
            <a:spLocks noChangeArrowheads="1"/>
          </p:cNvSpPr>
          <p:nvPr/>
        </p:nvSpPr>
        <p:spPr bwMode="auto">
          <a:xfrm>
            <a:off x="3524250" y="2814638"/>
            <a:ext cx="2057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292929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Chênh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lệch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thực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tế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trong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quá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trình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/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sản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phẩm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endParaRPr lang="ko-KR" altLang="ko-KR" sz="1200" dirty="0">
              <a:latin typeface="Arial" pitchFamily="34" charset="0"/>
              <a:ea typeface="굴림체" pitchFamily="49" charset="-127"/>
              <a:cs typeface="Arial" pitchFamily="34" charset="0"/>
            </a:endParaRPr>
          </a:p>
        </p:txBody>
      </p:sp>
      <p:sp>
        <p:nvSpPr>
          <p:cNvPr id="44" name="Text Box 7"/>
          <p:cNvSpPr txBox="1">
            <a:spLocks noChangeArrowheads="1"/>
          </p:cNvSpPr>
          <p:nvPr/>
        </p:nvSpPr>
        <p:spPr bwMode="auto">
          <a:xfrm>
            <a:off x="6904038" y="2814638"/>
            <a:ext cx="2168525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292929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Chênh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lệch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đo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lường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được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trong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quá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trình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/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sản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phẩm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5" name="AutoShape 8"/>
          <p:cNvCxnSpPr>
            <a:cxnSpLocks noChangeShapeType="1"/>
          </p:cNvCxnSpPr>
          <p:nvPr/>
        </p:nvCxnSpPr>
        <p:spPr bwMode="auto">
          <a:xfrm rot="5400000">
            <a:off x="5132387" y="1646238"/>
            <a:ext cx="588963" cy="1747838"/>
          </a:xfrm>
          <a:prstGeom prst="bentConnector3">
            <a:avLst>
              <a:gd name="adj1" fmla="val 49866"/>
            </a:avLst>
          </a:prstGeom>
          <a:noFill/>
          <a:ln w="9525">
            <a:solidFill>
              <a:srgbClr val="29292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9"/>
          <p:cNvCxnSpPr>
            <a:cxnSpLocks noChangeShapeType="1"/>
          </p:cNvCxnSpPr>
          <p:nvPr/>
        </p:nvCxnSpPr>
        <p:spPr bwMode="auto">
          <a:xfrm rot="16200000" flipH="1">
            <a:off x="6850062" y="1676401"/>
            <a:ext cx="588963" cy="1687512"/>
          </a:xfrm>
          <a:prstGeom prst="bentConnector3">
            <a:avLst>
              <a:gd name="adj1" fmla="val 49866"/>
            </a:avLst>
          </a:prstGeom>
          <a:noFill/>
          <a:ln w="9525">
            <a:solidFill>
              <a:srgbClr val="29292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 Box 10"/>
          <p:cNvSpPr txBox="1">
            <a:spLocks noChangeArrowheads="1"/>
          </p:cNvSpPr>
          <p:nvPr/>
        </p:nvSpPr>
        <p:spPr bwMode="auto">
          <a:xfrm>
            <a:off x="3368675" y="3678238"/>
            <a:ext cx="1008063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292929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Chance</a:t>
            </a:r>
          </a:p>
          <a:p>
            <a:pPr algn="ctr" eaLnBrk="1" hangingPunct="1"/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Variance</a:t>
            </a:r>
            <a:endParaRPr lang="ko-KR" altLang="ko-KR" sz="1200" dirty="0">
              <a:latin typeface="Arial" pitchFamily="34" charset="0"/>
              <a:ea typeface="굴림체" pitchFamily="49" charset="-127"/>
              <a:cs typeface="Arial" pitchFamily="34" charset="0"/>
            </a:endParaRPr>
          </a:p>
        </p:txBody>
      </p:sp>
      <p:sp>
        <p:nvSpPr>
          <p:cNvPr id="48" name="Text Box 11"/>
          <p:cNvSpPr txBox="1">
            <a:spLocks noChangeArrowheads="1"/>
          </p:cNvSpPr>
          <p:nvPr/>
        </p:nvSpPr>
        <p:spPr bwMode="auto">
          <a:xfrm>
            <a:off x="4745038" y="3678238"/>
            <a:ext cx="1008062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292929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Assignable</a:t>
            </a:r>
          </a:p>
          <a:p>
            <a:pPr algn="ctr" eaLnBrk="1" hangingPunct="1"/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Variance</a:t>
            </a:r>
            <a:endParaRPr lang="ko-KR" altLang="ko-KR" sz="1200" dirty="0">
              <a:latin typeface="Arial" pitchFamily="34" charset="0"/>
              <a:ea typeface="굴림체" pitchFamily="49" charset="-127"/>
              <a:cs typeface="Arial" pitchFamily="34" charset="0"/>
            </a:endParaRPr>
          </a:p>
        </p:txBody>
      </p:sp>
      <p:cxnSp>
        <p:nvCxnSpPr>
          <p:cNvPr id="51" name="AutoShape 12"/>
          <p:cNvCxnSpPr>
            <a:cxnSpLocks noChangeShapeType="1"/>
          </p:cNvCxnSpPr>
          <p:nvPr/>
        </p:nvCxnSpPr>
        <p:spPr bwMode="auto">
          <a:xfrm rot="16200000">
            <a:off x="3997325" y="3122613"/>
            <a:ext cx="431800" cy="6794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29292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AutoShape 13"/>
          <p:cNvCxnSpPr>
            <a:cxnSpLocks noChangeShapeType="1"/>
          </p:cNvCxnSpPr>
          <p:nvPr/>
        </p:nvCxnSpPr>
        <p:spPr bwMode="auto">
          <a:xfrm rot="5400000" flipH="1">
            <a:off x="4685507" y="3113881"/>
            <a:ext cx="431800" cy="6969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29292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Text Box 14"/>
          <p:cNvSpPr txBox="1">
            <a:spLocks noChangeArrowheads="1"/>
          </p:cNvSpPr>
          <p:nvPr/>
        </p:nvSpPr>
        <p:spPr bwMode="auto">
          <a:xfrm>
            <a:off x="6537176" y="3694113"/>
            <a:ext cx="1224136" cy="431800"/>
          </a:xfrm>
          <a:prstGeom prst="rect">
            <a:avLst/>
          </a:prstGeom>
          <a:noFill/>
          <a:ln w="9525">
            <a:solidFill>
              <a:srgbClr val="29292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b="1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Chênh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lệch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do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dụng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cụ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đo</a:t>
            </a:r>
            <a:endParaRPr lang="ko-KR" altLang="ko-KR" sz="1200" dirty="0">
              <a:latin typeface="Arial" pitchFamily="34" charset="0"/>
              <a:ea typeface="굴림체" pitchFamily="49" charset="-127"/>
              <a:cs typeface="Arial" pitchFamily="34" charset="0"/>
            </a:endParaRPr>
          </a:p>
        </p:txBody>
      </p:sp>
      <p:sp>
        <p:nvSpPr>
          <p:cNvPr id="54" name="Text Box 15"/>
          <p:cNvSpPr txBox="1">
            <a:spLocks noChangeArrowheads="1"/>
          </p:cNvSpPr>
          <p:nvPr/>
        </p:nvSpPr>
        <p:spPr bwMode="auto">
          <a:xfrm>
            <a:off x="8193360" y="3694113"/>
            <a:ext cx="1224136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292929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Chênh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lệch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do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người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đo</a:t>
            </a:r>
            <a:endParaRPr lang="ko-KR" altLang="ko-KR" sz="1200" dirty="0">
              <a:latin typeface="Arial" pitchFamily="34" charset="0"/>
              <a:ea typeface="굴림체" pitchFamily="49" charset="-127"/>
              <a:cs typeface="Arial" pitchFamily="34" charset="0"/>
            </a:endParaRPr>
          </a:p>
        </p:txBody>
      </p:sp>
      <p:cxnSp>
        <p:nvCxnSpPr>
          <p:cNvPr id="55" name="AutoShape 16"/>
          <p:cNvCxnSpPr>
            <a:cxnSpLocks noChangeShapeType="1"/>
            <a:stCxn id="53" idx="0"/>
            <a:endCxn id="44" idx="2"/>
          </p:cNvCxnSpPr>
          <p:nvPr/>
        </p:nvCxnSpPr>
        <p:spPr bwMode="auto">
          <a:xfrm rot="5400000" flipH="1" flipV="1">
            <a:off x="7344935" y="3050748"/>
            <a:ext cx="447675" cy="83905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29292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AutoShape 17"/>
          <p:cNvCxnSpPr>
            <a:cxnSpLocks noChangeShapeType="1"/>
            <a:stCxn id="54" idx="0"/>
            <a:endCxn id="44" idx="2"/>
          </p:cNvCxnSpPr>
          <p:nvPr/>
        </p:nvCxnSpPr>
        <p:spPr bwMode="auto">
          <a:xfrm rot="16200000" flipV="1">
            <a:off x="8173028" y="3061712"/>
            <a:ext cx="447675" cy="81712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29292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Text Box 19"/>
          <p:cNvSpPr txBox="1">
            <a:spLocks noChangeArrowheads="1"/>
          </p:cNvSpPr>
          <p:nvPr/>
        </p:nvSpPr>
        <p:spPr bwMode="auto">
          <a:xfrm>
            <a:off x="6440488" y="5240233"/>
            <a:ext cx="1439862" cy="461665"/>
          </a:xfrm>
          <a:prstGeom prst="rect">
            <a:avLst/>
          </a:prstGeom>
          <a:noFill/>
          <a:ln w="9525" algn="ctr">
            <a:solidFill>
              <a:srgbClr val="29292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b="1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Khả</a:t>
            </a:r>
            <a:r>
              <a:rPr lang="en-US" altLang="ko-KR" sz="1200" b="1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năng</a:t>
            </a:r>
            <a:r>
              <a:rPr lang="en-US" altLang="ko-KR" sz="1200" b="1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lặp</a:t>
            </a:r>
            <a:r>
              <a:rPr lang="en-US" altLang="ko-KR" sz="1200" b="1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lại</a:t>
            </a:r>
            <a:endParaRPr lang="en-US" altLang="ko-KR" sz="1200" b="1" dirty="0">
              <a:latin typeface="Arial" pitchFamily="34" charset="0"/>
              <a:ea typeface="굴림체" pitchFamily="49" charset="-127"/>
              <a:cs typeface="Arial" pitchFamily="34" charset="0"/>
            </a:endParaRPr>
          </a:p>
          <a:p>
            <a:pPr algn="ctr" eaLnBrk="1" hangingPunct="1"/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Repeatability</a:t>
            </a:r>
            <a:endParaRPr lang="ko-KR" altLang="ko-KR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Text Box 20"/>
          <p:cNvSpPr txBox="1">
            <a:spLocks noChangeArrowheads="1"/>
          </p:cNvSpPr>
          <p:nvPr/>
        </p:nvSpPr>
        <p:spPr bwMode="auto">
          <a:xfrm>
            <a:off x="8091488" y="5237058"/>
            <a:ext cx="1439862" cy="461665"/>
          </a:xfrm>
          <a:prstGeom prst="rect">
            <a:avLst/>
          </a:prstGeom>
          <a:noFill/>
          <a:ln w="9525" algn="ctr">
            <a:solidFill>
              <a:srgbClr val="29292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b="1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Khả</a:t>
            </a:r>
            <a:r>
              <a:rPr lang="en-US" altLang="ko-KR" sz="1200" b="1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năng</a:t>
            </a:r>
            <a:r>
              <a:rPr lang="en-US" altLang="ko-KR" sz="1200" b="1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tái</a:t>
            </a:r>
            <a:r>
              <a:rPr lang="en-US" altLang="ko-KR" sz="1200" b="1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tạo</a:t>
            </a:r>
            <a:endParaRPr lang="en-US" altLang="ko-KR" sz="1200" b="1" dirty="0">
              <a:latin typeface="Arial" pitchFamily="34" charset="0"/>
              <a:ea typeface="굴림체" pitchFamily="49" charset="-127"/>
              <a:cs typeface="Arial" pitchFamily="34" charset="0"/>
            </a:endParaRPr>
          </a:p>
          <a:p>
            <a:pPr algn="ctr" eaLnBrk="1" hangingPunct="1"/>
            <a:r>
              <a:rPr lang="en-US" altLang="ko-KR" sz="1200" b="1" dirty="0">
                <a:solidFill>
                  <a:srgbClr val="4D4D4D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Reproducibility</a:t>
            </a:r>
            <a:endParaRPr lang="ko-KR" altLang="ko-KR" sz="1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9" name="Picture 28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63" y="1636713"/>
            <a:ext cx="10699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 Box 36"/>
          <p:cNvSpPr txBox="1">
            <a:spLocks noChangeArrowheads="1"/>
          </p:cNvSpPr>
          <p:nvPr/>
        </p:nvSpPr>
        <p:spPr bwMode="auto">
          <a:xfrm>
            <a:off x="6435725" y="4400550"/>
            <a:ext cx="1439863" cy="646331"/>
          </a:xfrm>
          <a:prstGeom prst="rect">
            <a:avLst/>
          </a:prstGeom>
          <a:noFill/>
          <a:ln w="9525" algn="ctr">
            <a:solidFill>
              <a:srgbClr val="29292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Độ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chệch</a:t>
            </a:r>
            <a:endParaRPr lang="en-US" altLang="ko-KR" sz="1200" dirty="0">
              <a:latin typeface="Arial" pitchFamily="34" charset="0"/>
              <a:ea typeface="굴림체" pitchFamily="49" charset="-127"/>
              <a:cs typeface="Arial" pitchFamily="34" charset="0"/>
            </a:endParaRPr>
          </a:p>
          <a:p>
            <a:pPr algn="ctr" eaLnBrk="1" hangingPunct="1"/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Tuyến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tính</a:t>
            </a:r>
            <a:endParaRPr lang="ko-KR" altLang="ko-KR" sz="1200" dirty="0">
              <a:latin typeface="Arial" pitchFamily="34" charset="0"/>
              <a:ea typeface="굴림체" pitchFamily="49" charset="-127"/>
              <a:cs typeface="Arial" pitchFamily="34" charset="0"/>
            </a:endParaRPr>
          </a:p>
          <a:p>
            <a:pPr algn="ctr" eaLnBrk="1" hangingPunct="1"/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Độ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ổn</a:t>
            </a:r>
            <a:r>
              <a:rPr lang="en-US" altLang="ko-KR" sz="1200" dirty="0">
                <a:latin typeface="Arial" pitchFamily="34" charset="0"/>
                <a:ea typeface="굴림체" pitchFamily="49" charset="-127"/>
                <a:cs typeface="Arial" pitchFamily="34" charset="0"/>
              </a:rPr>
              <a:t> </a:t>
            </a:r>
            <a:r>
              <a:rPr lang="en-US" altLang="ko-KR" sz="1200" dirty="0" err="1">
                <a:latin typeface="Arial" pitchFamily="34" charset="0"/>
                <a:ea typeface="굴림체" pitchFamily="49" charset="-127"/>
                <a:cs typeface="Arial" pitchFamily="34" charset="0"/>
              </a:rPr>
              <a:t>định</a:t>
            </a:r>
            <a:endParaRPr lang="ko-KR" altLang="ko-KR" sz="1200" dirty="0">
              <a:latin typeface="Arial" pitchFamily="34" charset="0"/>
              <a:ea typeface="굴림체" pitchFamily="49" charset="-127"/>
              <a:cs typeface="Arial" pitchFamily="34" charset="0"/>
            </a:endParaRPr>
          </a:p>
        </p:txBody>
      </p:sp>
      <p:sp>
        <p:nvSpPr>
          <p:cNvPr id="61" name="Line 44"/>
          <p:cNvSpPr>
            <a:spLocks noChangeShapeType="1"/>
          </p:cNvSpPr>
          <p:nvPr/>
        </p:nvSpPr>
        <p:spPr bwMode="auto">
          <a:xfrm>
            <a:off x="7666038" y="2235200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ko-KR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TextBox 29"/>
          <p:cNvSpPr txBox="1">
            <a:spLocks noChangeArrowheads="1"/>
          </p:cNvSpPr>
          <p:nvPr/>
        </p:nvSpPr>
        <p:spPr bwMode="auto">
          <a:xfrm>
            <a:off x="481012" y="6021288"/>
            <a:ext cx="28876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* MSA (Measurement System Analysis)</a:t>
            </a:r>
            <a:endParaRPr lang="ko-KR" altLang="en-US" sz="1200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3" name="Text Box 11"/>
          <p:cNvSpPr txBox="1">
            <a:spLocks noChangeArrowheads="1"/>
          </p:cNvSpPr>
          <p:nvPr/>
        </p:nvSpPr>
        <p:spPr bwMode="auto">
          <a:xfrm>
            <a:off x="5025008" y="4471988"/>
            <a:ext cx="1302767" cy="488950"/>
          </a:xfrm>
          <a:prstGeom prst="rect">
            <a:avLst/>
          </a:prstGeom>
          <a:solidFill>
            <a:schemeClr val="bg1"/>
          </a:solidFill>
          <a:ln w="9525">
            <a:solidFill>
              <a:srgbClr val="292929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b="1" dirty="0" err="1">
                <a:latin typeface="Arial" pitchFamily="34" charset="0"/>
                <a:ea typeface="돋움" pitchFamily="50" charset="-127"/>
                <a:cs typeface="Arial" pitchFamily="34" charset="0"/>
              </a:rPr>
              <a:t>Điều</a:t>
            </a:r>
            <a:r>
              <a:rPr lang="en-US" altLang="ko-KR" sz="1200" b="1" dirty="0">
                <a:latin typeface="Arial" pitchFamily="34" charset="0"/>
                <a:ea typeface="돋움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돋움" pitchFamily="50" charset="-127"/>
                <a:cs typeface="Arial" pitchFamily="34" charset="0"/>
              </a:rPr>
              <a:t>kiện</a:t>
            </a:r>
            <a:r>
              <a:rPr lang="en-US" altLang="ko-KR" sz="1200" b="1" dirty="0">
                <a:latin typeface="Arial" pitchFamily="34" charset="0"/>
                <a:ea typeface="돋움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돋움" pitchFamily="50" charset="-127"/>
                <a:cs typeface="Arial" pitchFamily="34" charset="0"/>
              </a:rPr>
              <a:t>tiên</a:t>
            </a:r>
            <a:r>
              <a:rPr lang="en-US" altLang="ko-KR" sz="1200" b="1" dirty="0">
                <a:latin typeface="Arial" pitchFamily="34" charset="0"/>
                <a:ea typeface="돋움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돋움" pitchFamily="50" charset="-127"/>
                <a:cs typeface="Arial" pitchFamily="34" charset="0"/>
              </a:rPr>
              <a:t>quyết</a:t>
            </a:r>
            <a:endParaRPr lang="ko-KR" altLang="ko-KR" dirty="0">
              <a:latin typeface="Arial" pitchFamily="34" charset="0"/>
              <a:ea typeface="돋움" pitchFamily="50" charset="-127"/>
              <a:cs typeface="Arial" pitchFamily="34" charset="0"/>
            </a:endParaRPr>
          </a:p>
        </p:txBody>
      </p:sp>
      <p:sp>
        <p:nvSpPr>
          <p:cNvPr id="64" name="Text Box 11"/>
          <p:cNvSpPr txBox="1">
            <a:spLocks noChangeArrowheads="1"/>
          </p:cNvSpPr>
          <p:nvPr/>
        </p:nvSpPr>
        <p:spPr bwMode="auto">
          <a:xfrm>
            <a:off x="5010435" y="5209773"/>
            <a:ext cx="1302767" cy="488950"/>
          </a:xfrm>
          <a:prstGeom prst="rect">
            <a:avLst/>
          </a:prstGeom>
          <a:solidFill>
            <a:schemeClr val="bg1"/>
          </a:solidFill>
          <a:ln w="9525">
            <a:solidFill>
              <a:srgbClr val="292929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1200" b="1" dirty="0" err="1">
                <a:latin typeface="Arial" pitchFamily="34" charset="0"/>
                <a:ea typeface="돋움" pitchFamily="50" charset="-127"/>
                <a:cs typeface="Arial" pitchFamily="34" charset="0"/>
              </a:rPr>
              <a:t>Hạng</a:t>
            </a:r>
            <a:r>
              <a:rPr lang="en-US" altLang="ko-KR" sz="1200" b="1" dirty="0">
                <a:latin typeface="Arial" pitchFamily="34" charset="0"/>
                <a:ea typeface="돋움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돋움" pitchFamily="50" charset="-127"/>
                <a:cs typeface="Arial" pitchFamily="34" charset="0"/>
              </a:rPr>
              <a:t>mục</a:t>
            </a:r>
            <a:r>
              <a:rPr lang="en-US" altLang="ko-KR" sz="1200" b="1" dirty="0">
                <a:latin typeface="Arial" pitchFamily="34" charset="0"/>
                <a:ea typeface="돋움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돋움" pitchFamily="50" charset="-127"/>
                <a:cs typeface="Arial" pitchFamily="34" charset="0"/>
              </a:rPr>
              <a:t>kiểm</a:t>
            </a:r>
            <a:r>
              <a:rPr lang="en-US" altLang="ko-KR" sz="1200" b="1" dirty="0">
                <a:latin typeface="Arial" pitchFamily="34" charset="0"/>
                <a:ea typeface="돋움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latin typeface="Arial" pitchFamily="34" charset="0"/>
                <a:ea typeface="돋움" pitchFamily="50" charset="-127"/>
                <a:cs typeface="Arial" pitchFamily="34" charset="0"/>
              </a:rPr>
              <a:t>tra</a:t>
            </a:r>
            <a:endParaRPr lang="ko-KR" altLang="ko-KR" sz="1200" b="1" dirty="0">
              <a:latin typeface="Arial" pitchFamily="34" charset="0"/>
              <a:ea typeface="돋움" pitchFamily="50" charset="-127"/>
              <a:cs typeface="Arial" pitchFamily="34" charset="0"/>
            </a:endParaRPr>
          </a:p>
        </p:txBody>
      </p:sp>
      <p:sp>
        <p:nvSpPr>
          <p:cNvPr id="65" name="직사각형 1"/>
          <p:cNvSpPr/>
          <p:nvPr/>
        </p:nvSpPr>
        <p:spPr>
          <a:xfrm>
            <a:off x="6381750" y="2749550"/>
            <a:ext cx="3295650" cy="305035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TextBox 2"/>
          <p:cNvSpPr txBox="1">
            <a:spLocks noChangeArrowheads="1"/>
          </p:cNvSpPr>
          <p:nvPr/>
        </p:nvSpPr>
        <p:spPr bwMode="auto">
          <a:xfrm>
            <a:off x="8594725" y="2381250"/>
            <a:ext cx="1359668" cy="34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C5003D"/>
              </a:buClr>
            </a:pPr>
            <a:r>
              <a:rPr lang="en-US" altLang="ko-KR" sz="1400" b="1" dirty="0" err="1">
                <a:solidFill>
                  <a:srgbClr val="FF0000"/>
                </a:solidFill>
                <a:latin typeface="Arial" pitchFamily="34" charset="0"/>
                <a:ea typeface="돋움" pitchFamily="50" charset="-127"/>
                <a:cs typeface="Arial" pitchFamily="34" charset="0"/>
              </a:rPr>
              <a:t>Khu</a:t>
            </a:r>
            <a:r>
              <a:rPr lang="en-US" altLang="ko-KR" sz="1400" b="1" dirty="0">
                <a:solidFill>
                  <a:srgbClr val="FF0000"/>
                </a:solidFill>
                <a:latin typeface="Arial" pitchFamily="34" charset="0"/>
                <a:ea typeface="돋움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FF0000"/>
                </a:solidFill>
                <a:latin typeface="Arial" pitchFamily="34" charset="0"/>
                <a:ea typeface="돋움" pitchFamily="50" charset="-127"/>
                <a:cs typeface="Arial" pitchFamily="34" charset="0"/>
              </a:rPr>
              <a:t>vực</a:t>
            </a:r>
            <a:r>
              <a:rPr lang="en-US" altLang="ko-KR" sz="1400" b="1" dirty="0">
                <a:solidFill>
                  <a:srgbClr val="FF0000"/>
                </a:solidFill>
                <a:latin typeface="Arial" pitchFamily="34" charset="0"/>
                <a:ea typeface="돋움" pitchFamily="50" charset="-127"/>
                <a:cs typeface="Arial" pitchFamily="34" charset="0"/>
              </a:rPr>
              <a:t> MSA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ea typeface="돋움" pitchFamily="50" charset="-127"/>
              <a:cs typeface="Arial" pitchFamily="34" charset="0"/>
            </a:endParaRPr>
          </a:p>
        </p:txBody>
      </p:sp>
      <p:cxnSp>
        <p:nvCxnSpPr>
          <p:cNvPr id="67" name="Straight Arrow Connector 66"/>
          <p:cNvCxnSpPr>
            <a:stCxn id="54" idx="2"/>
            <a:endCxn id="58" idx="0"/>
          </p:cNvCxnSpPr>
          <p:nvPr/>
        </p:nvCxnSpPr>
        <p:spPr>
          <a:xfrm>
            <a:off x="8805428" y="4125913"/>
            <a:ext cx="5991" cy="11111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3" idx="2"/>
            <a:endCxn id="60" idx="0"/>
          </p:cNvCxnSpPr>
          <p:nvPr/>
        </p:nvCxnSpPr>
        <p:spPr>
          <a:xfrm>
            <a:off x="7149244" y="4125913"/>
            <a:ext cx="6413" cy="2746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64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4"/>
          <p:cNvSpPr txBox="1">
            <a:spLocks noChangeArrowheads="1"/>
          </p:cNvSpPr>
          <p:nvPr/>
        </p:nvSpPr>
        <p:spPr bwMode="auto">
          <a:xfrm>
            <a:off x="807844" y="1484168"/>
            <a:ext cx="122413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ko-KR" altLang="en-US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nhận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phương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sai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quá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endParaRPr lang="en-US" altLang="ko-KR" sz="14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algn="ctr" eaLnBrk="1" hangingPunct="1"/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(%R&amp;R)</a:t>
            </a:r>
            <a:endParaRPr lang="ko-KR" altLang="en-US" sz="14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2" name="TextBox 5"/>
          <p:cNvSpPr txBox="1">
            <a:spLocks noChangeArrowheads="1"/>
          </p:cNvSpPr>
          <p:nvPr/>
        </p:nvSpPr>
        <p:spPr bwMode="auto">
          <a:xfrm>
            <a:off x="613431" y="4015667"/>
            <a:ext cx="15504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ko-KR" altLang="en-US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Spec Pass/Fail</a:t>
            </a:r>
          </a:p>
          <a:p>
            <a:pPr eaLnBrk="1" hangingPunct="1"/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Decision</a:t>
            </a:r>
            <a:endParaRPr lang="ko-KR" altLang="en-US" sz="14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2583438" y="1593706"/>
            <a:ext cx="1571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ko-KR" altLang="en-US" sz="14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% Study Var. =</a:t>
            </a:r>
            <a:endParaRPr lang="ko-KR" altLang="en-US" sz="1400" b="1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4" name="TextBox 7"/>
          <p:cNvSpPr txBox="1">
            <a:spLocks noChangeArrowheads="1"/>
          </p:cNvSpPr>
          <p:nvPr/>
        </p:nvSpPr>
        <p:spPr bwMode="auto">
          <a:xfrm>
            <a:off x="2583438" y="2292206"/>
            <a:ext cx="1366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ko-KR" altLang="en-US" sz="14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% Process =</a:t>
            </a:r>
            <a:endParaRPr lang="ko-KR" altLang="en-US" sz="1400" b="1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5" name="TextBox 8"/>
          <p:cNvSpPr txBox="1">
            <a:spLocks noChangeArrowheads="1"/>
          </p:cNvSpPr>
          <p:nvPr/>
        </p:nvSpPr>
        <p:spPr bwMode="auto">
          <a:xfrm>
            <a:off x="2566056" y="4015667"/>
            <a:ext cx="153352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ko-KR" altLang="en-US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% Tolerance =</a:t>
            </a:r>
            <a:endParaRPr lang="ko-KR" altLang="en-US" sz="14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46" name="꺾인 연결선 10"/>
          <p:cNvCxnSpPr>
            <a:cxnSpLocks noChangeShapeType="1"/>
            <a:stCxn id="38" idx="3"/>
            <a:endCxn id="44" idx="1"/>
          </p:cNvCxnSpPr>
          <p:nvPr/>
        </p:nvCxnSpPr>
        <p:spPr bwMode="auto">
          <a:xfrm>
            <a:off x="2031980" y="1961222"/>
            <a:ext cx="551458" cy="484972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직선 연결선 12"/>
          <p:cNvCxnSpPr>
            <a:cxnSpLocks noChangeShapeType="1"/>
            <a:stCxn id="38" idx="3"/>
            <a:endCxn id="43" idx="1"/>
          </p:cNvCxnSpPr>
          <p:nvPr/>
        </p:nvCxnSpPr>
        <p:spPr bwMode="auto">
          <a:xfrm flipV="1">
            <a:off x="2031980" y="1747694"/>
            <a:ext cx="551458" cy="21352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직선 연결선 14"/>
          <p:cNvCxnSpPr>
            <a:cxnSpLocks noChangeShapeType="1"/>
            <a:stCxn id="42" idx="3"/>
            <a:endCxn id="45" idx="1"/>
          </p:cNvCxnSpPr>
          <p:nvPr/>
        </p:nvCxnSpPr>
        <p:spPr bwMode="auto">
          <a:xfrm flipV="1">
            <a:off x="2163855" y="4168861"/>
            <a:ext cx="402201" cy="108416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13"/>
          <p:cNvSpPr txBox="1">
            <a:spLocks noChangeArrowheads="1"/>
          </p:cNvSpPr>
          <p:nvPr/>
        </p:nvSpPr>
        <p:spPr bwMode="auto">
          <a:xfrm>
            <a:off x="4188339" y="1471468"/>
            <a:ext cx="12346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Gage variance</a:t>
            </a:r>
          </a:p>
        </p:txBody>
      </p:sp>
      <p:sp>
        <p:nvSpPr>
          <p:cNvPr id="52" name="TextBox 15"/>
          <p:cNvSpPr txBox="1">
            <a:spLocks noChangeArrowheads="1"/>
          </p:cNvSpPr>
          <p:nvPr/>
        </p:nvSpPr>
        <p:spPr bwMode="auto">
          <a:xfrm>
            <a:off x="4120212" y="1748487"/>
            <a:ext cx="13708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Overall variance</a:t>
            </a:r>
          </a:p>
        </p:txBody>
      </p:sp>
      <p:cxnSp>
        <p:nvCxnSpPr>
          <p:cNvPr id="53" name="직선 연결선 17"/>
          <p:cNvCxnSpPr>
            <a:cxnSpLocks noChangeShapeType="1"/>
          </p:cNvCxnSpPr>
          <p:nvPr/>
        </p:nvCxnSpPr>
        <p:spPr bwMode="auto">
          <a:xfrm>
            <a:off x="4276415" y="1748487"/>
            <a:ext cx="1058481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TextBox 18"/>
          <p:cNvSpPr txBox="1">
            <a:spLocks noChangeArrowheads="1"/>
          </p:cNvSpPr>
          <p:nvPr/>
        </p:nvSpPr>
        <p:spPr bwMode="auto">
          <a:xfrm>
            <a:off x="4079242" y="2168381"/>
            <a:ext cx="12346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Gage variance</a:t>
            </a:r>
          </a:p>
        </p:txBody>
      </p:sp>
      <p:sp>
        <p:nvSpPr>
          <p:cNvPr id="55" name="TextBox 19"/>
          <p:cNvSpPr txBox="1">
            <a:spLocks noChangeArrowheads="1"/>
          </p:cNvSpPr>
          <p:nvPr/>
        </p:nvSpPr>
        <p:spPr bwMode="auto">
          <a:xfrm>
            <a:off x="3656049" y="2445400"/>
            <a:ext cx="20810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Known process variances</a:t>
            </a:r>
          </a:p>
        </p:txBody>
      </p:sp>
      <p:cxnSp>
        <p:nvCxnSpPr>
          <p:cNvPr id="56" name="직선 연결선 20"/>
          <p:cNvCxnSpPr>
            <a:cxnSpLocks noChangeShapeType="1"/>
          </p:cNvCxnSpPr>
          <p:nvPr/>
        </p:nvCxnSpPr>
        <p:spPr bwMode="auto">
          <a:xfrm>
            <a:off x="3976094" y="2445400"/>
            <a:ext cx="1440929" cy="69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TextBox 21"/>
          <p:cNvSpPr txBox="1">
            <a:spLocks noChangeArrowheads="1"/>
          </p:cNvSpPr>
          <p:nvPr/>
        </p:nvSpPr>
        <p:spPr bwMode="auto">
          <a:xfrm>
            <a:off x="3886806" y="3890255"/>
            <a:ext cx="1489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6*×Gage variance</a:t>
            </a:r>
          </a:p>
        </p:txBody>
      </p:sp>
      <p:sp>
        <p:nvSpPr>
          <p:cNvPr id="58" name="TextBox 22"/>
          <p:cNvSpPr txBox="1">
            <a:spLocks noChangeArrowheads="1"/>
          </p:cNvSpPr>
          <p:nvPr/>
        </p:nvSpPr>
        <p:spPr bwMode="auto">
          <a:xfrm>
            <a:off x="4152680" y="4168067"/>
            <a:ext cx="11769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Product</a:t>
            </a:r>
            <a:r>
              <a:rPr lang="ko-KR" altLang="en-US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Spec</a:t>
            </a:r>
          </a:p>
        </p:txBody>
      </p:sp>
      <p:cxnSp>
        <p:nvCxnSpPr>
          <p:cNvPr id="59" name="직선 연결선 23"/>
          <p:cNvCxnSpPr>
            <a:cxnSpLocks noChangeShapeType="1"/>
          </p:cNvCxnSpPr>
          <p:nvPr/>
        </p:nvCxnSpPr>
        <p:spPr bwMode="auto">
          <a:xfrm>
            <a:off x="4057066" y="4168067"/>
            <a:ext cx="136815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" name="TextBox 28"/>
          <p:cNvSpPr txBox="1">
            <a:spLocks noChangeArrowheads="1"/>
          </p:cNvSpPr>
          <p:nvPr/>
        </p:nvSpPr>
        <p:spPr bwMode="auto">
          <a:xfrm>
            <a:off x="5417125" y="1593706"/>
            <a:ext cx="6912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4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≤</a:t>
            </a:r>
            <a:r>
              <a:rPr lang="en-US" altLang="ko-KR" sz="14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10%</a:t>
            </a:r>
            <a:endParaRPr lang="ko-KR" altLang="en-US" sz="1400" b="1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1" name="TextBox 29"/>
          <p:cNvSpPr txBox="1">
            <a:spLocks noChangeArrowheads="1"/>
          </p:cNvSpPr>
          <p:nvPr/>
        </p:nvSpPr>
        <p:spPr bwMode="auto">
          <a:xfrm>
            <a:off x="5417125" y="2292206"/>
            <a:ext cx="6912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4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≤</a:t>
            </a:r>
            <a:r>
              <a:rPr lang="en-US" altLang="ko-KR" sz="14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10%</a:t>
            </a:r>
            <a:endParaRPr lang="ko-KR" altLang="en-US" sz="1400" b="1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2" name="TextBox 30"/>
          <p:cNvSpPr txBox="1">
            <a:spLocks noChangeArrowheads="1"/>
          </p:cNvSpPr>
          <p:nvPr/>
        </p:nvSpPr>
        <p:spPr bwMode="auto">
          <a:xfrm>
            <a:off x="5399743" y="4004555"/>
            <a:ext cx="6912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4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≤</a:t>
            </a:r>
            <a:r>
              <a:rPr lang="en-US" altLang="ko-KR" sz="14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10%</a:t>
            </a:r>
            <a:endParaRPr lang="ko-KR" altLang="en-US" sz="1400" b="1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3" name="TextBox 31"/>
          <p:cNvSpPr txBox="1">
            <a:spLocks noChangeArrowheads="1"/>
          </p:cNvSpPr>
          <p:nvPr/>
        </p:nvSpPr>
        <p:spPr bwMode="auto">
          <a:xfrm>
            <a:off x="6137850" y="1495923"/>
            <a:ext cx="372745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: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Trong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phương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sai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tổng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thể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,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lỗi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do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hệ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thống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nhỏ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hơn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10%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để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thể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sử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dụng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cho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việc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kiểm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tra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phương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sai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quá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.</a:t>
            </a:r>
          </a:p>
        </p:txBody>
      </p:sp>
      <p:sp>
        <p:nvSpPr>
          <p:cNvPr id="64" name="TextBox 32"/>
          <p:cNvSpPr txBox="1">
            <a:spLocks noChangeArrowheads="1"/>
          </p:cNvSpPr>
          <p:nvPr/>
        </p:nvSpPr>
        <p:spPr bwMode="auto">
          <a:xfrm>
            <a:off x="6150907" y="2203353"/>
            <a:ext cx="372745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: So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sánh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với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sự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phân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bổ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quá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hiện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tại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,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lỗi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do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hệ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thống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nhỏ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hơn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10%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thể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sử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dụng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cho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việc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kiểm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tra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phương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sai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quá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.</a:t>
            </a:r>
          </a:p>
        </p:txBody>
      </p:sp>
      <p:sp>
        <p:nvSpPr>
          <p:cNvPr id="65" name="TextBox 33"/>
          <p:cNvSpPr txBox="1">
            <a:spLocks noChangeArrowheads="1"/>
          </p:cNvSpPr>
          <p:nvPr/>
        </p:nvSpPr>
        <p:spPr bwMode="auto">
          <a:xfrm>
            <a:off x="6092825" y="3889707"/>
            <a:ext cx="372745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: So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sánh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với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spec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sản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phẩm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(dung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sai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),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lỗi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do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hệ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thống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nhỏ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hơn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10%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thể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sử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dụng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cho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việc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ra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quyết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pass/fail</a:t>
            </a:r>
          </a:p>
        </p:txBody>
      </p:sp>
      <p:sp>
        <p:nvSpPr>
          <p:cNvPr id="66" name="TextBox 35"/>
          <p:cNvSpPr txBox="1">
            <a:spLocks noChangeArrowheads="1"/>
          </p:cNvSpPr>
          <p:nvPr/>
        </p:nvSpPr>
        <p:spPr bwMode="auto">
          <a:xfrm>
            <a:off x="807844" y="5296198"/>
            <a:ext cx="47005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ko-KR" altLang="en-US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Kiểm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tra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mức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độ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phân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biệt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hệ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thống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endParaRPr lang="en-US" altLang="ko-KR" sz="14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7" name="TextBox 37"/>
          <p:cNvSpPr txBox="1">
            <a:spLocks noChangeArrowheads="1"/>
          </p:cNvSpPr>
          <p:nvPr/>
        </p:nvSpPr>
        <p:spPr bwMode="auto">
          <a:xfrm>
            <a:off x="5842542" y="5032084"/>
            <a:ext cx="30187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Arial" pitchFamily="34" charset="0"/>
              <a:buChar char="•"/>
            </a:pPr>
            <a:r>
              <a:rPr lang="ko-KR" altLang="en-US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Number of distinct category  </a:t>
            </a:r>
            <a:r>
              <a:rPr lang="ko-KR" altLang="en-US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≥</a:t>
            </a:r>
            <a:r>
              <a:rPr lang="en-US" altLang="ko-KR" sz="14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5</a:t>
            </a:r>
            <a:endParaRPr lang="ko-KR" altLang="en-US" sz="14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22287" y="457050"/>
            <a:ext cx="8970963" cy="668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Font typeface="Wingdings" pitchFamily="2" charset="2"/>
              <a:buChar char="u"/>
              <a:defRPr/>
            </a:pPr>
            <a:r>
              <a:rPr kumimoji="0" lang="en-US" altLang="ko-KR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</a:t>
            </a:r>
            <a:r>
              <a:rPr kumimoji="0" lang="en-US" altLang="ko-KR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Tiêu</a:t>
            </a:r>
            <a:r>
              <a:rPr kumimoji="0" lang="en-US" altLang="ko-KR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chuẩn</a:t>
            </a:r>
            <a:r>
              <a:rPr kumimoji="0" lang="en-US" altLang="ko-KR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quyết</a:t>
            </a:r>
            <a:r>
              <a:rPr kumimoji="0" lang="en-US" altLang="ko-KR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kumimoji="0" lang="en-US" altLang="ko-KR" b="1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Gage R&amp;R</a:t>
            </a:r>
          </a:p>
          <a:p>
            <a:pPr marL="365125" fontAlgn="auto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defRPr/>
            </a:pPr>
            <a:r>
              <a:rPr kumimoji="0" lang="en-US" altLang="ko-KR" sz="16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: </a:t>
            </a:r>
            <a:r>
              <a:rPr kumimoji="0" lang="en-US" altLang="ko-KR" sz="16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kumimoji="0" lang="en-US" altLang="ko-KR" sz="16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6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kumimoji="0" lang="en-US" altLang="ko-KR" sz="16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16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độ</a:t>
            </a:r>
            <a:r>
              <a:rPr kumimoji="0" lang="en-US" altLang="ko-KR" sz="16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tin </a:t>
            </a:r>
            <a:r>
              <a:rPr kumimoji="0" lang="en-US" altLang="ko-KR" sz="1600" kern="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cậy</a:t>
            </a:r>
            <a:r>
              <a:rPr kumimoji="0" lang="en-US" altLang="ko-KR" sz="1600" kern="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Gage R&amp;R</a:t>
            </a:r>
            <a:endParaRPr kumimoji="0" lang="ko-KR" altLang="en-US" sz="1600" kern="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9" name="TextBox 13"/>
          <p:cNvSpPr txBox="1">
            <a:spLocks noChangeArrowheads="1"/>
          </p:cNvSpPr>
          <p:nvPr/>
        </p:nvSpPr>
        <p:spPr bwMode="auto">
          <a:xfrm>
            <a:off x="6718005" y="5398514"/>
            <a:ext cx="17425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1.414 x Part Variance</a:t>
            </a:r>
          </a:p>
        </p:txBody>
      </p:sp>
      <p:sp>
        <p:nvSpPr>
          <p:cNvPr id="70" name="TextBox 15"/>
          <p:cNvSpPr txBox="1">
            <a:spLocks noChangeArrowheads="1"/>
          </p:cNvSpPr>
          <p:nvPr/>
        </p:nvSpPr>
        <p:spPr bwMode="auto">
          <a:xfrm>
            <a:off x="6971985" y="5675543"/>
            <a:ext cx="12346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Gage variance</a:t>
            </a:r>
          </a:p>
        </p:txBody>
      </p:sp>
      <p:cxnSp>
        <p:nvCxnSpPr>
          <p:cNvPr id="71" name="직선 연결선 17"/>
          <p:cNvCxnSpPr>
            <a:cxnSpLocks noChangeShapeType="1"/>
          </p:cNvCxnSpPr>
          <p:nvPr/>
        </p:nvCxnSpPr>
        <p:spPr bwMode="auto">
          <a:xfrm>
            <a:off x="6757707" y="5693065"/>
            <a:ext cx="1702891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" name="TextBox 3"/>
          <p:cNvSpPr txBox="1">
            <a:spLocks noChangeArrowheads="1"/>
          </p:cNvSpPr>
          <p:nvPr/>
        </p:nvSpPr>
        <p:spPr bwMode="auto">
          <a:xfrm>
            <a:off x="6014916" y="5493764"/>
            <a:ext cx="777777" cy="372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C5003D"/>
              </a:buClr>
            </a:pPr>
            <a:r>
              <a:rPr lang="en-US" altLang="ko-KR" sz="1400" b="1">
                <a:latin typeface="Arial" pitchFamily="34" charset="0"/>
                <a:ea typeface="맑은 고딕" pitchFamily="50" charset="-127"/>
                <a:cs typeface="Arial" pitchFamily="34" charset="0"/>
              </a:rPr>
              <a:t>NDC = </a:t>
            </a:r>
            <a:endParaRPr lang="ko-KR" altLang="en-US" sz="1400" b="1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3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9166225" y="6475413"/>
            <a:ext cx="654050" cy="365125"/>
          </a:xfrm>
        </p:spPr>
        <p:txBody>
          <a:bodyPr/>
          <a:lstStyle/>
          <a:p>
            <a:pPr>
              <a:defRPr/>
            </a:pPr>
            <a:fld id="{336E293E-7793-468B-AB4C-49C46432963A}" type="slidenum">
              <a:rPr lang="ko-KR" altLang="en-US" smtClean="0">
                <a:latin typeface="Arial" pitchFamily="34" charset="0"/>
                <a:cs typeface="Arial" pitchFamily="34" charset="0"/>
              </a:rPr>
              <a:pPr>
                <a:defRPr/>
              </a:pPr>
              <a:t>9</a:t>
            </a:fld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31859" y="2821039"/>
            <a:ext cx="3254447" cy="5421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bố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endParaRPr lang="en-US" sz="8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con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process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0.35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31858" y="835497"/>
            <a:ext cx="3254447" cy="5421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chia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vởi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gage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endParaRPr lang="en-US" sz="8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680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9166225" y="6475413"/>
            <a:ext cx="654050" cy="365125"/>
          </a:xfrm>
        </p:spPr>
        <p:txBody>
          <a:bodyPr/>
          <a:lstStyle/>
          <a:p>
            <a:pPr>
              <a:defRPr/>
            </a:pPr>
            <a:fld id="{336E293E-7793-468B-AB4C-49C46432963A}" type="slidenum">
              <a:rPr lang="ko-KR" altLang="en-US" smtClean="0">
                <a:latin typeface="Arial" pitchFamily="34" charset="0"/>
                <a:cs typeface="Arial" pitchFamily="34" charset="0"/>
              </a:rPr>
              <a:pPr>
                <a:defRPr/>
              </a:pPr>
              <a:t>10</a:t>
            </a:fld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19201" y="2690948"/>
            <a:ext cx="71689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gage R&amp;R?</a:t>
            </a:r>
          </a:p>
          <a:p>
            <a:pPr algn="ctr"/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lường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99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9166225" y="6475413"/>
            <a:ext cx="654050" cy="365125"/>
          </a:xfrm>
        </p:spPr>
        <p:txBody>
          <a:bodyPr/>
          <a:lstStyle/>
          <a:p>
            <a:pPr>
              <a:defRPr/>
            </a:pPr>
            <a:fld id="{336E293E-7793-468B-AB4C-49C46432963A}" type="slidenum">
              <a:rPr lang="ko-KR" altLang="en-US" smtClean="0">
                <a:latin typeface="Arial" pitchFamily="34" charset="0"/>
                <a:cs typeface="Arial" pitchFamily="34" charset="0"/>
              </a:rPr>
              <a:pPr>
                <a:defRPr/>
              </a:pPr>
              <a:t>11</a:t>
            </a:fld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Rectangle 19"/>
          <p:cNvSpPr>
            <a:spLocks noChangeArrowheads="1"/>
          </p:cNvSpPr>
          <p:nvPr/>
        </p:nvSpPr>
        <p:spPr bwMode="auto">
          <a:xfrm>
            <a:off x="1065212" y="1400175"/>
            <a:ext cx="15113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Lựa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chọn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dụng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cụ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và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đối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tượng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lường</a:t>
            </a:r>
            <a:endParaRPr lang="ko-KR" altLang="en-US" sz="10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5" name="Rectangle 20"/>
          <p:cNvSpPr>
            <a:spLocks noChangeArrowheads="1"/>
          </p:cNvSpPr>
          <p:nvPr/>
        </p:nvSpPr>
        <p:spPr bwMode="auto">
          <a:xfrm>
            <a:off x="333811" y="1368425"/>
            <a:ext cx="730970" cy="27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2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Bước</a:t>
            </a: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1</a:t>
            </a:r>
          </a:p>
        </p:txBody>
      </p:sp>
      <p:sp>
        <p:nvSpPr>
          <p:cNvPr id="36" name="Rectangle 21"/>
          <p:cNvSpPr>
            <a:spLocks noChangeArrowheads="1"/>
          </p:cNvSpPr>
          <p:nvPr/>
        </p:nvSpPr>
        <p:spPr bwMode="auto">
          <a:xfrm>
            <a:off x="2944722" y="1283494"/>
            <a:ext cx="6548528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7313" indent="-8731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Kiểm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dụng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cụ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/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đối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tượng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để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đảm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bảo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tính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chính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xác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. </a:t>
            </a:r>
          </a:p>
          <a:p>
            <a:pPr marL="87313" indent="-8731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Tiêu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chuẩn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dụng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cụ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: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nhỏ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hơn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spec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của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sản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phẩm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và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dưới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5%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mức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độ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phân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bổ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quá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trình</a:t>
            </a:r>
            <a:endParaRPr lang="en-US" altLang="ko-KR" sz="900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eaLnBrk="1" latinLnBrk="0" hangingPunct="1">
              <a:lnSpc>
                <a:spcPct val="150000"/>
              </a:lnSpc>
              <a:defRPr/>
            </a:pP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Hiểu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ở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đây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chính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là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tính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% resolution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của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thiết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bị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từ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đó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đưa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ra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khuyến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cáo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về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sử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dụng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thiết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bị</a:t>
            </a:r>
            <a:endParaRPr lang="en-US" altLang="ko-KR" sz="900" b="1" dirty="0">
              <a:solidFill>
                <a:schemeClr val="accent1">
                  <a:lumMod val="50000"/>
                </a:schemeClr>
              </a:solidFill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7" name="모서리가 둥근 직사각형 52"/>
          <p:cNvSpPr/>
          <p:nvPr/>
        </p:nvSpPr>
        <p:spPr>
          <a:xfrm>
            <a:off x="344488" y="854075"/>
            <a:ext cx="2376487" cy="28733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Trình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tự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tiến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hành</a:t>
            </a:r>
            <a:endParaRPr lang="ko-KR" altLang="en-US" sz="14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9" name="모서리가 둥근 직사각형 53"/>
          <p:cNvSpPr/>
          <p:nvPr/>
        </p:nvSpPr>
        <p:spPr>
          <a:xfrm>
            <a:off x="2865438" y="854075"/>
            <a:ext cx="6862036" cy="28733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Lưu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ý</a:t>
            </a:r>
            <a:endParaRPr lang="ko-KR" altLang="en-US" sz="14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1" name="오각형 55"/>
          <p:cNvSpPr/>
          <p:nvPr/>
        </p:nvSpPr>
        <p:spPr>
          <a:xfrm rot="5400000">
            <a:off x="1497013" y="925513"/>
            <a:ext cx="647700" cy="1511300"/>
          </a:xfrm>
          <a:prstGeom prst="homePlate">
            <a:avLst>
              <a:gd name="adj" fmla="val 29420"/>
            </a:avLst>
          </a:prstGeom>
          <a:noFill/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75" name="Rectangle 19"/>
          <p:cNvSpPr>
            <a:spLocks noChangeArrowheads="1"/>
          </p:cNvSpPr>
          <p:nvPr/>
        </p:nvSpPr>
        <p:spPr bwMode="auto">
          <a:xfrm>
            <a:off x="1065212" y="2324100"/>
            <a:ext cx="15113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Chọn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mẫu</a:t>
            </a:r>
            <a:b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</a:b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và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người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endParaRPr lang="ko-KR" altLang="en-US" sz="10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76" name="Rectangle 20"/>
          <p:cNvSpPr>
            <a:spLocks noChangeArrowheads="1"/>
          </p:cNvSpPr>
          <p:nvPr/>
        </p:nvSpPr>
        <p:spPr bwMode="auto">
          <a:xfrm>
            <a:off x="333811" y="2174875"/>
            <a:ext cx="730970" cy="27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2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Bước</a:t>
            </a: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2</a:t>
            </a:r>
          </a:p>
        </p:txBody>
      </p:sp>
      <p:sp>
        <p:nvSpPr>
          <p:cNvPr id="77" name="오각형 18"/>
          <p:cNvSpPr/>
          <p:nvPr/>
        </p:nvSpPr>
        <p:spPr>
          <a:xfrm rot="5400000">
            <a:off x="1335088" y="1893888"/>
            <a:ext cx="971550" cy="1511300"/>
          </a:xfrm>
          <a:prstGeom prst="homePlate">
            <a:avLst>
              <a:gd name="adj" fmla="val 29420"/>
            </a:avLst>
          </a:prstGeom>
          <a:noFill/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79" name="Rectangle 19"/>
          <p:cNvSpPr>
            <a:spLocks noChangeArrowheads="1"/>
          </p:cNvSpPr>
          <p:nvPr/>
        </p:nvSpPr>
        <p:spPr bwMode="auto">
          <a:xfrm>
            <a:off x="1231900" y="3429256"/>
            <a:ext cx="1160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Tiến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hành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lường</a:t>
            </a:r>
            <a:endParaRPr lang="ko-KR" altLang="en-US" sz="10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0" name="Rectangle 20"/>
          <p:cNvSpPr>
            <a:spLocks noChangeArrowheads="1"/>
          </p:cNvSpPr>
          <p:nvPr/>
        </p:nvSpPr>
        <p:spPr bwMode="auto">
          <a:xfrm>
            <a:off x="333811" y="3246438"/>
            <a:ext cx="730970" cy="27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2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Bước</a:t>
            </a: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3</a:t>
            </a:r>
          </a:p>
        </p:txBody>
      </p:sp>
      <p:sp>
        <p:nvSpPr>
          <p:cNvPr id="81" name="오각형 24"/>
          <p:cNvSpPr/>
          <p:nvPr/>
        </p:nvSpPr>
        <p:spPr>
          <a:xfrm rot="5400000">
            <a:off x="1319213" y="2981325"/>
            <a:ext cx="1003300" cy="1511300"/>
          </a:xfrm>
          <a:prstGeom prst="homePlate">
            <a:avLst>
              <a:gd name="adj" fmla="val 29420"/>
            </a:avLst>
          </a:prstGeom>
          <a:noFill/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3" name="Rectangle 19"/>
          <p:cNvSpPr>
            <a:spLocks noChangeArrowheads="1"/>
          </p:cNvSpPr>
          <p:nvPr/>
        </p:nvSpPr>
        <p:spPr bwMode="auto">
          <a:xfrm>
            <a:off x="1065212" y="4454525"/>
            <a:ext cx="1511301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Phân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tích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kết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quả</a:t>
            </a:r>
            <a:endParaRPr lang="en-US" altLang="ko-KR" sz="10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algn="ctr" eaLnBrk="1" latinLnBrk="0" hangingPunct="1">
              <a:defRPr/>
            </a:pP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(Gage R&amp;R)</a:t>
            </a:r>
            <a:endParaRPr lang="ko-KR" altLang="en-US" sz="10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4" name="Rectangle 20"/>
          <p:cNvSpPr>
            <a:spLocks noChangeArrowheads="1"/>
          </p:cNvSpPr>
          <p:nvPr/>
        </p:nvSpPr>
        <p:spPr bwMode="auto">
          <a:xfrm>
            <a:off x="333811" y="4375150"/>
            <a:ext cx="730970" cy="27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2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Bước</a:t>
            </a: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4</a:t>
            </a:r>
          </a:p>
        </p:txBody>
      </p:sp>
      <p:sp>
        <p:nvSpPr>
          <p:cNvPr id="85" name="오각형 30"/>
          <p:cNvSpPr/>
          <p:nvPr/>
        </p:nvSpPr>
        <p:spPr>
          <a:xfrm rot="5400000">
            <a:off x="1275556" y="4088607"/>
            <a:ext cx="1090613" cy="1511300"/>
          </a:xfrm>
          <a:prstGeom prst="homePlate">
            <a:avLst>
              <a:gd name="adj" fmla="val 29420"/>
            </a:avLst>
          </a:prstGeom>
          <a:noFill/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7" name="Rectangle 19"/>
          <p:cNvSpPr>
            <a:spLocks noChangeArrowheads="1"/>
          </p:cNvSpPr>
          <p:nvPr/>
        </p:nvSpPr>
        <p:spPr bwMode="auto">
          <a:xfrm>
            <a:off x="1231900" y="5688013"/>
            <a:ext cx="1160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Hoạt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động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cải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tiến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và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xác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nhận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lại</a:t>
            </a:r>
            <a:endParaRPr lang="ko-KR" altLang="en-US" sz="10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8" name="Rectangle 20"/>
          <p:cNvSpPr>
            <a:spLocks noChangeArrowheads="1"/>
          </p:cNvSpPr>
          <p:nvPr/>
        </p:nvSpPr>
        <p:spPr bwMode="auto">
          <a:xfrm>
            <a:off x="333811" y="5527675"/>
            <a:ext cx="730970" cy="27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2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Bước</a:t>
            </a: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5</a:t>
            </a:r>
          </a:p>
        </p:txBody>
      </p:sp>
      <p:sp>
        <p:nvSpPr>
          <p:cNvPr id="89" name="오각형 36"/>
          <p:cNvSpPr/>
          <p:nvPr/>
        </p:nvSpPr>
        <p:spPr>
          <a:xfrm rot="5400000">
            <a:off x="1367632" y="5214144"/>
            <a:ext cx="906462" cy="1511300"/>
          </a:xfrm>
          <a:prstGeom prst="homePlate">
            <a:avLst>
              <a:gd name="adj" fmla="val 29420"/>
            </a:avLst>
          </a:prstGeom>
          <a:noFill/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1" name="Rectangle 21"/>
          <p:cNvSpPr>
            <a:spLocks noChangeArrowheads="1"/>
          </p:cNvSpPr>
          <p:nvPr/>
        </p:nvSpPr>
        <p:spPr bwMode="auto">
          <a:xfrm>
            <a:off x="2944722" y="2243138"/>
            <a:ext cx="5441632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Mẫu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: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lựa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chọn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từ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các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khoảng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tương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đương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từ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cùng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1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vùng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bao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gồm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phân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bổ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quá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trình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hoặc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toàn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bộ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phạm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vi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của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đăc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điểm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lường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. </a:t>
            </a:r>
          </a:p>
          <a:p>
            <a:pPr marL="171450" indent="-17145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Cần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có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ít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nhất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hai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người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là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chuyên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gia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hoặc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cá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nhân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chịu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trách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nhiệm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lường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.</a:t>
            </a:r>
          </a:p>
        </p:txBody>
      </p:sp>
      <p:sp>
        <p:nvSpPr>
          <p:cNvPr id="92" name="Rectangle 21"/>
          <p:cNvSpPr>
            <a:spLocks noChangeArrowheads="1"/>
          </p:cNvSpPr>
          <p:nvPr/>
        </p:nvSpPr>
        <p:spPr bwMode="auto">
          <a:xfrm>
            <a:off x="2865438" y="3429256"/>
            <a:ext cx="6548528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7313" indent="-87313" eaLnBrk="1" latinLnBrk="0" hangingPunct="1">
              <a:buFont typeface="Arial" panose="020B0604020202020204" pitchFamily="34" charset="0"/>
              <a:buChar char="•"/>
              <a:defRPr/>
            </a:pPr>
            <a:r>
              <a:rPr lang="en-US" altLang="ko-KR" sz="900" dirty="0" err="1">
                <a:solidFill>
                  <a:srgbClr val="FF0000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Thử</a:t>
            </a:r>
            <a:r>
              <a:rPr lang="en-US" altLang="ko-KR" sz="900" dirty="0">
                <a:solidFill>
                  <a:srgbClr val="FF0000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solidFill>
                  <a:srgbClr val="FF0000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nghiệm</a:t>
            </a:r>
            <a:r>
              <a:rPr lang="en-US" altLang="ko-KR" sz="900" dirty="0">
                <a:solidFill>
                  <a:srgbClr val="FF0000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solidFill>
                  <a:srgbClr val="FF0000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ngẫu</a:t>
            </a:r>
            <a:r>
              <a:rPr lang="en-US" altLang="ko-KR" sz="900" dirty="0">
                <a:solidFill>
                  <a:srgbClr val="FF0000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solidFill>
                  <a:srgbClr val="FF0000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nhiên</a:t>
            </a:r>
            <a:r>
              <a:rPr lang="en-US" altLang="ko-KR" sz="900" dirty="0">
                <a:solidFill>
                  <a:srgbClr val="FF0000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: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Việc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lựa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chọn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mẫu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lường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thứ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tự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lường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được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tiến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hành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ngẫu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nhiên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. </a:t>
            </a:r>
          </a:p>
          <a:p>
            <a:pPr marL="87313" indent="-87313" eaLnBrk="1" latinLnBrk="0" hangingPunct="1"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solidFill>
                  <a:srgbClr val="FF0000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Blind Test :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Người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không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được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biết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bất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cứ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thông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tin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gì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liên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quan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đến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mẫu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. </a:t>
            </a:r>
          </a:p>
        </p:txBody>
      </p:sp>
      <p:sp>
        <p:nvSpPr>
          <p:cNvPr id="93" name="Rectangle 21"/>
          <p:cNvSpPr>
            <a:spLocks noChangeArrowheads="1"/>
          </p:cNvSpPr>
          <p:nvPr/>
        </p:nvSpPr>
        <p:spPr bwMode="auto">
          <a:xfrm>
            <a:off x="2865438" y="4283997"/>
            <a:ext cx="6548528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7313" indent="-8731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Xác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định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ý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nghĩa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của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các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hạng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mục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lường</a:t>
            </a:r>
            <a:endParaRPr lang="en-US" altLang="ko-KR" sz="900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eaLnBrk="1" latinLnBrk="0" hangingPunct="1">
              <a:lnSpc>
                <a:spcPct val="150000"/>
              </a:lnSpc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Sử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dụng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giá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trị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P (P-value). P-value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cần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nhỏ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hơn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0.05</a:t>
            </a:r>
          </a:p>
          <a:p>
            <a:pPr eaLnBrk="1" latinLnBrk="0" hangingPunct="1">
              <a:lnSpc>
                <a:spcPct val="150000"/>
              </a:lnSpc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Kiểm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tỉ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lệ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phương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sai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của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phương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sai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Gage   %Study Var., %Process, %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Tol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cần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trong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khoảng10%</a:t>
            </a:r>
          </a:p>
          <a:p>
            <a:pPr marL="87313" indent="-8731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Số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hạng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mục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phân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loại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: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ít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nhất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là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5 (NDC)</a:t>
            </a:r>
          </a:p>
        </p:txBody>
      </p:sp>
      <p:sp>
        <p:nvSpPr>
          <p:cNvPr id="97" name="Rectangle 21"/>
          <p:cNvSpPr>
            <a:spLocks noChangeArrowheads="1"/>
          </p:cNvSpPr>
          <p:nvPr/>
        </p:nvSpPr>
        <p:spPr bwMode="auto">
          <a:xfrm>
            <a:off x="2865438" y="5530381"/>
            <a:ext cx="5198699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7313" indent="-8731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Sau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khi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xác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nhận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lại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,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tiến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hành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phân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tích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nguyên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nhân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cốt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lõi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. </a:t>
            </a:r>
          </a:p>
          <a:p>
            <a:pPr marL="87313" indent="-8731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Lên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kế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hoạch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hợp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lý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và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thực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hiện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các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hoạt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động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cải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tiến</a:t>
            </a:r>
            <a:endParaRPr lang="en-US" altLang="ko-KR" sz="900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marL="87313" indent="-8731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Áp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dụng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việc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cải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tiến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và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tiến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hành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xác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nhận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lại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. </a:t>
            </a:r>
          </a:p>
        </p:txBody>
      </p:sp>
      <p:sp>
        <p:nvSpPr>
          <p:cNvPr id="99" name="제목 8"/>
          <p:cNvSpPr txBox="1">
            <a:spLocks/>
          </p:cNvSpPr>
          <p:nvPr/>
        </p:nvSpPr>
        <p:spPr bwMode="auto">
          <a:xfrm>
            <a:off x="195263" y="188913"/>
            <a:ext cx="8027558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tự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tiến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hành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và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Diễn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giải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kết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quả</a:t>
            </a:r>
            <a:endParaRPr lang="ko-KR" altLang="en-US" sz="2000" b="1" kern="0" dirty="0">
              <a:solidFill>
                <a:srgbClr val="000000"/>
              </a:solidFill>
              <a:latin typeface="Arial" pitchFamily="34" charset="0"/>
              <a:ea typeface="맑은 고딕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802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9166225" y="6475413"/>
            <a:ext cx="654050" cy="365125"/>
          </a:xfrm>
        </p:spPr>
        <p:txBody>
          <a:bodyPr/>
          <a:lstStyle/>
          <a:p>
            <a:pPr>
              <a:defRPr/>
            </a:pPr>
            <a:fld id="{336E293E-7793-468B-AB4C-49C46432963A}" type="slidenum">
              <a:rPr lang="ko-KR" altLang="en-US" smtClean="0">
                <a:latin typeface="Arial" pitchFamily="34" charset="0"/>
                <a:cs typeface="Arial" pitchFamily="34" charset="0"/>
              </a:rPr>
              <a:pPr>
                <a:defRPr/>
              </a:pPr>
              <a:t>12</a:t>
            </a:fld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Rectangle 19"/>
          <p:cNvSpPr>
            <a:spLocks noChangeArrowheads="1"/>
          </p:cNvSpPr>
          <p:nvPr/>
        </p:nvSpPr>
        <p:spPr bwMode="auto">
          <a:xfrm>
            <a:off x="1065212" y="1400175"/>
            <a:ext cx="15113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Lựa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chọn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dụng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cụ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và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đối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tượng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lường</a:t>
            </a:r>
            <a:endParaRPr lang="ko-KR" altLang="en-US" sz="10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5" name="Rectangle 20"/>
          <p:cNvSpPr>
            <a:spLocks noChangeArrowheads="1"/>
          </p:cNvSpPr>
          <p:nvPr/>
        </p:nvSpPr>
        <p:spPr bwMode="auto">
          <a:xfrm>
            <a:off x="333811" y="1368425"/>
            <a:ext cx="730970" cy="27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2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Bước</a:t>
            </a: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1</a:t>
            </a:r>
          </a:p>
        </p:txBody>
      </p:sp>
      <p:sp>
        <p:nvSpPr>
          <p:cNvPr id="36" name="Rectangle 21"/>
          <p:cNvSpPr>
            <a:spLocks noChangeArrowheads="1"/>
          </p:cNvSpPr>
          <p:nvPr/>
        </p:nvSpPr>
        <p:spPr bwMode="auto">
          <a:xfrm>
            <a:off x="2944722" y="1283494"/>
            <a:ext cx="6548528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7313" indent="-8731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Kiểm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dụng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cụ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/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đối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tượng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để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đảm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bảo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tính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chính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xác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. </a:t>
            </a:r>
          </a:p>
          <a:p>
            <a:pPr marL="87313" indent="-8731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Tiêu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chuẩn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dụng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cụ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: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nhỏ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hơn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spec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của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sản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phẩm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và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dưới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5%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mức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độ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phân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bổ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quá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trình</a:t>
            </a:r>
            <a:endParaRPr lang="en-US" altLang="ko-KR" sz="900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eaLnBrk="1" latinLnBrk="0" hangingPunct="1">
              <a:lnSpc>
                <a:spcPct val="150000"/>
              </a:lnSpc>
              <a:defRPr/>
            </a:pP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Hiểu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ở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đây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chính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là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tính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% resolution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của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thiết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bị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từ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đó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đưa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ra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khuyến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cáo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về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sử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dụng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thiết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bị</a:t>
            </a:r>
            <a:endParaRPr lang="en-US" altLang="ko-KR" sz="900" b="1" dirty="0">
              <a:solidFill>
                <a:schemeClr val="accent1">
                  <a:lumMod val="50000"/>
                </a:schemeClr>
              </a:solidFill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eaLnBrk="1" latinLnBrk="0" hangingPunct="1">
              <a:lnSpc>
                <a:spcPct val="150000"/>
              </a:lnSpc>
              <a:defRPr/>
            </a:pP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&lt;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Tính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hợp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của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lựa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chọn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thiết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bị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&gt;</a:t>
            </a:r>
          </a:p>
          <a:p>
            <a:pPr eaLnBrk="1" latinLnBrk="0" hangingPunct="1">
              <a:lnSpc>
                <a:spcPct val="150000"/>
              </a:lnSpc>
              <a:defRPr/>
            </a:pP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Không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thể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mang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1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thước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dây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đi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1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màn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b="1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hình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LCD</a:t>
            </a:r>
          </a:p>
        </p:txBody>
      </p:sp>
      <p:sp>
        <p:nvSpPr>
          <p:cNvPr id="37" name="모서리가 둥근 직사각형 52"/>
          <p:cNvSpPr/>
          <p:nvPr/>
        </p:nvSpPr>
        <p:spPr>
          <a:xfrm>
            <a:off x="344488" y="854075"/>
            <a:ext cx="2376487" cy="28733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Trình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tự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tiến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hành</a:t>
            </a:r>
            <a:endParaRPr lang="ko-KR" altLang="en-US" sz="14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9" name="모서리가 둥근 직사각형 53"/>
          <p:cNvSpPr/>
          <p:nvPr/>
        </p:nvSpPr>
        <p:spPr>
          <a:xfrm>
            <a:off x="2865438" y="854075"/>
            <a:ext cx="6862036" cy="28733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Lưu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ý</a:t>
            </a:r>
            <a:endParaRPr lang="ko-KR" altLang="en-US" sz="14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1" name="오각형 55"/>
          <p:cNvSpPr/>
          <p:nvPr/>
        </p:nvSpPr>
        <p:spPr>
          <a:xfrm rot="5400000">
            <a:off x="1497013" y="925513"/>
            <a:ext cx="647700" cy="1511300"/>
          </a:xfrm>
          <a:prstGeom prst="homePlate">
            <a:avLst>
              <a:gd name="adj" fmla="val 29420"/>
            </a:avLst>
          </a:prstGeom>
          <a:noFill/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9" name="제목 8"/>
          <p:cNvSpPr txBox="1">
            <a:spLocks/>
          </p:cNvSpPr>
          <p:nvPr/>
        </p:nvSpPr>
        <p:spPr bwMode="auto">
          <a:xfrm>
            <a:off x="195263" y="188913"/>
            <a:ext cx="8027558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tự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tiến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hành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và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Diễn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giải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kết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quả</a:t>
            </a:r>
            <a:endParaRPr lang="ko-KR" altLang="en-US" sz="2000" b="1" kern="0" dirty="0">
              <a:solidFill>
                <a:srgbClr val="000000"/>
              </a:solidFill>
              <a:latin typeface="Arial" pitchFamily="34" charset="0"/>
              <a:ea typeface="맑은 고딕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1507" y="2411463"/>
            <a:ext cx="73934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Sử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dụng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digital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vernier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có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khả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năng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đo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giá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trị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tối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thiểu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0.01mm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để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đo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sản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phẩm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có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tiêu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chuẩn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50±0.2</a:t>
            </a:r>
            <a:r>
              <a:rPr lang="ko-KR" altLang="en-US" sz="1600" b="1" dirty="0">
                <a:solidFill>
                  <a:schemeClr val="bg1">
                    <a:lumMod val="65000"/>
                  </a:schemeClr>
                </a:solidFill>
              </a:rPr>
              <a:t>㎜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.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Khả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năng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phân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giải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của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dụng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cụ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đo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này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có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thỏa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mãn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những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nội</a:t>
            </a:r>
            <a:endParaRPr lang="en-US" altLang="ko-KR" sz="16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dung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yêu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cầu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hay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không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?</a:t>
            </a:r>
            <a:endParaRPr lang="ko-KR" altLang="en-US" sz="16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1507" y="3677115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/>
              <a:t>Giải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thích</a:t>
            </a:r>
            <a:r>
              <a:rPr lang="ko-KR" altLang="en-US" sz="1600" b="1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791" y="3965147"/>
            <a:ext cx="6179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/>
              <a:t>Độ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phân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giải</a:t>
            </a:r>
            <a:r>
              <a:rPr lang="en-US" altLang="ko-KR" sz="1600" b="1" dirty="0"/>
              <a:t> (</a:t>
            </a:r>
            <a:r>
              <a:rPr lang="en-US" altLang="ko-KR" sz="1600" b="1" dirty="0" err="1"/>
              <a:t>Độ</a:t>
            </a:r>
            <a:r>
              <a:rPr lang="en-US" altLang="ko-KR" sz="1600" b="1" dirty="0"/>
              <a:t> chia </a:t>
            </a:r>
            <a:r>
              <a:rPr lang="en-US" altLang="ko-KR" sz="1600" b="1" dirty="0" err="1"/>
              <a:t>nhỏ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nhất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của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thiết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bị</a:t>
            </a:r>
            <a:r>
              <a:rPr lang="en-US" altLang="ko-KR" sz="1600" b="1" dirty="0"/>
              <a:t>) </a:t>
            </a:r>
            <a:r>
              <a:rPr lang="en-US" altLang="ko-KR" sz="1600" b="1" dirty="0" err="1"/>
              <a:t>của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dụng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cụ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đo</a:t>
            </a:r>
            <a:r>
              <a:rPr lang="ko-KR" altLang="en-US" sz="1600" b="1" dirty="0"/>
              <a:t>    </a:t>
            </a:r>
            <a:r>
              <a:rPr lang="en-US" altLang="ko-KR" sz="1600" b="1" dirty="0"/>
              <a:t>RE = 0.01</a:t>
            </a:r>
            <a:endParaRPr lang="ko-KR" alt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41791" y="4418681"/>
            <a:ext cx="6282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/>
              <a:t>Sai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số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cho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phép</a:t>
            </a:r>
            <a:r>
              <a:rPr lang="ko-KR" altLang="en-US" sz="1600" b="1" dirty="0"/>
              <a:t>                </a:t>
            </a:r>
            <a:r>
              <a:rPr lang="en-US" altLang="ko-KR" sz="1600" b="1" dirty="0"/>
              <a:t>T = USL – LSL  = 50.2 – 49.8 = 0.4</a:t>
            </a:r>
            <a:endParaRPr lang="ko-KR" alt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941791" y="4852807"/>
            <a:ext cx="59105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/>
              <a:t>Tính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năng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phân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giải</a:t>
            </a:r>
            <a:r>
              <a:rPr lang="ko-KR" altLang="en-US" sz="1600" b="1" dirty="0"/>
              <a:t>       </a:t>
            </a:r>
            <a:r>
              <a:rPr lang="en-US" altLang="ko-KR" sz="1600" b="1" dirty="0"/>
              <a:t>%RE =</a:t>
            </a:r>
            <a:r>
              <a:rPr lang="ko-KR" altLang="en-US" sz="1600" b="1" dirty="0"/>
              <a:t>  </a:t>
            </a:r>
            <a:r>
              <a:rPr lang="en-US" altLang="ko-KR" sz="1600" b="1" dirty="0"/>
              <a:t>0.01 / 0.4 x 100 = 2.5 % </a:t>
            </a:r>
            <a:endParaRPr lang="ko-KR" alt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1026689" y="5337076"/>
            <a:ext cx="690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Tiêu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chuẩn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đủ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điều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kiện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lang="ko-KR" altLang="en-US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với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ISO 22514-7, GM, Bosch, </a:t>
            </a:r>
            <a:r>
              <a:rPr lang="en-US" altLang="ko-KR" sz="1600" b="1" dirty="0"/>
              <a:t>VDA </a:t>
            </a:r>
            <a:r>
              <a:rPr lang="en-US" altLang="ko-KR" sz="1600" b="1" dirty="0" err="1"/>
              <a:t>dưới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5%</a:t>
            </a:r>
            <a:r>
              <a:rPr lang="ko-KR" altLang="en-US" sz="1600" b="1" dirty="0"/>
              <a:t> </a:t>
            </a:r>
            <a:endParaRPr lang="en-US" altLang="ko-KR" sz="1600" b="1" dirty="0"/>
          </a:p>
          <a:p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Với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MSA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của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AIAG(2010)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dưới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10%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thỏa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mãn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độ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phân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giải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của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hệ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thống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đo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b="1" dirty="0" err="1">
                <a:solidFill>
                  <a:schemeClr val="bg1">
                    <a:lumMod val="65000"/>
                  </a:schemeClr>
                </a:solidFill>
              </a:rPr>
              <a:t>đạc</a:t>
            </a:r>
            <a:endParaRPr lang="ko-KR" altLang="en-US" sz="1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637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9166225" y="6475413"/>
            <a:ext cx="654050" cy="365125"/>
          </a:xfrm>
        </p:spPr>
        <p:txBody>
          <a:bodyPr/>
          <a:lstStyle/>
          <a:p>
            <a:pPr>
              <a:defRPr/>
            </a:pPr>
            <a:fld id="{336E293E-7793-468B-AB4C-49C46432963A}" type="slidenum">
              <a:rPr lang="ko-KR" altLang="en-US" smtClean="0">
                <a:latin typeface="Arial" pitchFamily="34" charset="0"/>
                <a:cs typeface="Arial" pitchFamily="34" charset="0"/>
              </a:rPr>
              <a:pPr>
                <a:defRPr/>
              </a:pPr>
              <a:t>13</a:t>
            </a:fld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모서리가 둥근 직사각형 52"/>
          <p:cNvSpPr/>
          <p:nvPr/>
        </p:nvSpPr>
        <p:spPr>
          <a:xfrm>
            <a:off x="344488" y="854075"/>
            <a:ext cx="2376487" cy="28733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Trình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tự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tiến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hành</a:t>
            </a:r>
            <a:endParaRPr lang="ko-KR" altLang="en-US" sz="14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9" name="모서리가 둥근 직사각형 53"/>
          <p:cNvSpPr/>
          <p:nvPr/>
        </p:nvSpPr>
        <p:spPr>
          <a:xfrm>
            <a:off x="2865438" y="854075"/>
            <a:ext cx="6862036" cy="28733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Lưu</a:t>
            </a:r>
            <a:r>
              <a:rPr lang="en-US" altLang="ko-KR" sz="14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ý</a:t>
            </a:r>
            <a:endParaRPr lang="ko-KR" altLang="en-US" sz="14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3" name="Rectangle 19"/>
          <p:cNvSpPr>
            <a:spLocks noChangeArrowheads="1"/>
          </p:cNvSpPr>
          <p:nvPr/>
        </p:nvSpPr>
        <p:spPr bwMode="auto">
          <a:xfrm>
            <a:off x="1065212" y="1415234"/>
            <a:ext cx="1511301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Phân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tích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kết</a:t>
            </a: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quả</a:t>
            </a:r>
            <a:endParaRPr lang="en-US" altLang="ko-KR" sz="10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algn="ctr" eaLnBrk="1" latinLnBrk="0" hangingPunct="1">
              <a:defRPr/>
            </a:pPr>
            <a:r>
              <a:rPr lang="en-US" altLang="ko-KR" sz="10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(Gage R&amp;R)</a:t>
            </a:r>
            <a:endParaRPr lang="ko-KR" altLang="en-US" sz="1000" b="1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4" name="Rectangle 20"/>
          <p:cNvSpPr>
            <a:spLocks noChangeArrowheads="1"/>
          </p:cNvSpPr>
          <p:nvPr/>
        </p:nvSpPr>
        <p:spPr bwMode="auto">
          <a:xfrm>
            <a:off x="333811" y="1335859"/>
            <a:ext cx="730970" cy="27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200" b="1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Bước</a:t>
            </a:r>
            <a:r>
              <a:rPr lang="en-US" altLang="ko-KR" sz="1200" b="1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4</a:t>
            </a:r>
          </a:p>
        </p:txBody>
      </p:sp>
      <p:sp>
        <p:nvSpPr>
          <p:cNvPr id="85" name="오각형 30"/>
          <p:cNvSpPr/>
          <p:nvPr/>
        </p:nvSpPr>
        <p:spPr>
          <a:xfrm rot="5400000">
            <a:off x="1275556" y="1049316"/>
            <a:ext cx="1090613" cy="1511300"/>
          </a:xfrm>
          <a:prstGeom prst="homePlate">
            <a:avLst>
              <a:gd name="adj" fmla="val 29420"/>
            </a:avLst>
          </a:prstGeom>
          <a:noFill/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3" name="Rectangle 21"/>
          <p:cNvSpPr>
            <a:spLocks noChangeArrowheads="1"/>
          </p:cNvSpPr>
          <p:nvPr/>
        </p:nvSpPr>
        <p:spPr bwMode="auto">
          <a:xfrm>
            <a:off x="2865438" y="1244706"/>
            <a:ext cx="6548528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7313" indent="-8731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Xác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định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ý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nghĩa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của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các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hạng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mục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đo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lường</a:t>
            </a:r>
            <a:endParaRPr lang="en-US" altLang="ko-KR" sz="900" dirty="0">
              <a:latin typeface="Arial" pitchFamily="34" charset="0"/>
              <a:ea typeface="맑은 고딕" panose="020B0503020000020004" pitchFamily="50" charset="-127"/>
              <a:cs typeface="Arial" pitchFamily="34" charset="0"/>
            </a:endParaRPr>
          </a:p>
          <a:p>
            <a:pPr eaLnBrk="1" latinLnBrk="0" hangingPunct="1">
              <a:lnSpc>
                <a:spcPct val="150000"/>
              </a:lnSpc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Sử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dụng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giá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trị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P (P-value). P-value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cần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nhỏ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hơn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0.05</a:t>
            </a:r>
          </a:p>
          <a:p>
            <a:pPr eaLnBrk="1" latinLnBrk="0" hangingPunct="1">
              <a:lnSpc>
                <a:spcPct val="150000"/>
              </a:lnSpc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Kiểm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tỉ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lệ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phương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sai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của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phương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sai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Gage   %Study Var., %Process, %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Tol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cần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trong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khoảng10%</a:t>
            </a:r>
          </a:p>
          <a:p>
            <a:pPr marL="87313" indent="-87313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Số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hạng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mục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phân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loại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: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ít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nhất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en-US" altLang="ko-KR" sz="900" dirty="0" err="1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là</a:t>
            </a:r>
            <a:r>
              <a:rPr lang="en-US" altLang="ko-KR" sz="900" dirty="0">
                <a:latin typeface="Arial" pitchFamily="34" charset="0"/>
                <a:ea typeface="맑은 고딕" panose="020B0503020000020004" pitchFamily="50" charset="-127"/>
                <a:cs typeface="Arial" pitchFamily="34" charset="0"/>
              </a:rPr>
              <a:t> 5 (NDC)</a:t>
            </a:r>
          </a:p>
        </p:txBody>
      </p:sp>
      <p:sp>
        <p:nvSpPr>
          <p:cNvPr id="99" name="제목 8"/>
          <p:cNvSpPr txBox="1">
            <a:spLocks/>
          </p:cNvSpPr>
          <p:nvPr/>
        </p:nvSpPr>
        <p:spPr bwMode="auto">
          <a:xfrm>
            <a:off x="195263" y="188913"/>
            <a:ext cx="8027558" cy="488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tự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tiến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hành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và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Diễn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giải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kết</a:t>
            </a:r>
            <a:r>
              <a:rPr kumimoji="0" lang="en-US" altLang="ko-KR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quả</a:t>
            </a:r>
            <a:endParaRPr lang="ko-KR" altLang="en-US" sz="2000" b="1" kern="0" dirty="0">
              <a:solidFill>
                <a:srgbClr val="000000"/>
              </a:solidFill>
              <a:latin typeface="Arial" pitchFamily="34" charset="0"/>
              <a:ea typeface="맑은 고딕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1122" y="2693277"/>
            <a:ext cx="8917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Type 1 Study </a:t>
            </a:r>
            <a:r>
              <a:rPr lang="vi-VN" sz="1200" dirty="0">
                <a:latin typeface="Arial" panose="020B0604020202020204" pitchFamily="34" charset="0"/>
                <a:cs typeface="Arial" panose="020B0604020202020204" pitchFamily="34" charset="0"/>
              </a:rPr>
              <a:t>là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vi-VN" sz="1200" dirty="0">
                <a:latin typeface="Arial" panose="020B0604020202020204" pitchFamily="34" charset="0"/>
                <a:cs typeface="Arial" panose="020B0604020202020204" pitchFamily="34" charset="0"/>
              </a:rPr>
              <a:t> phân tích để đánh giá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lặp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lệch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bias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thân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200" dirty="0">
                <a:latin typeface="Arial" panose="020B0604020202020204" pitchFamily="34" charset="0"/>
                <a:cs typeface="Arial" panose="020B0604020202020204" pitchFamily="34" charset="0"/>
              </a:rPr>
              <a:t>khả năng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linh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(LSL,USL) hay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682" y="3291569"/>
            <a:ext cx="9592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Type 2 Study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Gage R&amp;R.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tỉ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mỉ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lặp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tán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(repeatability)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thân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tái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(reproducibility)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tán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1122" y="3850237"/>
            <a:ext cx="9365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Type 3 Study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Gage R&amp;R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tái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tồn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lặp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3682" y="4890966"/>
            <a:ext cx="9635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4 Study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phạm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phạm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lệch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Bias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Đây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AIAG.  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1122" y="5414016"/>
            <a:ext cx="9438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5 Study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ổn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ổn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gian.Trường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nói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rằng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thiếu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ổn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301122" y="3291569"/>
            <a:ext cx="9295724" cy="120499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78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48570"/>
            <a:ext cx="18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Type 1 Study 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3211" y="727503"/>
            <a:ext cx="9697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Type 1 Study </a:t>
            </a:r>
            <a:r>
              <a:rPr lang="vi-VN" sz="1600" dirty="0">
                <a:latin typeface="Arial" panose="020B0604020202020204" pitchFamily="34" charset="0"/>
                <a:cs typeface="Arial" panose="020B0604020202020204" pitchFamily="34" charset="0"/>
              </a:rPr>
              <a:t>là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vi-VN" sz="1600" dirty="0">
                <a:latin typeface="Arial" panose="020B0604020202020204" pitchFamily="34" charset="0"/>
                <a:cs typeface="Arial" panose="020B0604020202020204" pitchFamily="34" charset="0"/>
              </a:rPr>
              <a:t> phân tích để đánh giá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lặp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lệch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bias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thân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600" dirty="0">
                <a:latin typeface="Arial" panose="020B0604020202020204" pitchFamily="34" charset="0"/>
                <a:cs typeface="Arial" panose="020B0604020202020204" pitchFamily="34" charset="0"/>
              </a:rPr>
              <a:t>khả năng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đạc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(LSL,USL) hay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211" y="1441833"/>
            <a:ext cx="9481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30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lặp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1 sample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phận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920426"/>
              </p:ext>
            </p:extLst>
          </p:nvPr>
        </p:nvGraphicFramePr>
        <p:xfrm>
          <a:off x="1079717" y="2753112"/>
          <a:ext cx="7848872" cy="3323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8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Trình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</a:rPr>
                        <a:t>tự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GM, Bosch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VDA 5, Q-DAS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AIAG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err="1">
                          <a:solidFill>
                            <a:schemeClr val="tx1"/>
                          </a:solidFill>
                        </a:rPr>
                        <a:t>Số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</a:rPr>
                        <a:t>vòng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</a:rPr>
                        <a:t>lặp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</a:rPr>
                        <a:t>lại</a:t>
                      </a:r>
                      <a:endParaRPr lang="en-US" altLang="ko-KR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50lần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tối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</a:rPr>
                        <a:t>thiểu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30lần) GM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25lần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(Bosch)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Trên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25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lần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VDA 5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50lần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tối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</a:rPr>
                        <a:t>thiểu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20lần) Q-DAS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Trên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</a:rPr>
                        <a:t>lần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11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Chỉ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tiêu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</a:rPr>
                        <a:t>năng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</a:rPr>
                        <a:t>lực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</a:rPr>
                        <a:t>đo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</a:rPr>
                        <a:t>đạc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Tiêu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</a:rPr>
                        <a:t>chuẩn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</a:rPr>
                        <a:t>đạt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Cg,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Cgk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1.33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Cg,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Cgk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</a:rPr>
                        <a:t>≥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1.33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%EV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≤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30% 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Accept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H0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960037" y="2321064"/>
            <a:ext cx="2069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Type 1 Study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tóm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tắt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개체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00955"/>
              </p:ext>
            </p:extLst>
          </p:nvPr>
        </p:nvGraphicFramePr>
        <p:xfrm>
          <a:off x="2231846" y="4337288"/>
          <a:ext cx="1525588" cy="41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2" imgW="1447172" imgH="406224" progId="Equation.3">
                  <p:embed/>
                </p:oleObj>
              </mc:Choice>
              <mc:Fallback>
                <p:oleObj name="수식" r:id="rId2" imgW="1447172" imgH="406224" progId="Equation.3">
                  <p:embed/>
                  <p:pic>
                    <p:nvPicPr>
                      <p:cNvPr id="9" name="개체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1846" y="4337288"/>
                        <a:ext cx="1525588" cy="41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305844"/>
              </p:ext>
            </p:extLst>
          </p:nvPr>
        </p:nvGraphicFramePr>
        <p:xfrm>
          <a:off x="4392085" y="4766338"/>
          <a:ext cx="2088233" cy="483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4" imgW="2145960" imgH="444240" progId="Equation.3">
                  <p:embed/>
                </p:oleObj>
              </mc:Choice>
              <mc:Fallback>
                <p:oleObj name="수식" r:id="rId4" imgW="2145960" imgH="444240" progId="Equation.3">
                  <p:embed/>
                  <p:pic>
                    <p:nvPicPr>
                      <p:cNvPr id="10" name="개체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085" y="4766338"/>
                        <a:ext cx="2088233" cy="4836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422302"/>
              </p:ext>
            </p:extLst>
          </p:nvPr>
        </p:nvGraphicFramePr>
        <p:xfrm>
          <a:off x="4464093" y="4265280"/>
          <a:ext cx="1525588" cy="440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6" imgW="1447560" imgH="406080" progId="Equation.3">
                  <p:embed/>
                </p:oleObj>
              </mc:Choice>
              <mc:Fallback>
                <p:oleObj name="수식" r:id="rId6" imgW="1447560" imgH="406080" progId="Equation.3">
                  <p:embed/>
                  <p:pic>
                    <p:nvPicPr>
                      <p:cNvPr id="11" name="개체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93" y="4265280"/>
                        <a:ext cx="1525588" cy="4404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89419" y="4867103"/>
            <a:ext cx="625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t-test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개체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793085"/>
              </p:ext>
            </p:extLst>
          </p:nvPr>
        </p:nvGraphicFramePr>
        <p:xfrm>
          <a:off x="7124991" y="4264660"/>
          <a:ext cx="12176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8" imgW="1155600" imgH="406080" progId="Equation.3">
                  <p:embed/>
                </p:oleObj>
              </mc:Choice>
              <mc:Fallback>
                <p:oleObj name="수식" r:id="rId8" imgW="1155600" imgH="406080" progId="Equation.3">
                  <p:embed/>
                  <p:pic>
                    <p:nvPicPr>
                      <p:cNvPr id="14" name="개체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991" y="4264660"/>
                        <a:ext cx="1217613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개체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636430"/>
              </p:ext>
            </p:extLst>
          </p:nvPr>
        </p:nvGraphicFramePr>
        <p:xfrm>
          <a:off x="7704453" y="4886848"/>
          <a:ext cx="1042987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10" imgW="990360" imgH="228600" progId="Equation.3">
                  <p:embed/>
                </p:oleObj>
              </mc:Choice>
              <mc:Fallback>
                <p:oleObj name="수식" r:id="rId10" imgW="990360" imgH="228600" progId="Equation.3">
                  <p:embed/>
                  <p:pic>
                    <p:nvPicPr>
                      <p:cNvPr id="17" name="개체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4453" y="4886848"/>
                        <a:ext cx="1042987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7">
            <a:extLst>
              <a:ext uri="{FF2B5EF4-FFF2-40B4-BE49-F238E27FC236}">
                <a16:creationId xmlns:a16="http://schemas.microsoft.com/office/drawing/2014/main" id="{21609A5A-B939-4462-8346-2DA1D23833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242487"/>
              </p:ext>
            </p:extLst>
          </p:nvPr>
        </p:nvGraphicFramePr>
        <p:xfrm>
          <a:off x="2108491" y="4790123"/>
          <a:ext cx="19034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55520" imgH="431640" progId="Equation.3">
                  <p:embed/>
                </p:oleObj>
              </mc:Choice>
              <mc:Fallback>
                <p:oleObj name="Equation" r:id="rId12" imgW="1955520" imgH="431640" progId="Equation.3">
                  <p:embed/>
                  <p:pic>
                    <p:nvPicPr>
                      <p:cNvPr id="18" name="개체 7">
                        <a:extLst>
                          <a:ext uri="{FF2B5EF4-FFF2-40B4-BE49-F238E27FC236}">
                            <a16:creationId xmlns:a16="http://schemas.microsoft.com/office/drawing/2014/main" id="{21609A5A-B939-4462-8346-2DA1D23833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491" y="4790123"/>
                        <a:ext cx="1903413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9822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79512" y="148570"/>
            <a:ext cx="18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Type 2 Study </a:t>
            </a:r>
            <a:endParaRPr lang="ko-KR" altLang="en-US" sz="20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208953" y="746120"/>
            <a:ext cx="9605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Type 2 Study </a:t>
            </a:r>
            <a:r>
              <a:rPr lang="en-US" altLang="ko-KR" sz="1400" dirty="0" err="1"/>
              <a:t>thường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được</a:t>
            </a:r>
            <a:r>
              <a:rPr lang="en-US" altLang="ko-KR" sz="1400" dirty="0"/>
              <a:t> </a:t>
            </a:r>
            <a:r>
              <a:rPr lang="en-US" altLang="ko-KR" sz="1400" dirty="0" err="1"/>
              <a:t>gọi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là</a:t>
            </a:r>
            <a:r>
              <a:rPr lang="en-US" altLang="ko-KR" sz="1400" dirty="0"/>
              <a:t> Gage R&amp;R. </a:t>
            </a:r>
            <a:r>
              <a:rPr lang="en-US" altLang="ko-KR" sz="1400" dirty="0" err="1"/>
              <a:t>Phương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pháp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đánh</a:t>
            </a:r>
            <a:r>
              <a:rPr lang="en-US" altLang="ko-KR" sz="1400" dirty="0"/>
              <a:t> </a:t>
            </a:r>
            <a:r>
              <a:rPr lang="en-US" altLang="ko-KR" sz="1400" dirty="0" err="1"/>
              <a:t>giá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độ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tỉ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mỉ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của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hệ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thống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không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chỉ</a:t>
            </a:r>
            <a:r>
              <a:rPr lang="en-US" altLang="ko-KR" sz="1400" dirty="0"/>
              <a:t> </a:t>
            </a:r>
            <a:r>
              <a:rPr lang="en-US" altLang="ko-KR" sz="1400" dirty="0" err="1"/>
              <a:t>xem</a:t>
            </a:r>
            <a:r>
              <a:rPr lang="en-US" altLang="ko-KR" sz="1400" dirty="0"/>
              <a:t> </a:t>
            </a:r>
            <a:r>
              <a:rPr lang="en-US" altLang="ko-KR" sz="1400" dirty="0" err="1"/>
              <a:t>xét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độ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lặp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lại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phân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tán</a:t>
            </a:r>
            <a:r>
              <a:rPr lang="en-US" altLang="ko-KR" sz="1400" dirty="0"/>
              <a:t> (repeatability) </a:t>
            </a:r>
            <a:r>
              <a:rPr lang="en-US" altLang="ko-KR" sz="1400" dirty="0" err="1"/>
              <a:t>của</a:t>
            </a:r>
            <a:r>
              <a:rPr lang="en-US" altLang="ko-KR" sz="1400" dirty="0"/>
              <a:t> </a:t>
            </a:r>
            <a:r>
              <a:rPr lang="en-US" altLang="ko-KR" sz="1400" dirty="0" err="1"/>
              <a:t>bản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thân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dụng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cụ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mà</a:t>
            </a:r>
            <a:r>
              <a:rPr lang="en-US" altLang="ko-KR" sz="1400" dirty="0"/>
              <a:t> </a:t>
            </a:r>
            <a:r>
              <a:rPr lang="en-US" altLang="ko-KR" sz="1400" dirty="0" err="1"/>
              <a:t>phải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xem</a:t>
            </a:r>
            <a:r>
              <a:rPr lang="en-US" altLang="ko-KR" sz="1400" dirty="0"/>
              <a:t> </a:t>
            </a:r>
            <a:r>
              <a:rPr lang="en-US" altLang="ko-KR" sz="1400" dirty="0" err="1"/>
              <a:t>xét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cả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tính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tái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hiện</a:t>
            </a:r>
            <a:r>
              <a:rPr lang="en-US" altLang="ko-KR" sz="1400" dirty="0"/>
              <a:t> (reproducibility) </a:t>
            </a:r>
            <a:r>
              <a:rPr lang="en-US" altLang="ko-KR" sz="1400" dirty="0" err="1"/>
              <a:t>phân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tán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giữa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những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người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đạc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208953" y="1348240"/>
            <a:ext cx="8568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Chọn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ra</a:t>
            </a:r>
            <a:r>
              <a:rPr lang="en-US" altLang="ko-KR" sz="1400" dirty="0"/>
              <a:t> 10 sample </a:t>
            </a:r>
            <a:r>
              <a:rPr lang="en-US" altLang="ko-KR" sz="1400" dirty="0" err="1"/>
              <a:t>ngẫu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nhiên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trong</a:t>
            </a:r>
            <a:r>
              <a:rPr lang="en-US" altLang="ko-KR" sz="1400" dirty="0"/>
              <a:t> process, </a:t>
            </a:r>
            <a:r>
              <a:rPr lang="en-US" altLang="ko-KR" sz="1400" dirty="0" err="1"/>
              <a:t>trong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những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người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đạc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sử</a:t>
            </a:r>
            <a:r>
              <a:rPr lang="en-US" altLang="ko-KR" sz="1400" dirty="0"/>
              <a:t> </a:t>
            </a:r>
            <a:r>
              <a:rPr lang="en-US" altLang="ko-KR" sz="1400" dirty="0" err="1"/>
              <a:t>dụng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dụng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cụ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tương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ứng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chọn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ra</a:t>
            </a:r>
            <a:r>
              <a:rPr lang="en-US" altLang="ko-KR" sz="1400" dirty="0"/>
              <a:t> 3 </a:t>
            </a:r>
            <a:r>
              <a:rPr lang="en-US" altLang="ko-KR" sz="1400" dirty="0" err="1"/>
              <a:t>người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và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thông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thường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tiến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hành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lặp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lại</a:t>
            </a:r>
            <a:r>
              <a:rPr lang="en-US" altLang="ko-KR" sz="1400" dirty="0"/>
              <a:t> 2~3 </a:t>
            </a:r>
            <a:r>
              <a:rPr lang="en-US" altLang="ko-KR" sz="1400" dirty="0" err="1"/>
              <a:t>lần</a:t>
            </a:r>
            <a:endParaRPr lang="ko-KR" altLang="en-US" sz="1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2096937"/>
            <a:ext cx="6851604" cy="431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4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79512" y="148570"/>
            <a:ext cx="1603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Type 3 Study </a:t>
            </a:r>
            <a:endParaRPr lang="ko-KR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14644" y="647406"/>
            <a:ext cx="9222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Type 3 Study </a:t>
            </a:r>
            <a:r>
              <a:rPr lang="en-US" altLang="ko-KR" sz="1400" dirty="0" err="1"/>
              <a:t>là</a:t>
            </a:r>
            <a:r>
              <a:rPr lang="en-US" altLang="ko-KR" sz="1400" dirty="0"/>
              <a:t> Gage R&amp;R </a:t>
            </a:r>
            <a:r>
              <a:rPr lang="en-US" altLang="ko-KR" sz="1400" dirty="0" err="1"/>
              <a:t>về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trường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hợp</a:t>
            </a:r>
            <a:r>
              <a:rPr lang="en-US" altLang="ko-KR" sz="1400" dirty="0"/>
              <a:t> </a:t>
            </a:r>
            <a:r>
              <a:rPr lang="en-US" altLang="ko-KR" sz="1400" dirty="0" err="1"/>
              <a:t>không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có</a:t>
            </a:r>
            <a:r>
              <a:rPr lang="en-US" altLang="ko-KR" sz="1400" dirty="0"/>
              <a:t> </a:t>
            </a:r>
            <a:r>
              <a:rPr lang="en-US" altLang="ko-KR" sz="1400" dirty="0" err="1"/>
              <a:t>ảnh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hưởng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của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người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đạc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Trường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hợp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sử</a:t>
            </a:r>
            <a:r>
              <a:rPr lang="en-US" altLang="ko-KR" sz="1400" dirty="0"/>
              <a:t> </a:t>
            </a:r>
            <a:r>
              <a:rPr lang="en-US" altLang="ko-KR" sz="1400" dirty="0" err="1"/>
              <a:t>dụng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dụng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cụ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đạc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tự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động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không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có</a:t>
            </a:r>
            <a:r>
              <a:rPr lang="en-US" altLang="ko-KR" sz="1400" dirty="0"/>
              <a:t> </a:t>
            </a:r>
            <a:r>
              <a:rPr lang="en-US" altLang="ko-KR" sz="1400" dirty="0" err="1"/>
              <a:t>ảnh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hưởng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của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người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đạc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Trường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hợp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này</a:t>
            </a:r>
            <a:r>
              <a:rPr lang="en-US" altLang="ko-KR" sz="1400" dirty="0"/>
              <a:t> </a:t>
            </a:r>
            <a:r>
              <a:rPr lang="en-US" altLang="ko-KR" sz="1400" dirty="0" err="1"/>
              <a:t>không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có</a:t>
            </a:r>
            <a:r>
              <a:rPr lang="en-US" altLang="ko-KR" sz="1400" dirty="0"/>
              <a:t> </a:t>
            </a:r>
            <a:r>
              <a:rPr lang="en-US" altLang="ko-KR" sz="1400" dirty="0" err="1"/>
              <a:t>biến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động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tính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tái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hiện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giữa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những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người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đạc</a:t>
            </a:r>
            <a:r>
              <a:rPr lang="en-US" altLang="ko-KR" sz="1400" dirty="0"/>
              <a:t> </a:t>
            </a:r>
            <a:r>
              <a:rPr lang="en-US" altLang="ko-KR" sz="1400" dirty="0" err="1"/>
              <a:t>và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chỉ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tồn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tại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tính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lặp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lại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414644" y="1487913"/>
            <a:ext cx="88896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Type 3 Study</a:t>
            </a:r>
            <a:r>
              <a:rPr lang="ko-KR" altLang="en-US" sz="1400" dirty="0"/>
              <a:t> </a:t>
            </a:r>
            <a:r>
              <a:rPr lang="en-US" altLang="ko-KR" sz="1400" dirty="0" err="1"/>
              <a:t>là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trong</a:t>
            </a:r>
            <a:r>
              <a:rPr lang="en-US" altLang="ko-KR" sz="1400" dirty="0"/>
              <a:t> process </a:t>
            </a:r>
            <a:r>
              <a:rPr lang="en-US" altLang="ko-KR" sz="1400" dirty="0" err="1"/>
              <a:t>sản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xuất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lựa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chọn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ngẫu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nhiên</a:t>
            </a:r>
            <a:r>
              <a:rPr lang="en-US" altLang="ko-KR" sz="1400" dirty="0"/>
              <a:t> p </a:t>
            </a:r>
            <a:r>
              <a:rPr lang="en-US" altLang="ko-KR" sz="1400" dirty="0" err="1"/>
              <a:t>linh</a:t>
            </a:r>
            <a:r>
              <a:rPr lang="en-US" altLang="ko-KR" sz="1400" dirty="0"/>
              <a:t> </a:t>
            </a:r>
            <a:r>
              <a:rPr lang="en-US" altLang="ko-KR" sz="1400" dirty="0" err="1"/>
              <a:t>kiện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và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tiến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hành</a:t>
            </a:r>
            <a:r>
              <a:rPr lang="en-US" altLang="ko-KR" sz="1400" dirty="0"/>
              <a:t> </a:t>
            </a:r>
            <a:r>
              <a:rPr lang="en-US" altLang="ko-KR" sz="1400" dirty="0" err="1"/>
              <a:t>đo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lặp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lại</a:t>
            </a:r>
            <a:r>
              <a:rPr lang="en-US" altLang="ko-KR" sz="1400" dirty="0"/>
              <a:t> r </a:t>
            </a:r>
            <a:r>
              <a:rPr lang="en-US" altLang="ko-KR" sz="1400" dirty="0" err="1"/>
              <a:t>lần</a:t>
            </a:r>
            <a:r>
              <a:rPr lang="en-US" altLang="ko-KR" sz="1400" dirty="0"/>
              <a:t>.  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err="1"/>
              <a:t>Trong</a:t>
            </a:r>
            <a:r>
              <a:rPr lang="en-US" altLang="ko-KR" sz="1400" dirty="0"/>
              <a:t> GM </a:t>
            </a:r>
            <a:r>
              <a:rPr lang="en-US" altLang="ko-KR" sz="1400" dirty="0" err="1"/>
              <a:t>chọn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tối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thiểu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trên</a:t>
            </a:r>
            <a:r>
              <a:rPr lang="en-US" altLang="ko-KR" sz="1400" dirty="0"/>
              <a:t> 5 </a:t>
            </a:r>
            <a:r>
              <a:rPr lang="en-US" altLang="ko-KR" sz="1400" dirty="0" err="1"/>
              <a:t>linh</a:t>
            </a:r>
            <a:r>
              <a:rPr lang="en-US" altLang="ko-KR" sz="1400" dirty="0"/>
              <a:t> </a:t>
            </a:r>
            <a:r>
              <a:rPr lang="en-US" altLang="ko-KR" sz="1400" dirty="0" err="1"/>
              <a:t>kiện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và</a:t>
            </a:r>
            <a:r>
              <a:rPr lang="en-US" altLang="ko-KR" sz="1400" dirty="0"/>
              <a:t> p x r = 50 </a:t>
            </a:r>
            <a:r>
              <a:rPr lang="en-US" altLang="ko-KR" sz="1400" dirty="0" err="1"/>
              <a:t>hoặc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lớn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hơn</a:t>
            </a:r>
            <a:r>
              <a:rPr lang="en-US" altLang="ko-KR" sz="1400" dirty="0"/>
              <a:t> . </a:t>
            </a:r>
            <a:r>
              <a:rPr lang="en-US" altLang="ko-KR" sz="1400" dirty="0" err="1"/>
              <a:t>Trong</a:t>
            </a:r>
            <a:r>
              <a:rPr lang="en-US" altLang="ko-KR" sz="1400" dirty="0"/>
              <a:t> Type 2 Study </a:t>
            </a:r>
            <a:r>
              <a:rPr lang="en-US" altLang="ko-KR" sz="1400" dirty="0" err="1"/>
              <a:t>nếu</a:t>
            </a:r>
            <a:r>
              <a:rPr lang="en-US" altLang="ko-KR" sz="1400" dirty="0"/>
              <a:t> </a:t>
            </a:r>
            <a:r>
              <a:rPr lang="en-US" altLang="ko-KR" sz="1400" dirty="0" err="1"/>
              <a:t>không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có</a:t>
            </a:r>
            <a:r>
              <a:rPr lang="en-US" altLang="ko-KR" sz="1400" dirty="0"/>
              <a:t> </a:t>
            </a:r>
          </a:p>
          <a:p>
            <a:r>
              <a:rPr lang="en-US" altLang="ko-KR" sz="1400" dirty="0" err="1"/>
              <a:t>sự</a:t>
            </a:r>
            <a:r>
              <a:rPr lang="en-US" altLang="ko-KR" sz="1400" dirty="0"/>
              <a:t> </a:t>
            </a:r>
            <a:r>
              <a:rPr lang="en-US" altLang="ko-KR" sz="1400" dirty="0" err="1"/>
              <a:t>phân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biệt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của</a:t>
            </a:r>
            <a:r>
              <a:rPr lang="en-US" altLang="ko-KR" sz="1400" dirty="0"/>
              <a:t> con </a:t>
            </a:r>
            <a:r>
              <a:rPr lang="en-US" altLang="ko-KR" sz="1400" dirty="0" err="1"/>
              <a:t>người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thì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sẽ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trở</a:t>
            </a:r>
            <a:r>
              <a:rPr lang="en-US" altLang="ko-KR" sz="1400" dirty="0"/>
              <a:t> </a:t>
            </a:r>
            <a:r>
              <a:rPr lang="en-US" altLang="ko-KR" sz="1400" dirty="0" err="1"/>
              <a:t>thành</a:t>
            </a:r>
            <a:r>
              <a:rPr lang="en-US" altLang="ko-KR" sz="1400" dirty="0"/>
              <a:t> Type 3</a:t>
            </a:r>
            <a:endParaRPr lang="ko-KR" altLang="en-US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836" y="2694635"/>
            <a:ext cx="5902370" cy="371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12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2"/>
          <p:cNvSpPr>
            <a:spLocks noChangeArrowheads="1"/>
          </p:cNvSpPr>
          <p:nvPr/>
        </p:nvSpPr>
        <p:spPr bwMode="auto">
          <a:xfrm>
            <a:off x="1654796" y="1562100"/>
            <a:ext cx="1223962" cy="427038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Loại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dữ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liệu</a:t>
            </a:r>
            <a:endParaRPr lang="en-US" altLang="ko-KR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3037508" y="1550988"/>
            <a:ext cx="3654425" cy="3587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Dữ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liệu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liên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tục</a:t>
            </a:r>
            <a:endParaRPr lang="en-US" altLang="ko-KR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Rectangle 64"/>
          <p:cNvSpPr>
            <a:spLocks noChangeArrowheads="1"/>
          </p:cNvSpPr>
          <p:nvPr/>
        </p:nvSpPr>
        <p:spPr bwMode="auto">
          <a:xfrm>
            <a:off x="6716688" y="1550988"/>
            <a:ext cx="1404664" cy="358775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Dữ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liệu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thuộc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tính</a:t>
            </a:r>
            <a:endParaRPr lang="en-US" altLang="ko-KR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" name="Rectangle 65"/>
          <p:cNvSpPr>
            <a:spLocks noChangeArrowheads="1"/>
          </p:cNvSpPr>
          <p:nvPr/>
        </p:nvSpPr>
        <p:spPr bwMode="auto">
          <a:xfrm>
            <a:off x="1661146" y="2420888"/>
            <a:ext cx="1223962" cy="50405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Các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loại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nghiên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cứu</a:t>
            </a:r>
            <a:endParaRPr lang="en-US" altLang="ko-KR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Rectangle 66"/>
          <p:cNvSpPr>
            <a:spLocks noChangeArrowheads="1"/>
          </p:cNvSpPr>
          <p:nvPr/>
        </p:nvSpPr>
        <p:spPr bwMode="auto">
          <a:xfrm>
            <a:off x="3043858" y="2476500"/>
            <a:ext cx="1776413" cy="3587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Crossed Studies</a:t>
            </a:r>
          </a:p>
        </p:txBody>
      </p:sp>
      <p:sp>
        <p:nvSpPr>
          <p:cNvPr id="8" name="Rectangle 68"/>
          <p:cNvSpPr>
            <a:spLocks noChangeArrowheads="1"/>
          </p:cNvSpPr>
          <p:nvPr/>
        </p:nvSpPr>
        <p:spPr bwMode="auto">
          <a:xfrm>
            <a:off x="4891708" y="2474913"/>
            <a:ext cx="1800225" cy="358775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Nested Studies</a:t>
            </a:r>
          </a:p>
        </p:txBody>
      </p:sp>
      <p:sp>
        <p:nvSpPr>
          <p:cNvPr id="9" name="Rectangle 69"/>
          <p:cNvSpPr>
            <a:spLocks noChangeArrowheads="1"/>
          </p:cNvSpPr>
          <p:nvPr/>
        </p:nvSpPr>
        <p:spPr bwMode="auto">
          <a:xfrm>
            <a:off x="1661146" y="3306762"/>
            <a:ext cx="1223962" cy="482277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Phương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pháp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phân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tích</a:t>
            </a:r>
            <a:endParaRPr lang="en-US" altLang="ko-KR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Rectangle 70"/>
          <p:cNvSpPr>
            <a:spLocks noChangeArrowheads="1"/>
          </p:cNvSpPr>
          <p:nvPr/>
        </p:nvSpPr>
        <p:spPr bwMode="auto">
          <a:xfrm>
            <a:off x="3008933" y="3290888"/>
            <a:ext cx="865188" cy="3587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ANOVA</a:t>
            </a:r>
          </a:p>
        </p:txBody>
      </p:sp>
      <p:sp>
        <p:nvSpPr>
          <p:cNvPr id="11" name="Rectangle 71"/>
          <p:cNvSpPr>
            <a:spLocks noChangeArrowheads="1"/>
          </p:cNvSpPr>
          <p:nvPr/>
        </p:nvSpPr>
        <p:spPr bwMode="auto">
          <a:xfrm>
            <a:off x="3939208" y="3289300"/>
            <a:ext cx="865188" cy="358775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Xbar-R</a:t>
            </a:r>
          </a:p>
        </p:txBody>
      </p:sp>
      <p:sp>
        <p:nvSpPr>
          <p:cNvPr id="12" name="Rectangle 72"/>
          <p:cNvSpPr>
            <a:spLocks noChangeArrowheads="1"/>
          </p:cNvSpPr>
          <p:nvPr/>
        </p:nvSpPr>
        <p:spPr bwMode="auto">
          <a:xfrm>
            <a:off x="4891708" y="3267075"/>
            <a:ext cx="1800225" cy="358775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ANOVA</a:t>
            </a:r>
          </a:p>
        </p:txBody>
      </p:sp>
      <p:sp>
        <p:nvSpPr>
          <p:cNvPr id="13" name="Rectangle 73"/>
          <p:cNvSpPr>
            <a:spLocks noChangeArrowheads="1"/>
          </p:cNvSpPr>
          <p:nvPr/>
        </p:nvSpPr>
        <p:spPr bwMode="auto">
          <a:xfrm>
            <a:off x="6795120" y="3271838"/>
            <a:ext cx="1649760" cy="358775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Kiểm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tra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mức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ý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nghĩa</a:t>
            </a:r>
            <a:endParaRPr lang="en-US" altLang="ko-KR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14" name="AutoShape 74"/>
          <p:cNvCxnSpPr>
            <a:cxnSpLocks noChangeShapeType="1"/>
            <a:stCxn id="4" idx="2"/>
            <a:endCxn id="7" idx="0"/>
          </p:cNvCxnSpPr>
          <p:nvPr/>
        </p:nvCxnSpPr>
        <p:spPr bwMode="auto">
          <a:xfrm rot="5400000">
            <a:off x="4115421" y="1727200"/>
            <a:ext cx="566737" cy="931863"/>
          </a:xfrm>
          <a:prstGeom prst="bentConnector3">
            <a:avLst>
              <a:gd name="adj1" fmla="val 49861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15" name="AutoShape 75"/>
          <p:cNvCxnSpPr>
            <a:cxnSpLocks noChangeShapeType="1"/>
            <a:stCxn id="4" idx="2"/>
            <a:endCxn id="8" idx="0"/>
          </p:cNvCxnSpPr>
          <p:nvPr/>
        </p:nvCxnSpPr>
        <p:spPr bwMode="auto">
          <a:xfrm rot="16200000" flipH="1">
            <a:off x="5045696" y="1728788"/>
            <a:ext cx="565150" cy="9271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16" name="AutoShape 78"/>
          <p:cNvCxnSpPr>
            <a:cxnSpLocks noChangeShapeType="1"/>
            <a:stCxn id="7" idx="2"/>
            <a:endCxn id="10" idx="0"/>
          </p:cNvCxnSpPr>
          <p:nvPr/>
        </p:nvCxnSpPr>
        <p:spPr bwMode="auto">
          <a:xfrm rot="5400000">
            <a:off x="3459783" y="2817813"/>
            <a:ext cx="455613" cy="490537"/>
          </a:xfrm>
          <a:prstGeom prst="bentConnector3">
            <a:avLst>
              <a:gd name="adj1" fmla="val 49824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17" name="AutoShape 79"/>
          <p:cNvCxnSpPr>
            <a:cxnSpLocks noChangeShapeType="1"/>
            <a:stCxn id="7" idx="2"/>
            <a:endCxn id="11" idx="0"/>
          </p:cNvCxnSpPr>
          <p:nvPr/>
        </p:nvCxnSpPr>
        <p:spPr bwMode="auto">
          <a:xfrm rot="16200000" flipH="1">
            <a:off x="3925714" y="2842419"/>
            <a:ext cx="454025" cy="4397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18" name="AutoShape 80"/>
          <p:cNvCxnSpPr>
            <a:cxnSpLocks noChangeShapeType="1"/>
            <a:stCxn id="8" idx="2"/>
            <a:endCxn id="12" idx="0"/>
          </p:cNvCxnSpPr>
          <p:nvPr/>
        </p:nvCxnSpPr>
        <p:spPr bwMode="auto">
          <a:xfrm rot="5400000">
            <a:off x="5575127" y="3050382"/>
            <a:ext cx="433387" cy="0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</p:spPr>
      </p:cxnSp>
      <p:sp>
        <p:nvSpPr>
          <p:cNvPr id="19" name="Rectangle 81"/>
          <p:cNvSpPr>
            <a:spLocks noChangeArrowheads="1"/>
          </p:cNvSpPr>
          <p:nvPr/>
        </p:nvSpPr>
        <p:spPr bwMode="auto">
          <a:xfrm>
            <a:off x="1661146" y="4230688"/>
            <a:ext cx="1223962" cy="35877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Thông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tin</a:t>
            </a:r>
          </a:p>
        </p:txBody>
      </p:sp>
      <p:sp>
        <p:nvSpPr>
          <p:cNvPr id="20" name="Text Box 82"/>
          <p:cNvSpPr txBox="1">
            <a:spLocks noChangeArrowheads="1"/>
          </p:cNvSpPr>
          <p:nvPr/>
        </p:nvSpPr>
        <p:spPr bwMode="auto">
          <a:xfrm>
            <a:off x="1424608" y="4753615"/>
            <a:ext cx="15843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Repeatability</a:t>
            </a:r>
          </a:p>
        </p:txBody>
      </p:sp>
      <p:sp>
        <p:nvSpPr>
          <p:cNvPr id="21" name="Text Box 83"/>
          <p:cNvSpPr txBox="1">
            <a:spLocks noChangeArrowheads="1"/>
          </p:cNvSpPr>
          <p:nvPr/>
        </p:nvSpPr>
        <p:spPr bwMode="auto">
          <a:xfrm>
            <a:off x="1429371" y="5035550"/>
            <a:ext cx="158432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Reproducibility</a:t>
            </a:r>
          </a:p>
          <a:p>
            <a:pPr algn="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ko-KR" sz="1200" b="1" dirty="0">
                <a:solidFill>
                  <a:srgbClr val="008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Operators</a:t>
            </a:r>
          </a:p>
          <a:p>
            <a:pPr algn="r" eaLnBrk="1" hangingPunct="1">
              <a:spcBef>
                <a:spcPct val="50000"/>
              </a:spcBef>
            </a:pPr>
            <a:r>
              <a:rPr lang="en-US" altLang="ko-KR" sz="1200" b="1" u="sng" dirty="0">
                <a:solidFill>
                  <a:srgbClr val="008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Operators X Parts</a:t>
            </a:r>
          </a:p>
        </p:txBody>
      </p:sp>
      <p:sp>
        <p:nvSpPr>
          <p:cNvPr id="22" name="Rectangle 84"/>
          <p:cNvSpPr>
            <a:spLocks noChangeArrowheads="1"/>
          </p:cNvSpPr>
          <p:nvPr/>
        </p:nvSpPr>
        <p:spPr bwMode="auto">
          <a:xfrm>
            <a:off x="3018458" y="3725863"/>
            <a:ext cx="4968875" cy="433387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Đồ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thị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tóm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tắt</a:t>
            </a:r>
            <a:endParaRPr lang="en-US" altLang="ko-KR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3" name="Rectangle 85"/>
          <p:cNvSpPr>
            <a:spLocks noChangeArrowheads="1"/>
          </p:cNvSpPr>
          <p:nvPr/>
        </p:nvSpPr>
        <p:spPr bwMode="auto">
          <a:xfrm>
            <a:off x="3058146" y="4746625"/>
            <a:ext cx="792162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</a:t>
            </a:r>
          </a:p>
        </p:txBody>
      </p:sp>
      <p:sp>
        <p:nvSpPr>
          <p:cNvPr id="24" name="Rectangle 86"/>
          <p:cNvSpPr>
            <a:spLocks noChangeArrowheads="1"/>
          </p:cNvSpPr>
          <p:nvPr/>
        </p:nvSpPr>
        <p:spPr bwMode="auto">
          <a:xfrm>
            <a:off x="3058146" y="5289550"/>
            <a:ext cx="792162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</a:t>
            </a:r>
          </a:p>
        </p:txBody>
      </p:sp>
      <p:sp>
        <p:nvSpPr>
          <p:cNvPr id="25" name="Rectangle 87"/>
          <p:cNvSpPr>
            <a:spLocks noChangeArrowheads="1"/>
          </p:cNvSpPr>
          <p:nvPr/>
        </p:nvSpPr>
        <p:spPr bwMode="auto">
          <a:xfrm>
            <a:off x="3058146" y="5576888"/>
            <a:ext cx="792162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</a:t>
            </a:r>
          </a:p>
        </p:txBody>
      </p:sp>
      <p:sp>
        <p:nvSpPr>
          <p:cNvPr id="26" name="Rectangle 88"/>
          <p:cNvSpPr>
            <a:spLocks noChangeArrowheads="1"/>
          </p:cNvSpPr>
          <p:nvPr/>
        </p:nvSpPr>
        <p:spPr bwMode="auto">
          <a:xfrm>
            <a:off x="3928096" y="4746625"/>
            <a:ext cx="792162" cy="2159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</a:t>
            </a:r>
          </a:p>
        </p:txBody>
      </p:sp>
      <p:sp>
        <p:nvSpPr>
          <p:cNvPr id="27" name="Rectangle 89"/>
          <p:cNvSpPr>
            <a:spLocks noChangeArrowheads="1"/>
          </p:cNvSpPr>
          <p:nvPr/>
        </p:nvSpPr>
        <p:spPr bwMode="auto">
          <a:xfrm>
            <a:off x="3928096" y="5289550"/>
            <a:ext cx="792162" cy="2159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</a:t>
            </a:r>
          </a:p>
        </p:txBody>
      </p:sp>
      <p:sp>
        <p:nvSpPr>
          <p:cNvPr id="28" name="Rectangle 90"/>
          <p:cNvSpPr>
            <a:spLocks noChangeArrowheads="1"/>
          </p:cNvSpPr>
          <p:nvPr/>
        </p:nvSpPr>
        <p:spPr bwMode="auto">
          <a:xfrm>
            <a:off x="3928096" y="5576888"/>
            <a:ext cx="792162" cy="2159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</a:t>
            </a:r>
          </a:p>
        </p:txBody>
      </p:sp>
      <p:sp>
        <p:nvSpPr>
          <p:cNvPr id="29" name="Rectangle 91"/>
          <p:cNvSpPr>
            <a:spLocks noChangeArrowheads="1"/>
          </p:cNvSpPr>
          <p:nvPr/>
        </p:nvSpPr>
        <p:spPr bwMode="auto">
          <a:xfrm>
            <a:off x="4934571" y="4745038"/>
            <a:ext cx="1684337" cy="211137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</a:t>
            </a:r>
          </a:p>
        </p:txBody>
      </p:sp>
      <p:sp>
        <p:nvSpPr>
          <p:cNvPr id="30" name="Rectangle 92"/>
          <p:cNvSpPr>
            <a:spLocks noChangeArrowheads="1"/>
          </p:cNvSpPr>
          <p:nvPr/>
        </p:nvSpPr>
        <p:spPr bwMode="auto">
          <a:xfrm>
            <a:off x="4934571" y="5287963"/>
            <a:ext cx="1684337" cy="211137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</a:t>
            </a:r>
          </a:p>
        </p:txBody>
      </p:sp>
      <p:sp>
        <p:nvSpPr>
          <p:cNvPr id="31" name="Rectangle 93"/>
          <p:cNvSpPr>
            <a:spLocks noChangeArrowheads="1"/>
          </p:cNvSpPr>
          <p:nvPr/>
        </p:nvSpPr>
        <p:spPr bwMode="auto">
          <a:xfrm>
            <a:off x="4934571" y="5575300"/>
            <a:ext cx="1684337" cy="211138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</a:t>
            </a:r>
          </a:p>
        </p:txBody>
      </p:sp>
      <p:sp>
        <p:nvSpPr>
          <p:cNvPr id="32" name="Rectangle 94"/>
          <p:cNvSpPr>
            <a:spLocks noChangeArrowheads="1"/>
          </p:cNvSpPr>
          <p:nvPr/>
        </p:nvSpPr>
        <p:spPr bwMode="auto">
          <a:xfrm>
            <a:off x="6896721" y="4713288"/>
            <a:ext cx="1041400" cy="20955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</a:t>
            </a:r>
          </a:p>
        </p:txBody>
      </p:sp>
      <p:sp>
        <p:nvSpPr>
          <p:cNvPr id="33" name="Rectangle 95"/>
          <p:cNvSpPr>
            <a:spLocks noChangeArrowheads="1"/>
          </p:cNvSpPr>
          <p:nvPr/>
        </p:nvSpPr>
        <p:spPr bwMode="auto">
          <a:xfrm>
            <a:off x="6896721" y="5256213"/>
            <a:ext cx="1041400" cy="20955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O</a:t>
            </a:r>
          </a:p>
        </p:txBody>
      </p:sp>
      <p:sp>
        <p:nvSpPr>
          <p:cNvPr id="34" name="Rectangle 96"/>
          <p:cNvSpPr>
            <a:spLocks noChangeArrowheads="1"/>
          </p:cNvSpPr>
          <p:nvPr/>
        </p:nvSpPr>
        <p:spPr bwMode="auto">
          <a:xfrm>
            <a:off x="6896721" y="5543550"/>
            <a:ext cx="1041400" cy="20955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</a:t>
            </a:r>
          </a:p>
        </p:txBody>
      </p:sp>
      <p:sp>
        <p:nvSpPr>
          <p:cNvPr id="35" name="Line 97"/>
          <p:cNvSpPr>
            <a:spLocks noChangeShapeType="1"/>
          </p:cNvSpPr>
          <p:nvPr/>
        </p:nvSpPr>
        <p:spPr bwMode="auto">
          <a:xfrm>
            <a:off x="2920033" y="5040313"/>
            <a:ext cx="5040313" cy="0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sysDot"/>
            <a:round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00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36" name="AutoShape 98"/>
          <p:cNvCxnSpPr>
            <a:cxnSpLocks noChangeShapeType="1"/>
            <a:stCxn id="3" idx="2"/>
            <a:endCxn id="6" idx="0"/>
          </p:cNvCxnSpPr>
          <p:nvPr/>
        </p:nvCxnSpPr>
        <p:spPr bwMode="auto">
          <a:xfrm>
            <a:off x="2266777" y="1989138"/>
            <a:ext cx="6350" cy="431750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7" name="AutoShape 99"/>
          <p:cNvCxnSpPr>
            <a:cxnSpLocks noChangeShapeType="1"/>
            <a:stCxn id="6" idx="2"/>
            <a:endCxn id="9" idx="0"/>
          </p:cNvCxnSpPr>
          <p:nvPr/>
        </p:nvCxnSpPr>
        <p:spPr bwMode="auto">
          <a:xfrm>
            <a:off x="2273127" y="2924943"/>
            <a:ext cx="0" cy="381819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8" name="AutoShape 100"/>
          <p:cNvCxnSpPr>
            <a:cxnSpLocks noChangeShapeType="1"/>
            <a:stCxn id="9" idx="2"/>
            <a:endCxn id="19" idx="0"/>
          </p:cNvCxnSpPr>
          <p:nvPr/>
        </p:nvCxnSpPr>
        <p:spPr bwMode="auto">
          <a:xfrm>
            <a:off x="2273127" y="3789039"/>
            <a:ext cx="0" cy="441649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</p:spPr>
      </p:cxnSp>
      <p:sp>
        <p:nvSpPr>
          <p:cNvPr id="39" name="TextBox 38"/>
          <p:cNvSpPr txBox="1"/>
          <p:nvPr/>
        </p:nvSpPr>
        <p:spPr>
          <a:xfrm>
            <a:off x="428625" y="827088"/>
            <a:ext cx="9167813" cy="3970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Font typeface="Wingdings" pitchFamily="2" charset="2"/>
              <a:buChar char="u"/>
              <a:defRPr/>
            </a:pP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Trình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tự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Gage R&amp;R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cho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mỗi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loại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và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phương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pháp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thiết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kế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dữ</a:t>
            </a:r>
            <a:r>
              <a:rPr kumimoji="0" lang="en-US" altLang="ko-KR" b="1" kern="0" dirty="0"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kumimoji="0" lang="en-US" altLang="ko-KR" b="1" kern="0" dirty="0" err="1">
                <a:latin typeface="Arial" pitchFamily="34" charset="0"/>
                <a:ea typeface="맑은 고딕" pitchFamily="50" charset="-127"/>
                <a:cs typeface="Arial" pitchFamily="34" charset="0"/>
              </a:rPr>
              <a:t>liệu</a:t>
            </a:r>
            <a:endParaRPr kumimoji="0" lang="ko-KR" altLang="en-US" kern="0" dirty="0"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40" name="AutoShape 98"/>
          <p:cNvCxnSpPr>
            <a:cxnSpLocks noChangeShapeType="1"/>
          </p:cNvCxnSpPr>
          <p:nvPr/>
        </p:nvCxnSpPr>
        <p:spPr bwMode="auto">
          <a:xfrm>
            <a:off x="7364760" y="1906951"/>
            <a:ext cx="6350" cy="548640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41" name="AutoShape 98"/>
          <p:cNvCxnSpPr>
            <a:cxnSpLocks noChangeShapeType="1"/>
          </p:cNvCxnSpPr>
          <p:nvPr/>
        </p:nvCxnSpPr>
        <p:spPr bwMode="auto">
          <a:xfrm>
            <a:off x="7364760" y="2821872"/>
            <a:ext cx="6350" cy="457200"/>
          </a:xfrm>
          <a:prstGeom prst="straightConnector1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</p:spPr>
      </p:cxnSp>
      <p:sp>
        <p:nvSpPr>
          <p:cNvPr id="42" name="Rectangle 67"/>
          <p:cNvSpPr>
            <a:spLocks noChangeArrowheads="1"/>
          </p:cNvSpPr>
          <p:nvPr/>
        </p:nvSpPr>
        <p:spPr bwMode="auto">
          <a:xfrm>
            <a:off x="6787183" y="2476500"/>
            <a:ext cx="1223963" cy="358775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Crossed Studies</a:t>
            </a:r>
          </a:p>
        </p:txBody>
      </p:sp>
      <p:sp>
        <p:nvSpPr>
          <p:cNvPr id="43" name="TextBox 1"/>
          <p:cNvSpPr txBox="1">
            <a:spLocks noChangeArrowheads="1"/>
          </p:cNvSpPr>
          <p:nvPr/>
        </p:nvSpPr>
        <p:spPr bwMode="auto">
          <a:xfrm>
            <a:off x="3008933" y="5997576"/>
            <a:ext cx="4962769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1450" indent="-171450" eaLnBrk="1" hangingPunct="1">
              <a:lnSpc>
                <a:spcPct val="130000"/>
              </a:lnSpc>
              <a:buClr>
                <a:srgbClr val="C5003D"/>
              </a:buClr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Interaction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: Effect generated from the interaction of 2 factors.</a:t>
            </a:r>
          </a:p>
          <a:p>
            <a:pPr marL="171450" indent="-171450" eaLnBrk="1" hangingPunct="1">
              <a:lnSpc>
                <a:spcPct val="130000"/>
              </a:lnSpc>
              <a:buClr>
                <a:srgbClr val="C5003D"/>
              </a:buClr>
              <a:buFont typeface="Arial" panose="020B0604020202020204" pitchFamily="34" charset="0"/>
              <a:buChar char="•"/>
            </a:pP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Tương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tác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Hiệu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ứng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phát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sinh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từ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sự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tương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tác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của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2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yếu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tố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4" name="꺾인 연결선 23"/>
          <p:cNvCxnSpPr>
            <a:endCxn id="43" idx="1"/>
          </p:cNvCxnSpPr>
          <p:nvPr/>
        </p:nvCxnSpPr>
        <p:spPr>
          <a:xfrm>
            <a:off x="2199310" y="5799138"/>
            <a:ext cx="809623" cy="4846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47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4" t="47872" r="204" b="749"/>
          <a:stretch/>
        </p:blipFill>
        <p:spPr bwMode="auto">
          <a:xfrm>
            <a:off x="783456" y="2328721"/>
            <a:ext cx="4275137" cy="179115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976313" y="5612283"/>
            <a:ext cx="7721103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ko-KR" altLang="en-US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☞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Việc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chọn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mẫu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được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thực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hiện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đúng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như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vài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vấn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đề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với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tiêu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chuẩn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.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Điều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này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cho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thấy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dường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như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người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thực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hiện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lấy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số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khác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nhau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một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part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cụ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thể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.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745088" y="677863"/>
            <a:ext cx="3214254" cy="11079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ko-KR" sz="1000" b="1" dirty="0" err="1">
                <a:solidFill>
                  <a:srgbClr val="FF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Diễn</a:t>
            </a:r>
            <a:r>
              <a:rPr lang="en-US" altLang="ko-KR" sz="1000" b="1" dirty="0">
                <a:solidFill>
                  <a:srgbClr val="FF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solidFill>
                  <a:srgbClr val="FF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giải</a:t>
            </a:r>
            <a:endParaRPr lang="ko-KR" altLang="en-US" sz="1000" b="1" dirty="0">
              <a:solidFill>
                <a:srgbClr val="FF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buFontTx/>
              <a:buAutoNum type="arabicParenBoth"/>
              <a:defRPr/>
            </a:pP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ANOVA </a:t>
            </a: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 -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Xác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định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ý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nghĩa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cho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mỗi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nguyên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nhân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phương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sai</a:t>
            </a:r>
            <a:endParaRPr lang="en-US" altLang="ko-KR" sz="100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marL="228600" indent="-228600">
              <a:lnSpc>
                <a:spcPct val="110000"/>
              </a:lnSpc>
              <a:spcBef>
                <a:spcPts val="0"/>
              </a:spcBef>
              <a:defRPr/>
            </a:pPr>
            <a:r>
              <a:rPr lang="ko-KR" altLang="en-US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 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-</a:t>
            </a:r>
            <a:r>
              <a:rPr lang="ko-KR" altLang="en-US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Mục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‘Parts’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ý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nghĩa</a:t>
            </a:r>
            <a:endParaRPr lang="en-US" altLang="ko-KR" sz="100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 -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Các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mục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khác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không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nên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ý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nghĩa</a:t>
            </a:r>
            <a:endParaRPr lang="en-US" altLang="ko-KR" sz="100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5" name="직선 연결선 17"/>
          <p:cNvCxnSpPr/>
          <p:nvPr/>
        </p:nvCxnSpPr>
        <p:spPr bwMode="auto">
          <a:xfrm rot="5400000">
            <a:off x="4864918" y="2454588"/>
            <a:ext cx="641350" cy="3683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457056" y="2060669"/>
            <a:ext cx="42687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Giá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trị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P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Part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0.000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nhỏ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hơn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mức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ý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nghĩa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0.05. Do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,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sự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khác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biệt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Part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ý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nghĩa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.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457056" y="2943557"/>
            <a:ext cx="42687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Giá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trị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P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Operator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0.931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cao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hơn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mức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ý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nghĩa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0.05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nên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không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nghĩa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.</a:t>
            </a:r>
          </a:p>
          <a:p>
            <a:pPr eaLnBrk="1" hangingPunct="1"/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 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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Đây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điều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bình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thường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vì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người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không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số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khác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nhau</a:t>
            </a:r>
            <a:endParaRPr lang="en-US" altLang="ko-KR" sz="100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8" name="직선 연결선 23"/>
          <p:cNvCxnSpPr/>
          <p:nvPr/>
        </p:nvCxnSpPr>
        <p:spPr bwMode="auto">
          <a:xfrm rot="10800000" flipV="1">
            <a:off x="5003031" y="3111813"/>
            <a:ext cx="328612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457056" y="3682588"/>
            <a:ext cx="42687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Giá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trị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P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Part * Operator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0.000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nhỏ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hơn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mức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ý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nghĩa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0.05, do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các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cuộc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nghiên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cứu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bổ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sung. </a:t>
            </a:r>
          </a:p>
          <a:p>
            <a:pPr eaLnBrk="1" hangingPunct="1"/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   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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Điều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nghĩa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sự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tương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tác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giữa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Operator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và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Part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dẫn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đến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việc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đo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lường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khác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nhau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,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điều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này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đòi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hỏi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cần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có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sự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cải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tiến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. </a:t>
            </a:r>
          </a:p>
        </p:txBody>
      </p:sp>
      <p:cxnSp>
        <p:nvCxnSpPr>
          <p:cNvPr id="10" name="직선 연결선 27"/>
          <p:cNvCxnSpPr/>
          <p:nvPr/>
        </p:nvCxnSpPr>
        <p:spPr bwMode="auto">
          <a:xfrm rot="16200000" flipV="1">
            <a:off x="4983981" y="3262625"/>
            <a:ext cx="461962" cy="42703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264662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88" y="1628775"/>
            <a:ext cx="3748087" cy="19558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738188" y="1214438"/>
            <a:ext cx="21980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(2)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Thành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phần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Phương</a:t>
            </a:r>
            <a:r>
              <a:rPr lang="en-US" altLang="ko-KR" sz="1200" b="1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sai</a:t>
            </a:r>
            <a:endParaRPr lang="en-US" altLang="ko-KR" sz="1200" b="1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725536" y="1122363"/>
            <a:ext cx="4177290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ko-KR" sz="1000" b="1" dirty="0" err="1">
                <a:solidFill>
                  <a:srgbClr val="FF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Diễn</a:t>
            </a:r>
            <a:r>
              <a:rPr lang="en-US" altLang="ko-KR" sz="1000" b="1" dirty="0">
                <a:solidFill>
                  <a:srgbClr val="FF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b="1" dirty="0" err="1">
                <a:solidFill>
                  <a:srgbClr val="FF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giải</a:t>
            </a:r>
            <a:endParaRPr lang="ko-KR" altLang="en-US" sz="1000" b="1" dirty="0">
              <a:solidFill>
                <a:srgbClr val="FF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(2) </a:t>
            </a:r>
            <a:r>
              <a:rPr lang="en-US" sz="1000" dirty="0" err="1">
                <a:latin typeface="Arial" pitchFamily="34" charset="0"/>
                <a:cs typeface="Arial" pitchFamily="34" charset="0"/>
              </a:rPr>
              <a:t>Thành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000" dirty="0" err="1">
                <a:latin typeface="Arial" pitchFamily="34" charset="0"/>
                <a:cs typeface="Arial" pitchFamily="34" charset="0"/>
              </a:rPr>
              <a:t>phần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000" dirty="0" err="1">
                <a:latin typeface="Arial" pitchFamily="34" charset="0"/>
                <a:cs typeface="Arial" pitchFamily="34" charset="0"/>
              </a:rPr>
              <a:t>phương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000" dirty="0" err="1">
                <a:latin typeface="Arial" pitchFamily="34" charset="0"/>
                <a:cs typeface="Arial" pitchFamily="34" charset="0"/>
              </a:rPr>
              <a:t>sai</a:t>
            </a:r>
            <a:br>
              <a:rPr lang="vi-VN" sz="1000" dirty="0">
                <a:latin typeface="Arial" pitchFamily="34" charset="0"/>
                <a:cs typeface="Arial" pitchFamily="34" charset="0"/>
              </a:rPr>
            </a:br>
            <a:r>
              <a:rPr lang="vi-VN" sz="1000" dirty="0">
                <a:latin typeface="Arial" pitchFamily="34" charset="0"/>
                <a:cs typeface="Arial" pitchFamily="34" charset="0"/>
              </a:rPr>
              <a:t>     - Nghiên cứu sự đóng góp của mỗi nguyên nhân </a:t>
            </a:r>
            <a:r>
              <a:rPr lang="en-US" sz="1000" dirty="0" err="1">
                <a:latin typeface="Arial" pitchFamily="34" charset="0"/>
                <a:cs typeface="Arial" pitchFamily="34" charset="0"/>
              </a:rPr>
              <a:t>biến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000" dirty="0" err="1">
                <a:latin typeface="Arial" pitchFamily="34" charset="0"/>
                <a:cs typeface="Arial" pitchFamily="34" charset="0"/>
              </a:rPr>
              <a:t>đổi</a:t>
            </a:r>
            <a:br>
              <a:rPr lang="vi-VN" sz="1000" dirty="0">
                <a:latin typeface="Arial" pitchFamily="34" charset="0"/>
                <a:cs typeface="Arial" pitchFamily="34" charset="0"/>
              </a:rPr>
            </a:br>
            <a:r>
              <a:rPr lang="vi-VN" sz="1000" dirty="0">
                <a:latin typeface="Arial" pitchFamily="34" charset="0"/>
                <a:cs typeface="Arial" pitchFamily="34" charset="0"/>
              </a:rPr>
              <a:t>     - Đóng góp của các đặc điểm Gage phải là nhỏ,</a:t>
            </a:r>
            <a:br>
              <a:rPr lang="vi-VN" sz="1000" dirty="0">
                <a:latin typeface="Arial" pitchFamily="34" charset="0"/>
                <a:cs typeface="Arial" pitchFamily="34" charset="0"/>
              </a:rPr>
            </a:br>
            <a:r>
              <a:rPr lang="vi-VN" sz="1000" dirty="0">
                <a:latin typeface="Arial" pitchFamily="34" charset="0"/>
                <a:cs typeface="Arial" pitchFamily="34" charset="0"/>
              </a:rPr>
              <a:t>     - Đóng góp Part-to-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Part</a:t>
            </a:r>
            <a:r>
              <a:rPr lang="vi-VN" sz="1000" dirty="0">
                <a:latin typeface="Arial" pitchFamily="34" charset="0"/>
                <a:cs typeface="Arial" pitchFamily="34" charset="0"/>
              </a:rPr>
              <a:t> phải lớn.</a:t>
            </a:r>
            <a:endParaRPr lang="en-US" altLang="ko-KR" sz="100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52500" y="4258440"/>
            <a:ext cx="27590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Part-To-Part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chiếm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99.46%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tổng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chênh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lệch</a:t>
            </a:r>
            <a:endParaRPr lang="en-US" altLang="ko-KR" sz="100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  <a:p>
            <a:pPr eaLnBrk="1" hangingPunct="1"/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  </a:t>
            </a:r>
          </a:p>
        </p:txBody>
      </p:sp>
      <p:cxnSp>
        <p:nvCxnSpPr>
          <p:cNvPr id="6" name="직선 연결선 13"/>
          <p:cNvCxnSpPr/>
          <p:nvPr/>
        </p:nvCxnSpPr>
        <p:spPr bwMode="auto">
          <a:xfrm rot="10800000" flipV="1">
            <a:off x="4662488" y="2443163"/>
            <a:ext cx="3302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035550" y="2308810"/>
            <a:ext cx="48704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Trong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toàn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bộ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chênh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lệch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,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đóng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góp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Gage R&amp;R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0.54%.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Đây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là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tổng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của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Repeatability (0.20%)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và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Reproducibility (0.34%)</a:t>
            </a:r>
          </a:p>
        </p:txBody>
      </p:sp>
      <p:cxnSp>
        <p:nvCxnSpPr>
          <p:cNvPr id="8" name="꺾인 연결선 19"/>
          <p:cNvCxnSpPr>
            <a:endCxn id="5" idx="1"/>
          </p:cNvCxnSpPr>
          <p:nvPr/>
        </p:nvCxnSpPr>
        <p:spPr bwMode="auto">
          <a:xfrm rot="16200000" flipH="1">
            <a:off x="209152" y="3715147"/>
            <a:ext cx="1258096" cy="228600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cxnSp>
        <p:nvCxnSpPr>
          <p:cNvPr id="9" name="직선 연결선 25"/>
          <p:cNvCxnSpPr/>
          <p:nvPr/>
        </p:nvCxnSpPr>
        <p:spPr bwMode="auto">
          <a:xfrm flipV="1">
            <a:off x="723900" y="3181350"/>
            <a:ext cx="254000" cy="190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035550" y="3199690"/>
            <a:ext cx="431881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Trong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Reproducibility (0.34%),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chênh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lệch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do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tương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tác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Appraiser*Part </a:t>
            </a:r>
          </a:p>
          <a:p>
            <a:pPr eaLnBrk="1" hangingPunct="1"/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 (0.34%)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lớn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hơn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chênh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lệch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do Appraiser (Operator) (0.00%) </a:t>
            </a:r>
          </a:p>
          <a:p>
            <a:pPr eaLnBrk="1" hangingPunct="1"/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   Appraiser*Part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cần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kiêm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tra</a:t>
            </a:r>
            <a:r>
              <a:rPr lang="en-US" altLang="ko-KR" sz="1000" dirty="0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Arial" pitchFamily="34" charset="0"/>
                <a:ea typeface="맑은 고딕" pitchFamily="50" charset="-127"/>
                <a:cs typeface="Arial" pitchFamily="34" charset="0"/>
                <a:sym typeface="Wingdings" pitchFamily="2" charset="2"/>
              </a:rPr>
              <a:t>lại</a:t>
            </a:r>
            <a:endParaRPr lang="en-US" altLang="ko-KR" sz="1000" dirty="0">
              <a:solidFill>
                <a:srgbClr val="00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11" name="직선 연결선 27"/>
          <p:cNvCxnSpPr/>
          <p:nvPr/>
        </p:nvCxnSpPr>
        <p:spPr bwMode="auto">
          <a:xfrm rot="10800000">
            <a:off x="4662488" y="2797175"/>
            <a:ext cx="346075" cy="34131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32480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723</TotalTime>
  <Words>2908</Words>
  <Application>Microsoft Office PowerPoint</Application>
  <PresentationFormat>A4 Paper (210x297 mm)</PresentationFormat>
  <Paragraphs>313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맑은 고딕</vt:lpstr>
      <vt:lpstr>.VnArial Narrow</vt:lpstr>
      <vt:lpstr>Arial</vt:lpstr>
      <vt:lpstr>Calibri</vt:lpstr>
      <vt:lpstr>Calibri Light</vt:lpstr>
      <vt:lpstr>Wingdings</vt:lpstr>
      <vt:lpstr>Office Theme</vt:lpstr>
      <vt:lpstr>수식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HIEU DUC TRINH/LGEVH IVI SQD Part</cp:lastModifiedBy>
  <cp:revision>22</cp:revision>
  <dcterms:created xsi:type="dcterms:W3CDTF">2025-04-24T13:34:57Z</dcterms:created>
  <dcterms:modified xsi:type="dcterms:W3CDTF">2026-03-07T07:18:56Z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2026-03-07T02:32:48Z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f094c729-360c-4864-95c0-e0df959fd6fa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LGE Internal Use Only</vt:lpwstr>
  </property>
</Properties>
</file>